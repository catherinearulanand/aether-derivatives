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(15s)</a:t>
            </a:r>
          </a:p>
          <a:p>
            <a:r>
              <a:t>"AETHER-Derivatives. Autonomous margin and collateral intelligence for cross-border OTC</a:t>
            </a:r>
          </a:p>
          <a:p>
            <a:r>
              <a:t>derivatives."</a:t>
            </a:r>
          </a:p>
          <a:p/>
          <a:p>
            <a:r>
              <a:t>"One sentence: an ISDA Credit Support Annex goes in, and a defensible margin call, a</a:t>
            </a:r>
          </a:p>
          <a:p>
            <a:r>
              <a:t>cost-minimal collateral allocation and a tamper-evident audit trail come out."</a:t>
            </a:r>
          </a:p>
          <a:p/>
          <a:p>
            <a:r>
              <a:t>Point at the four bullets on the right — that's the whole product.</a:t>
            </a:r>
          </a:p>
          <a:p/>
          <a:p>
            <a:r>
              <a:t>Say the honesty line early; it buys credibility for everything after:</a:t>
            </a:r>
          </a:p>
          <a:p>
            <a:r>
              <a:t>"Everything you'll see runs on simulated data, and the system says so on every screen."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(25s)</a:t>
            </a:r>
          </a:p>
          <a:p>
            <a:r>
              <a:t>"Over-the-counter derivatives are a six-hundred-trillion-dollar notional market, and</a:t>
            </a:r>
          </a:p>
          <a:p>
            <a:r>
              <a:t>they move on collateral."</a:t>
            </a:r>
          </a:p>
          <a:p/>
          <a:p>
            <a:r>
              <a:t>"When volatility spikes, the desks that have to move that collateral spend four to six</a:t>
            </a:r>
          </a:p>
          <a:p>
            <a:r>
              <a:t>hours recalculating variation margin — because the terms that drive the calculation are</a:t>
            </a:r>
          </a:p>
          <a:p>
            <a:r>
              <a:t>buried in a two-hundred-page annex, the exposure gets rebuilt in a spreadsheet, and the</a:t>
            </a:r>
          </a:p>
          <a:p>
            <a:r>
              <a:t>collateral decision is made by habit."</a:t>
            </a:r>
          </a:p>
          <a:p/>
          <a:p>
            <a:r>
              <a:t>"Three costs. Late calls trigger default notices. The cash-first habit posts the most</a:t>
            </a:r>
          </a:p>
          <a:p>
            <a:r>
              <a:t>expensive asset you own. And when it's disputed, there's no single record."</a:t>
            </a:r>
          </a:p>
          <a:p/>
          <a:p>
            <a:r>
              <a:t>Be precise about attribution — a finance judge will notice:</a:t>
            </a:r>
          </a:p>
          <a:p>
            <a:r>
              <a:t>"Those market figures are from our problem research, not something this prototype</a:t>
            </a:r>
          </a:p>
          <a:p>
            <a:r>
              <a:t>measured."</a:t>
            </a:r>
          </a:p>
          <a:p/>
          <a:p>
            <a:r>
              <a:t>KEY TAKEAWAY: the difficulty is the chain, not any single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ENGLISH (25s)</a:t>
            </a:r>
          </a:p>
          <a:p>
            <a:r>
              <a:t>"If the jargon is getting in the way — think of it as an automated escrow desk."</a:t>
            </a:r>
          </a:p>
          <a:p/>
          <a:p>
            <a:r>
              <a:t>"Three roles. The contract auditor reads the agreement and establishes the rules: what</a:t>
            </a:r>
          </a:p>
          <a:p>
            <a:r>
              <a:t>counts as security, what minimum sizes apply, what safety margin comes off each asset."</a:t>
            </a:r>
          </a:p>
          <a:p/>
          <a:p>
            <a:r>
              <a:t>"The pit boss watches the position and works out how much is owed right now."</a:t>
            </a:r>
          </a:p>
          <a:p/>
          <a:p>
            <a:r>
              <a:t>"And the treasury manager looks across everything you own — cash, government bonds,</a:t>
            </a:r>
          </a:p>
          <a:p>
            <a:r>
              <a:t>corporate paper, gold — and picks the cheapest combination the contract permits."</a:t>
            </a:r>
          </a:p>
          <a:p/>
          <a:p>
            <a:r>
              <a:t>"Today those are three people in three systems. AETHER makes them one pipeline."</a:t>
            </a:r>
          </a:p>
          <a:p/>
          <a:p>
            <a:r>
              <a:t>KEY TAKEAWAY: this is an operations problem before it is an AI problem.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NOT A CHATBOT (25s)</a:t>
            </a:r>
          </a:p>
          <a:p>
            <a:r>
              <a:t>"The obvious question is why this needs agents at all."</a:t>
            </a:r>
          </a:p>
          <a:p/>
          <a:p>
            <a:r>
              <a:t>"Three reasons, one per layer. On legal extraction, retrieval fails because the clauses</a:t>
            </a:r>
          </a:p>
          <a:p>
            <a:r>
              <a:t>are nested — a Threshold qualified 'subject to' a ratings trigger sits in two paragraphs</a:t>
            </a:r>
          </a:p>
          <a:p>
            <a:r>
              <a:t>that never appear together."</a:t>
            </a:r>
          </a:p>
          <a:p/>
          <a:p>
            <a:r>
              <a:t>"On risk, language models hallucinate arithmetic. You cannot prompt that away. So our</a:t>
            </a:r>
          </a:p>
          <a:p>
            <a:r>
              <a:t>agents never calculate — they invoke audited deterministic functions through a typed</a:t>
            </a:r>
          </a:p>
          <a:p>
            <a:r>
              <a:t>boundary, and the engine returns every figure."</a:t>
            </a:r>
          </a:p>
          <a:p/>
          <a:p>
            <a:r>
              <a:t>"On collateral, fixed rules can't weigh yields, haircuts, concentration caps and FX at</a:t>
            </a:r>
          </a:p>
          <a:p>
            <a:r>
              <a:t>once. So the agent hands it to a solver."</a:t>
            </a:r>
          </a:p>
          <a:p/>
          <a:p>
            <a:r>
              <a:t>THE LINE: "AI interprets. Deterministic engines calculate."</a:t>
            </a:r>
          </a:p>
          <a:p/>
          <a:p>
            <a:r>
              <a:t>LIKELY Q: "So why not skip the AI entirely?"</a:t>
            </a:r>
          </a:p>
          <a:p>
            <a:r>
              <a:t>A: "Because a rules engine needs structured inputs, and the interpretation step is</a:t>
            </a:r>
          </a:p>
          <a:p>
            <a:r>
              <a:t>exactly what's missing. ISDA agreements are bespoke."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(25s)</a:t>
            </a:r>
          </a:p>
          <a:p>
            <a:r>
              <a:t>"Three agents under one orchestrator, and each one owns a stage."</a:t>
            </a:r>
          </a:p>
          <a:p/>
          <a:p>
            <a:r>
              <a:t>"Legal-Clause interprets the contract and hands over structured terms. Risk-Engine turns</a:t>
            </a:r>
          </a:p>
          <a:p>
            <a:r>
              <a:t>those terms plus the market into a margin requirement. Collateral-Optimizer decides what</a:t>
            </a:r>
          </a:p>
          <a:p>
            <a:r>
              <a:t>to deliver against it."</a:t>
            </a:r>
          </a:p>
          <a:p/>
          <a:p>
            <a:r>
              <a:t>"Read the middle column carefully: 'never performs arithmetic itself'. The agent chooses</a:t>
            </a:r>
          </a:p>
          <a:p>
            <a:r>
              <a:t>which deterministic tool to invoke and with which references. The engine returns the</a:t>
            </a:r>
          </a:p>
          <a:p>
            <a:r>
              <a:t>number."</a:t>
            </a:r>
          </a:p>
          <a:p/>
          <a:p>
            <a:r>
              <a:t>"And the bar at the bottom is what makes that checkable — each agent's request and each</a:t>
            </a:r>
          </a:p>
          <a:p>
            <a:r>
              <a:t>engine's result are recorded as separate events."</a:t>
            </a:r>
          </a:p>
          <a:p/>
          <a:p>
            <a:r>
              <a:t>LIKELY Q: "What stops an agent inventing a number anyway?"</a:t>
            </a:r>
          </a:p>
          <a:p>
            <a:r>
              <a:t>A: "The type of a tool call. Arguments are identifiers and flags only — a Decimal raises</a:t>
            </a:r>
          </a:p>
          <a:p>
            <a:r>
              <a:t>at construction. I can show you the test."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WORKFLOW (25s)</a:t>
            </a:r>
          </a:p>
          <a:p>
            <a:r>
              <a:t>"This is the pipeline end to end. Document at the top, audit record at the bottom."</a:t>
            </a:r>
          </a:p>
          <a:p/>
          <a:p>
            <a:r>
              <a:t>"Two things I'd point out. Third row down: human review. It only fires where the</a:t>
            </a:r>
          </a:p>
          <a:p>
            <a:r>
              <a:t>contract is genuinely ambiguous — not on every field, which would defeat the purpose."</a:t>
            </a:r>
          </a:p>
          <a:p/>
          <a:p>
            <a:r>
              <a:t>"And the box on the right is the rule the whole thing is built on: a contractual value</a:t>
            </a:r>
          </a:p>
          <a:p>
            <a:r>
              <a:t>crosses from the model into the engine exactly once, through a validated schema,</a:t>
            </a:r>
          </a:p>
          <a:p>
            <a:r>
              <a:t>carrying a quote from the source document. After that point no language model touches a</a:t>
            </a:r>
          </a:p>
          <a:p>
            <a:r>
              <a:t>number."</a:t>
            </a:r>
          </a:p>
          <a:p/>
          <a:p>
            <a:r>
              <a:t>"The lower right panel is what each stage leaves behind. That's the difference between a</a:t>
            </a:r>
          </a:p>
          <a:p>
            <a:r>
              <a:t>demo and infrastructure — you can reconstruct the decision months later."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PRODUCT (25s)</a:t>
            </a:r>
          </a:p>
          <a:p>
            <a:r>
              <a:t>"Four capabilities, and I've put the status on each one rather than letting you assume."</a:t>
            </a:r>
          </a:p>
          <a:p/>
          <a:p>
            <a:r>
              <a:t>"Legal parser: built. Native PDF and markdown. A scanned document with no text layer is</a:t>
            </a:r>
          </a:p>
          <a:p>
            <a:r>
              <a:t>refused with a stated reason, not guessed at."</a:t>
            </a:r>
          </a:p>
          <a:p/>
          <a:p>
            <a:r>
              <a:t>"Risk engine: built. Two initial margin methods — and neither is ISDA SIMM. The weights</a:t>
            </a:r>
          </a:p>
          <a:p>
            <a:r>
              <a:t>are ours, uncertified, and the code says so four times over."</a:t>
            </a:r>
          </a:p>
          <a:p/>
          <a:p>
            <a:r>
              <a:t>"Collateral optimisation: built. A real linear program, and it returns the shadow price</a:t>
            </a:r>
          </a:p>
          <a:p>
            <a:r>
              <a:t>of every binding constraint."</a:t>
            </a:r>
          </a:p>
          <a:p/>
          <a:p>
            <a:r>
              <a:t>"Settlement: partial. We generate the messages in ISO 20022 and MT527 shape. Nothing is</a:t>
            </a:r>
          </a:p>
          <a:p>
            <a:r>
              <a:t>transmitted — no network, no membership, no BIC. Connectivity is roadmap and I'm not</a:t>
            </a:r>
          </a:p>
          <a:p>
            <a:r>
              <a:t>going to claim otherwise."</a:t>
            </a:r>
          </a:p>
          <a:p/>
          <a:p>
            <a:r>
              <a:t>KEY TAKEAWAY: the honest labelling is the point. Three built, one partial.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COLLATERAL THESIS (30s)</a:t>
            </a:r>
          </a:p>
          <a:p>
            <a:r>
              <a:t>"Everyone focuses on how much is owed. The expensive question is what you deliver."</a:t>
            </a:r>
          </a:p>
          <a:p/>
          <a:p>
            <a:r>
              <a:t>"The ranking that decides it is cost per effective unit — funding spread divided by</a:t>
            </a:r>
          </a:p>
          <a:p>
            <a:r>
              <a:t>effective valuation percentage. An asset with a low headline spread and a heavy haircut</a:t>
            </a:r>
          </a:p>
          <a:p>
            <a:r>
              <a:t>delivers less collateral per unit you encumber. That single ratio is the product."</a:t>
            </a:r>
          </a:p>
          <a:p/>
          <a:p>
            <a:r>
              <a:t>"And it has to satisfy six constraints at once — eligibility, haircut, concentration,</a:t>
            </a:r>
          </a:p>
          <a:p>
            <a:r>
              <a:t>wrong-way risk, inventory, FX. That's a solver's job, not a spreadsheet's."</a:t>
            </a:r>
          </a:p>
          <a:p/>
          <a:p>
            <a:r>
              <a:t>"On one verified run: cash-first costs twenty-three thousand a year. Optimised costs</a:t>
            </a:r>
          </a:p>
          <a:p>
            <a:r>
              <a:t>five and a half. Seventy-six percent lower."</a:t>
            </a:r>
          </a:p>
          <a:p/>
          <a:p>
            <a:r>
              <a:t>SAY THE QUALIFIER, DON'T HIDE IT:</a:t>
            </a:r>
          </a:p>
          <a:p>
            <a:r>
              <a:t>"Modelled, against a cash-first baseline, in one synthetic scenario. Not a guarantee."</a:t>
            </a:r>
          </a:p>
          <a:p/>
          <a:p>
            <a:r>
              <a:t>"And the solver gives you something a spreadsheet never will — the shadow price of every</a:t>
            </a:r>
          </a:p>
          <a:p>
            <a:r>
              <a:t>binding constraint. Your corporate bond cap is costing you 2.61 basis points. That's your</a:t>
            </a:r>
          </a:p>
          <a:p>
            <a:r>
              <a:t>own credit policy, priced."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GIFT CITY (30s) — the slide that earns the venue</a:t>
            </a:r>
          </a:p>
          <a:p>
            <a:r>
              <a:t>"An IFSC banking unit has a structural tension. It trades a dollar-based agreement, and</a:t>
            </a:r>
          </a:p>
          <a:p>
            <a:r>
              <a:t>it funds rupee assets more cheaply at home. Those pull in opposite directions."</a:t>
            </a:r>
          </a:p>
          <a:p/>
          <a:p>
            <a:r>
              <a:t>"AETHER resolves it by pricing it. Walk the ladder: nine basis points headline — cheaper</a:t>
            </a:r>
          </a:p>
          <a:p>
            <a:r>
              <a:t>than the eight-point alternative. Ninety-four percent schedule valuation. Then a further</a:t>
            </a:r>
          </a:p>
          <a:p>
            <a:r>
              <a:t>eight percent FX haircut because it isn't the base currency. Eighty-six point four eight</a:t>
            </a:r>
          </a:p>
          <a:p>
            <a:r>
              <a:t>percent effective. Ten point four one basis points delivered."</a:t>
            </a:r>
          </a:p>
          <a:p/>
          <a:p>
            <a:r>
              <a:t>"The Treasury bill delivers at eight point zero four. So the optimiser declines the</a:t>
            </a:r>
          </a:p>
          <a:p>
            <a:r>
              <a:t>rupee asset."</a:t>
            </a:r>
          </a:p>
          <a:p/>
          <a:p>
            <a:r>
              <a:t>THE LINE THAT LANDS — say it slowly:</a:t>
            </a:r>
          </a:p>
          <a:p>
            <a:r>
              <a:t>"We did not force a GIFT City asset into the allocation because this is a GIFT City</a:t>
            </a:r>
          </a:p>
          <a:p>
            <a:r>
              <a:t>hackathon. The system produced the inconvenient answer and we kept it."</a:t>
            </a:r>
          </a:p>
          <a:p/>
          <a:p>
            <a:r>
              <a:t>"And the argument doesn't depend on that outcome. Same inventory: euro cash is</a:t>
            </a:r>
          </a:p>
          <a:p>
            <a:r>
              <a:t>twenty-eight basis points on paper and thirty point four three delivered — dearer than</a:t>
            </a:r>
          </a:p>
          <a:p>
            <a:r>
              <a:t>thirty-point-zero dollar cash. The FX haircut reverses the ranking. That's the thesis."</a:t>
            </a:r>
          </a:p>
          <a:p/>
          <a:p>
            <a:r>
              <a:t>LIKELY Q: "So rupee collateral is never worth posting?"</a:t>
            </a:r>
          </a:p>
          <a:p>
            <a:r>
              <a:t>A: "It's worth posting when delivered economics say so. Change the inventory or the caps</a:t>
            </a:r>
          </a:p>
          <a:p>
            <a:r>
              <a:t>and it enters the allocation. What matters is that the decision is priced, not assumed."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TRUST (25s)</a:t>
            </a:r>
          </a:p>
          <a:p>
            <a:r>
              <a:t>"Three pillars, and then the part most decks leave out."</a:t>
            </a:r>
          </a:p>
          <a:p/>
          <a:p>
            <a:r>
              <a:t>"Deterministic by construction — every figure is a pure function of contract terms and a</a:t>
            </a:r>
          </a:p>
          <a:p>
            <a:r>
              <a:t>pinned snapshot. No clock, no live feed, no randomness. Same inputs, byte-identical</a:t>
            </a:r>
          </a:p>
          <a:p>
            <a:r>
              <a:t>results."</a:t>
            </a:r>
          </a:p>
          <a:p/>
          <a:p>
            <a:r>
              <a:t>"Human at the ambiguity — where a clause is conditional, the pipeline stops. And it's not</a:t>
            </a:r>
          </a:p>
          <a:p>
            <a:r>
              <a:t>a greyed-out button; the server refuses to freeze while any field awaits a decision."</a:t>
            </a:r>
          </a:p>
          <a:p/>
          <a:p>
            <a:r>
              <a:t>"Evidence for every step — extraction, confirmation, every engine call, chained by hash."</a:t>
            </a:r>
          </a:p>
          <a:p/>
          <a:p>
            <a:r>
              <a:t>NOW THE BOTTOM HALF — slow down, this is the credibility moment:</a:t>
            </a:r>
          </a:p>
          <a:p>
            <a:r>
              <a:t>"And here's what we deliberately do not claim. This isn't SIMM. We're not connected to</a:t>
            </a:r>
          </a:p>
          <a:p>
            <a:r>
              <a:t>SWIFT. The market data is pinned, not live. The seventy-six percent is modelled, not</a:t>
            </a:r>
          </a:p>
          <a:p>
            <a:r>
              <a:t>guaranteed. The accuracy score demonstrates the harness, not the model. And this is not</a:t>
            </a:r>
          </a:p>
          <a:p>
            <a:r>
              <a:t>production-ready."</a:t>
            </a:r>
          </a:p>
          <a:p/>
          <a:p>
            <a:r>
              <a:t>"We wrote that list before we wrote the pitch. It's served by the API, so the interface</a:t>
            </a:r>
          </a:p>
          <a:p>
            <a:r>
              <a:t>can't drift from it."</a:t>
            </a:r>
          </a:p>
          <a:p/>
          <a:p>
            <a:r>
              <a:t>KEY TAKEAWAY: financial AI becomes trustworthy when the system is willing to produce an</a:t>
            </a:r>
          </a:p>
          <a:p>
            <a:r>
              <a:t>inconvenient answer.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 AND CLOSE (25s)</a:t>
            </a:r>
          </a:p>
          <a:p>
            <a:r>
              <a:t>"Everything in the NOW column runs today, offline, on a laptop. NEXT is production</a:t>
            </a:r>
          </a:p>
          <a:p>
            <a:r>
              <a:t>integration — live feeds, persistent state, authentication, custodian connectivity.</a:t>
            </a:r>
          </a:p>
          <a:p>
            <a:r>
              <a:t>Those are engineering, not research. FUTURE is institutional scale."</a:t>
            </a:r>
          </a:p>
          <a:p/>
          <a:p>
            <a:r>
              <a:t>"The honest line: the decision engine scales conceptually — the linear program doesn't</a:t>
            </a:r>
          </a:p>
          <a:p>
            <a:r>
              <a:t>care whether the inventory has eleven assets or eleven hundred. The production</a:t>
            </a:r>
          </a:p>
          <a:p>
            <a:r>
              <a:t>infrastructure is a separate layer and I'm not going to claim we've built it."</a:t>
            </a:r>
          </a:p>
          <a:p/>
          <a:p>
            <a:r>
              <a:t>"Three reasons this matters. Financially meaningful — collateral selection is an</a:t>
            </a:r>
          </a:p>
          <a:p>
            <a:r>
              <a:t>optimisation problem and we treat it as one. Technically defensible — deterministic</a:t>
            </a:r>
          </a:p>
          <a:p>
            <a:r>
              <a:t>engines, a real solver, a reproducible audit chain. And GIFT City relevant, because</a:t>
            </a:r>
          </a:p>
          <a:p>
            <a:r>
              <a:t>cross-border collateral is priced on delivered economics."</a:t>
            </a:r>
          </a:p>
          <a:p/>
          <a:p>
            <a:r>
              <a:t>FINAL LINE:</a:t>
            </a:r>
          </a:p>
          <a:p>
            <a:r>
              <a:t>"AETHER turns fragmented margin operations into one traceable decision pipeline."</a:t>
            </a:r>
          </a:p>
          <a:p/>
          <a:p>
            <a:r>
              <a:t>Then: "Let me show you it running."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I — THE CALCULATION (25s)</a:t>
            </a:r>
          </a:p>
          <a:p>
            <a:r>
              <a:t>"These are screenshots of the application running, not mockups."</a:t>
            </a:r>
          </a:p>
          <a:p/>
          <a:p>
            <a:r>
              <a:t>"One — the margin waterfall. Exposure of nineteen point four seven million against us,</a:t>
            </a:r>
          </a:p>
          <a:p>
            <a:r>
              <a:t>threshold of ten million comes off, credit support amount nine point four seven, and the</a:t>
            </a:r>
          </a:p>
          <a:p>
            <a:r>
              <a:t>MTA gate and rounding give nine and a half million. Every line names the clause it came</a:t>
            </a:r>
          </a:p>
          <a:p>
            <a:r>
              <a:t>from."</a:t>
            </a:r>
          </a:p>
          <a:p/>
          <a:p>
            <a:r>
              <a:t>"Two — the optimiser. Five assets, ranked by cost per effective unit. Five thousand four</a:t>
            </a:r>
          </a:p>
          <a:p>
            <a:r>
              <a:t>hundred against twenty-three thousand for cash-first."</a:t>
            </a:r>
          </a:p>
          <a:p/>
          <a:p>
            <a:r>
              <a:t>"Three — and this is the one I'd linger on — cross-border economics. Every non-dollar</a:t>
            </a:r>
          </a:p>
          <a:p>
            <a:r>
              <a:t>asset with its paper rank next to its delivered rank, and the FX drag isolated. The</a:t>
            </a:r>
          </a:p>
          <a:p>
            <a:r>
              <a:t>rupee asset is priced at ten point four one and declined, with the reason on screen."</a:t>
            </a:r>
          </a:p>
          <a:p/>
          <a:p>
            <a:r>
              <a:t>"Note the panel on the right: four binding constraints, and the wrong-way asset refused</a:t>
            </a:r>
          </a:p>
          <a:p>
            <a:r>
              <a:t>outright — that's the counterparty's own paper, which the annex forbids."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II — THE GOVERNANCE (25s)</a:t>
            </a:r>
          </a:p>
          <a:p>
            <a:r>
              <a:t>"Four — the moment that matters most. Paragraph 11(b)(iii)(A) says Party B's threshold is</a:t>
            </a:r>
          </a:p>
          <a:p>
            <a:r>
              <a:t>five million dollars. But it says it 'subject to' another paragraph, which drops the</a:t>
            </a:r>
          </a:p>
          <a:p>
            <a:r>
              <a:t>threshold to zero while a ratings downgrade is in effect."</a:t>
            </a:r>
          </a:p>
          <a:p/>
          <a:p>
            <a:r>
              <a:t>"The document defines the trigger. It cannot tell us whether the trigger is currently</a:t>
            </a:r>
          </a:p>
          <a:p>
            <a:r>
              <a:t>pulled. That is not a question a document can answer — so the agent scores it at 0.52</a:t>
            </a:r>
          </a:p>
          <a:p>
            <a:r>
              <a:t>confidence and stops. And this is not a disabled button: the server returns a 409."</a:t>
            </a:r>
          </a:p>
          <a:p/>
          <a:p>
            <a:r>
              <a:t>"Five — the agent trace. Look at the arguments column. Every one is an identifier:</a:t>
            </a:r>
          </a:p>
          <a:p>
            <a:r>
              <a:t>netting_set_id, snapshot_id, agreement_id. Never a number. A tool call rejects a monetary</a:t>
            </a:r>
          </a:p>
          <a:p>
            <a:r>
              <a:t>value at construction, so a hallucinated figure cannot reach the engine."</a:t>
            </a:r>
          </a:p>
          <a:p/>
          <a:p>
            <a:r>
              <a:t>"Six — the audit chain. Agent decision, engine computation, alternating, fifteen events,</a:t>
            </a:r>
          </a:p>
          <a:p>
            <a:r>
              <a:t>verified."</a:t>
            </a:r>
          </a:p>
          <a:p/>
          <a:p>
            <a:r>
              <a:t>CLOSE ON THE STRIP:</a:t>
            </a:r>
          </a:p>
          <a:p>
            <a:r>
              <a:t>"Four hundred and six tests, byte-reproducible, and zero network calls. It runs on a</a:t>
            </a:r>
          </a:p>
          <a:p>
            <a:r>
              <a:t>laptop with the wifi off."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12191695" cy="3657"/>
          </a:xfrm>
          <a:prstGeom prst="rect">
            <a:avLst/>
          </a:prstGeom>
          <a:solidFill>
            <a:srgbClr val="1F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12064"/>
            <a:ext cx="12191695" cy="3657"/>
          </a:xfrm>
          <a:prstGeom prst="rect">
            <a:avLst/>
          </a:prstGeom>
          <a:solidFill>
            <a:srgbClr val="1823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749808"/>
            <a:ext cx="12191695" cy="3657"/>
          </a:xfrm>
          <a:prstGeom prst="rect">
            <a:avLst/>
          </a:prstGeom>
          <a:solidFill>
            <a:srgbClr val="1823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87552"/>
            <a:ext cx="12191695" cy="3657"/>
          </a:xfrm>
          <a:prstGeom prst="rect">
            <a:avLst/>
          </a:prstGeom>
          <a:solidFill>
            <a:srgbClr val="1823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1225296"/>
            <a:ext cx="12191695" cy="3657"/>
          </a:xfrm>
          <a:prstGeom prst="rect">
            <a:avLst/>
          </a:prstGeom>
          <a:solidFill>
            <a:srgbClr val="1F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1463040"/>
            <a:ext cx="12191695" cy="3657"/>
          </a:xfrm>
          <a:prstGeom prst="rect">
            <a:avLst/>
          </a:prstGeom>
          <a:solidFill>
            <a:srgbClr val="1823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700784"/>
            <a:ext cx="12191695" cy="3657"/>
          </a:xfrm>
          <a:prstGeom prst="rect">
            <a:avLst/>
          </a:prstGeom>
          <a:solidFill>
            <a:srgbClr val="1823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1938528"/>
            <a:ext cx="12191695" cy="3657"/>
          </a:xfrm>
          <a:prstGeom prst="rect">
            <a:avLst/>
          </a:prstGeom>
          <a:solidFill>
            <a:srgbClr val="1823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2176272"/>
            <a:ext cx="12191695" cy="3657"/>
          </a:xfrm>
          <a:prstGeom prst="rect">
            <a:avLst/>
          </a:prstGeom>
          <a:solidFill>
            <a:srgbClr val="1F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2414015"/>
            <a:ext cx="12191695" cy="3657"/>
          </a:xfrm>
          <a:prstGeom prst="rect">
            <a:avLst/>
          </a:prstGeom>
          <a:solidFill>
            <a:srgbClr val="1823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2651760"/>
            <a:ext cx="12191695" cy="3657"/>
          </a:xfrm>
          <a:prstGeom prst="rect">
            <a:avLst/>
          </a:prstGeom>
          <a:solidFill>
            <a:srgbClr val="1823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2889504"/>
            <a:ext cx="12191695" cy="3657"/>
          </a:xfrm>
          <a:prstGeom prst="rect">
            <a:avLst/>
          </a:prstGeom>
          <a:solidFill>
            <a:srgbClr val="1823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3127248"/>
            <a:ext cx="12191695" cy="3657"/>
          </a:xfrm>
          <a:prstGeom prst="rect">
            <a:avLst/>
          </a:prstGeom>
          <a:solidFill>
            <a:srgbClr val="1F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3364991"/>
            <a:ext cx="12191695" cy="3657"/>
          </a:xfrm>
          <a:prstGeom prst="rect">
            <a:avLst/>
          </a:prstGeom>
          <a:solidFill>
            <a:srgbClr val="1823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3602736"/>
            <a:ext cx="12191695" cy="3657"/>
          </a:xfrm>
          <a:prstGeom prst="rect">
            <a:avLst/>
          </a:prstGeom>
          <a:solidFill>
            <a:srgbClr val="1823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3840480"/>
            <a:ext cx="12191695" cy="3657"/>
          </a:xfrm>
          <a:prstGeom prst="rect">
            <a:avLst/>
          </a:prstGeom>
          <a:solidFill>
            <a:srgbClr val="1823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4078224"/>
            <a:ext cx="12191695" cy="3657"/>
          </a:xfrm>
          <a:prstGeom prst="rect">
            <a:avLst/>
          </a:prstGeom>
          <a:solidFill>
            <a:srgbClr val="1F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4315968"/>
            <a:ext cx="12191695" cy="3657"/>
          </a:xfrm>
          <a:prstGeom prst="rect">
            <a:avLst/>
          </a:prstGeom>
          <a:solidFill>
            <a:srgbClr val="1823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4553712"/>
            <a:ext cx="12191695" cy="3657"/>
          </a:xfrm>
          <a:prstGeom prst="rect">
            <a:avLst/>
          </a:prstGeom>
          <a:solidFill>
            <a:srgbClr val="1823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4791456"/>
            <a:ext cx="12191695" cy="3657"/>
          </a:xfrm>
          <a:prstGeom prst="rect">
            <a:avLst/>
          </a:prstGeom>
          <a:solidFill>
            <a:srgbClr val="1823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5029200"/>
            <a:ext cx="12191695" cy="3657"/>
          </a:xfrm>
          <a:prstGeom prst="rect">
            <a:avLst/>
          </a:prstGeom>
          <a:solidFill>
            <a:srgbClr val="1F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5266944"/>
            <a:ext cx="12191695" cy="3657"/>
          </a:xfrm>
          <a:prstGeom prst="rect">
            <a:avLst/>
          </a:prstGeom>
          <a:solidFill>
            <a:srgbClr val="1823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5504688"/>
            <a:ext cx="12191695" cy="3657"/>
          </a:xfrm>
          <a:prstGeom prst="rect">
            <a:avLst/>
          </a:prstGeom>
          <a:solidFill>
            <a:srgbClr val="1823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5742432"/>
            <a:ext cx="12191695" cy="3657"/>
          </a:xfrm>
          <a:prstGeom prst="rect">
            <a:avLst/>
          </a:prstGeom>
          <a:solidFill>
            <a:srgbClr val="1823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5980176"/>
            <a:ext cx="12191695" cy="3657"/>
          </a:xfrm>
          <a:prstGeom prst="rect">
            <a:avLst/>
          </a:prstGeom>
          <a:solidFill>
            <a:srgbClr val="1F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6217920"/>
            <a:ext cx="12191695" cy="3657"/>
          </a:xfrm>
          <a:prstGeom prst="rect">
            <a:avLst/>
          </a:prstGeom>
          <a:solidFill>
            <a:srgbClr val="1823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6455664"/>
            <a:ext cx="12191695" cy="3657"/>
          </a:xfrm>
          <a:prstGeom prst="rect">
            <a:avLst/>
          </a:prstGeom>
          <a:solidFill>
            <a:srgbClr val="1823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6693408"/>
            <a:ext cx="12191695" cy="3657"/>
          </a:xfrm>
          <a:prstGeom prst="rect">
            <a:avLst/>
          </a:prstGeom>
          <a:solidFill>
            <a:srgbClr val="1823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91440" cy="6858000"/>
          </a:xfrm>
          <a:prstGeom prst="rect">
            <a:avLst/>
          </a:prstGeom>
          <a:solidFill>
            <a:srgbClr val="2F8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784848" y="868680"/>
            <a:ext cx="5486" cy="5074920"/>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0120" y="868680"/>
            <a:ext cx="5669280" cy="274320"/>
          </a:xfrm>
          <a:prstGeom prst="rect">
            <a:avLst/>
          </a:prstGeom>
          <a:noFill/>
        </p:spPr>
        <p:txBody>
          <a:bodyPr wrap="square" lIns="0" rIns="0" tIns="0" bIns="0" anchor="t">
            <a:spAutoFit/>
          </a:bodyPr>
          <a:lstStyle/>
          <a:p>
            <a:pPr algn="l">
              <a:lnSpc>
                <a:spcPct val="115000"/>
              </a:lnSpc>
            </a:pPr>
            <a:r>
              <a:rPr sz="1000" b="1" spc="260">
                <a:solidFill>
                  <a:srgbClr val="4FC3AE"/>
                </a:solidFill>
                <a:latin typeface="Consolas"/>
              </a:rPr>
              <a:t>GIFT IFIH  ·  YOUNG BUILDERS PROGRAM  ·  IFSC</a:t>
            </a:r>
          </a:p>
        </p:txBody>
      </p:sp>
      <p:sp>
        <p:nvSpPr>
          <p:cNvPr id="34" name="TextBox 33"/>
          <p:cNvSpPr txBox="1"/>
          <p:nvPr/>
        </p:nvSpPr>
        <p:spPr>
          <a:xfrm>
            <a:off x="932688" y="1280160"/>
            <a:ext cx="5852160" cy="1097280"/>
          </a:xfrm>
          <a:prstGeom prst="rect">
            <a:avLst/>
          </a:prstGeom>
          <a:noFill/>
        </p:spPr>
        <p:txBody>
          <a:bodyPr wrap="square" lIns="0" rIns="0" tIns="0" bIns="0" anchor="t">
            <a:spAutoFit/>
          </a:bodyPr>
          <a:lstStyle/>
          <a:p>
            <a:pPr algn="l">
              <a:lnSpc>
                <a:spcPct val="115000"/>
              </a:lnSpc>
            </a:pPr>
            <a:r>
              <a:rPr sz="5300" b="1">
                <a:solidFill>
                  <a:srgbClr val="E6EDEB"/>
                </a:solidFill>
                <a:latin typeface="Cambria"/>
              </a:rPr>
              <a:t>AETHER-</a:t>
            </a:r>
          </a:p>
        </p:txBody>
      </p:sp>
      <p:sp>
        <p:nvSpPr>
          <p:cNvPr id="35" name="TextBox 34"/>
          <p:cNvSpPr txBox="1"/>
          <p:nvPr/>
        </p:nvSpPr>
        <p:spPr>
          <a:xfrm>
            <a:off x="932688" y="1856231"/>
            <a:ext cx="5852160" cy="1097280"/>
          </a:xfrm>
          <a:prstGeom prst="rect">
            <a:avLst/>
          </a:prstGeom>
          <a:noFill/>
        </p:spPr>
        <p:txBody>
          <a:bodyPr wrap="square" lIns="0" rIns="0" tIns="0" bIns="0" anchor="t">
            <a:spAutoFit/>
          </a:bodyPr>
          <a:lstStyle/>
          <a:p>
            <a:pPr algn="l">
              <a:lnSpc>
                <a:spcPct val="115000"/>
              </a:lnSpc>
            </a:pPr>
            <a:r>
              <a:rPr sz="5300" b="1">
                <a:solidFill>
                  <a:srgbClr val="4FC3AE"/>
                </a:solidFill>
                <a:latin typeface="Cambria"/>
              </a:rPr>
              <a:t>DERIVATIVES</a:t>
            </a:r>
          </a:p>
        </p:txBody>
      </p:sp>
      <p:sp>
        <p:nvSpPr>
          <p:cNvPr id="36" name="Rectangle 35"/>
          <p:cNvSpPr/>
          <p:nvPr/>
        </p:nvSpPr>
        <p:spPr>
          <a:xfrm>
            <a:off x="960120" y="2670048"/>
            <a:ext cx="1371600" cy="18288"/>
          </a:xfrm>
          <a:prstGeom prst="rect">
            <a:avLst/>
          </a:prstGeom>
          <a:solidFill>
            <a:srgbClr val="4FC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0120" y="2889504"/>
            <a:ext cx="5486400" cy="822960"/>
          </a:xfrm>
          <a:prstGeom prst="rect">
            <a:avLst/>
          </a:prstGeom>
          <a:noFill/>
        </p:spPr>
        <p:txBody>
          <a:bodyPr wrap="square" lIns="0" rIns="0" tIns="0" bIns="0" anchor="t">
            <a:spAutoFit/>
          </a:bodyPr>
          <a:lstStyle/>
          <a:p>
            <a:pPr algn="l">
              <a:lnSpc>
                <a:spcPct val="135000"/>
              </a:lnSpc>
            </a:pPr>
            <a:r>
              <a:rPr sz="1700" b="0">
                <a:solidFill>
                  <a:srgbClr val="A9BCB8"/>
                </a:solidFill>
                <a:latin typeface="Segoe UI"/>
              </a:rPr>
              <a:t>Autonomous Margin &amp; Collateral Intelligence</a:t>
            </a:r>
          </a:p>
          <a:p>
            <a:pPr algn="l">
              <a:lnSpc>
                <a:spcPct val="135000"/>
              </a:lnSpc>
            </a:pPr>
            <a:r>
              <a:rPr sz="1700" b="0">
                <a:solidFill>
                  <a:srgbClr val="A9BCB8"/>
                </a:solidFill>
                <a:latin typeface="Segoe UI"/>
              </a:rPr>
              <a:t>for Cross-Border OTC Derivatives</a:t>
            </a:r>
          </a:p>
        </p:txBody>
      </p:sp>
      <p:sp>
        <p:nvSpPr>
          <p:cNvPr id="38" name="TextBox 37"/>
          <p:cNvSpPr txBox="1"/>
          <p:nvPr/>
        </p:nvSpPr>
        <p:spPr>
          <a:xfrm>
            <a:off x="960120" y="3877056"/>
            <a:ext cx="5394960" cy="914400"/>
          </a:xfrm>
          <a:prstGeom prst="rect">
            <a:avLst/>
          </a:prstGeom>
          <a:noFill/>
        </p:spPr>
        <p:txBody>
          <a:bodyPr wrap="square" lIns="0" rIns="0" tIns="0" bIns="0" anchor="t">
            <a:spAutoFit/>
          </a:bodyPr>
          <a:lstStyle/>
          <a:p>
            <a:pPr algn="l">
              <a:lnSpc>
                <a:spcPct val="145000"/>
              </a:lnSpc>
            </a:pPr>
            <a:r>
              <a:rPr sz="1250" b="0">
                <a:solidFill>
                  <a:srgbClr val="7B908C"/>
                </a:solidFill>
                <a:latin typeface="Segoe UI"/>
              </a:rPr>
              <a:t>“From contract interpretation to collateral decision —</a:t>
            </a:r>
          </a:p>
          <a:p>
            <a:pPr algn="l">
              <a:lnSpc>
                <a:spcPct val="145000"/>
              </a:lnSpc>
            </a:pPr>
            <a:r>
              <a:rPr sz="1250" b="0">
                <a:solidFill>
                  <a:srgbClr val="7B908C"/>
                </a:solidFill>
                <a:latin typeface="Segoe UI"/>
              </a:rPr>
              <a:t>with deterministic financial computation</a:t>
            </a:r>
          </a:p>
          <a:p>
            <a:pPr algn="l">
              <a:lnSpc>
                <a:spcPct val="145000"/>
              </a:lnSpc>
            </a:pPr>
            <a:r>
              <a:rPr sz="1250" b="0">
                <a:solidFill>
                  <a:srgbClr val="7B908C"/>
                </a:solidFill>
                <a:latin typeface="Segoe UI"/>
              </a:rPr>
              <a:t>and an auditable trail.”</a:t>
            </a:r>
          </a:p>
        </p:txBody>
      </p:sp>
      <p:sp>
        <p:nvSpPr>
          <p:cNvPr id="39" name="TextBox 38"/>
          <p:cNvSpPr txBox="1"/>
          <p:nvPr/>
        </p:nvSpPr>
        <p:spPr>
          <a:xfrm>
            <a:off x="960120" y="5303520"/>
            <a:ext cx="5577840" cy="822960"/>
          </a:xfrm>
          <a:prstGeom prst="rect">
            <a:avLst/>
          </a:prstGeom>
          <a:noFill/>
        </p:spPr>
        <p:txBody>
          <a:bodyPr wrap="square" lIns="0" rIns="0" tIns="0" bIns="0" anchor="t">
            <a:spAutoFit/>
          </a:bodyPr>
          <a:lstStyle/>
          <a:p>
            <a:pPr algn="l">
              <a:lnSpc>
                <a:spcPct val="150000"/>
              </a:lnSpc>
            </a:pPr>
            <a:r>
              <a:rPr sz="1050" b="0">
                <a:solidFill>
                  <a:srgbClr val="556764"/>
                </a:solidFill>
                <a:latin typeface="Consolas"/>
              </a:rPr>
              <a:t>AI interprets.  Deterministic engines calculate.</a:t>
            </a:r>
          </a:p>
          <a:p>
            <a:pPr algn="l">
              <a:lnSpc>
                <a:spcPct val="150000"/>
              </a:lnSpc>
            </a:pPr>
            <a:r>
              <a:rPr sz="1050" b="0">
                <a:solidFill>
                  <a:srgbClr val="556764"/>
                </a:solidFill>
                <a:latin typeface="Consolas"/>
              </a:rPr>
              <a:t>Optimisation decides.  Humans govern ambiguity.</a:t>
            </a:r>
          </a:p>
        </p:txBody>
      </p:sp>
      <p:sp>
        <p:nvSpPr>
          <p:cNvPr id="40" name="TextBox 39"/>
          <p:cNvSpPr txBox="1"/>
          <p:nvPr/>
        </p:nvSpPr>
        <p:spPr>
          <a:xfrm>
            <a:off x="7360920" y="896112"/>
            <a:ext cx="4297680" cy="219456"/>
          </a:xfrm>
          <a:prstGeom prst="rect">
            <a:avLst/>
          </a:prstGeom>
          <a:noFill/>
        </p:spPr>
        <p:txBody>
          <a:bodyPr wrap="square" lIns="0" rIns="0" tIns="0" bIns="0" anchor="t">
            <a:spAutoFit/>
          </a:bodyPr>
          <a:lstStyle/>
          <a:p>
            <a:pPr algn="l">
              <a:lnSpc>
                <a:spcPct val="115000"/>
              </a:lnSpc>
            </a:pPr>
            <a:r>
              <a:rPr sz="950" b="1" spc="220">
                <a:solidFill>
                  <a:srgbClr val="556764"/>
                </a:solidFill>
                <a:latin typeface="Consolas"/>
              </a:rPr>
              <a:t>THE PROPOSITION</a:t>
            </a:r>
          </a:p>
        </p:txBody>
      </p:sp>
      <p:sp>
        <p:nvSpPr>
          <p:cNvPr id="41" name="TextBox 40"/>
          <p:cNvSpPr txBox="1"/>
          <p:nvPr/>
        </p:nvSpPr>
        <p:spPr>
          <a:xfrm>
            <a:off x="7360920" y="1243584"/>
            <a:ext cx="4315968" cy="2286000"/>
          </a:xfrm>
          <a:prstGeom prst="rect">
            <a:avLst/>
          </a:prstGeom>
          <a:noFill/>
        </p:spPr>
        <p:txBody>
          <a:bodyPr wrap="square" lIns="0" rIns="0" tIns="0" bIns="0" anchor="t">
            <a:spAutoFit/>
          </a:bodyPr>
          <a:lstStyle/>
          <a:p>
            <a:pPr algn="l">
              <a:lnSpc>
                <a:spcPct val="145000"/>
              </a:lnSpc>
            </a:pPr>
            <a:r>
              <a:rPr sz="1200" b="0">
                <a:solidFill>
                  <a:srgbClr val="A9BCB8"/>
                </a:solidFill>
                <a:latin typeface="Segoe UI"/>
              </a:rPr>
              <a:t>Over-the-counter derivatives move on collateral. When volatility spikes, the desks that have to move it are reading legal annexes, rebuilding exposure in spreadsheets and reaching for cash because cash is easy.</a:t>
            </a:r>
          </a:p>
        </p:txBody>
      </p:sp>
      <p:sp>
        <p:nvSpPr>
          <p:cNvPr id="42" name="Rectangle 41"/>
          <p:cNvSpPr/>
          <p:nvPr/>
        </p:nvSpPr>
        <p:spPr>
          <a:xfrm>
            <a:off x="7360920" y="2487168"/>
            <a:ext cx="4297680"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60920" y="2670048"/>
            <a:ext cx="4315968" cy="2194560"/>
          </a:xfrm>
          <a:prstGeom prst="rect">
            <a:avLst/>
          </a:prstGeom>
          <a:noFill/>
        </p:spPr>
        <p:txBody>
          <a:bodyPr wrap="square" lIns="0" rIns="0" tIns="0" bIns="0" anchor="t">
            <a:spAutoFit/>
          </a:bodyPr>
          <a:lstStyle/>
          <a:p>
            <a:pPr algn="l">
              <a:lnSpc>
                <a:spcPct val="145000"/>
              </a:lnSpc>
            </a:pPr>
            <a:r>
              <a:rPr sz="1200" b="0">
                <a:solidFill>
                  <a:srgbClr val="A9BCB8"/>
                </a:solidFill>
                <a:latin typeface="Segoe UI"/>
              </a:rPr>
              <a:t>AETHER deploys three agents over deterministic financial engines: one reads the Credit Support Annex, one turns exposure into a margin requirement, one selects the cheapest collateral that satisfies every contractual constraint — and every step leaves an auditable record.</a:t>
            </a:r>
          </a:p>
        </p:txBody>
      </p:sp>
      <p:sp>
        <p:nvSpPr>
          <p:cNvPr id="44" name="Rectangle 43"/>
          <p:cNvSpPr/>
          <p:nvPr/>
        </p:nvSpPr>
        <p:spPr>
          <a:xfrm>
            <a:off x="7360920" y="4206240"/>
            <a:ext cx="4297680"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60920" y="4370832"/>
            <a:ext cx="146304" cy="182880"/>
          </a:xfrm>
          <a:prstGeom prst="rect">
            <a:avLst/>
          </a:prstGeom>
          <a:noFill/>
        </p:spPr>
        <p:txBody>
          <a:bodyPr wrap="square" lIns="0" rIns="0" tIns="0" bIns="0" anchor="t">
            <a:spAutoFit/>
          </a:bodyPr>
          <a:lstStyle/>
          <a:p>
            <a:pPr algn="l">
              <a:lnSpc>
                <a:spcPct val="115000"/>
              </a:lnSpc>
            </a:pPr>
            <a:r>
              <a:rPr sz="1000" b="0">
                <a:solidFill>
                  <a:srgbClr val="4FC3AE"/>
                </a:solidFill>
                <a:latin typeface="Consolas"/>
              </a:rPr>
              <a:t>›</a:t>
            </a:r>
          </a:p>
        </p:txBody>
      </p:sp>
      <p:sp>
        <p:nvSpPr>
          <p:cNvPr id="46" name="TextBox 45"/>
          <p:cNvSpPr txBox="1"/>
          <p:nvPr/>
        </p:nvSpPr>
        <p:spPr>
          <a:xfrm>
            <a:off x="7571231" y="4370832"/>
            <a:ext cx="1874519" cy="182880"/>
          </a:xfrm>
          <a:prstGeom prst="rect">
            <a:avLst/>
          </a:prstGeom>
          <a:noFill/>
        </p:spPr>
        <p:txBody>
          <a:bodyPr wrap="square" lIns="0" rIns="0" tIns="0" bIns="0" anchor="t">
            <a:spAutoFit/>
          </a:bodyPr>
          <a:lstStyle/>
          <a:p>
            <a:pPr algn="l">
              <a:lnSpc>
                <a:spcPct val="115000"/>
              </a:lnSpc>
            </a:pPr>
            <a:r>
              <a:rPr sz="1000" b="1">
                <a:solidFill>
                  <a:srgbClr val="E6EDEB"/>
                </a:solidFill>
                <a:latin typeface="Segoe UI"/>
              </a:rPr>
              <a:t>Legal intelligence</a:t>
            </a:r>
          </a:p>
        </p:txBody>
      </p:sp>
      <p:sp>
        <p:nvSpPr>
          <p:cNvPr id="47" name="TextBox 46"/>
          <p:cNvSpPr txBox="1"/>
          <p:nvPr/>
        </p:nvSpPr>
        <p:spPr>
          <a:xfrm>
            <a:off x="9528048" y="4370832"/>
            <a:ext cx="2148840" cy="292608"/>
          </a:xfrm>
          <a:prstGeom prst="rect">
            <a:avLst/>
          </a:prstGeom>
          <a:noFill/>
        </p:spPr>
        <p:txBody>
          <a:bodyPr wrap="square" lIns="0" rIns="0" tIns="0" bIns="0" anchor="t">
            <a:spAutoFit/>
          </a:bodyPr>
          <a:lstStyle/>
          <a:p>
            <a:pPr algn="l">
              <a:lnSpc>
                <a:spcPct val="120000"/>
              </a:lnSpc>
            </a:pPr>
            <a:r>
              <a:rPr sz="800" b="0">
                <a:solidFill>
                  <a:srgbClr val="556764"/>
                </a:solidFill>
                <a:latin typeface="Segoe UI"/>
              </a:rPr>
              <a:t>bespoke annexes, cited and confidence-scored</a:t>
            </a:r>
          </a:p>
        </p:txBody>
      </p:sp>
      <p:sp>
        <p:nvSpPr>
          <p:cNvPr id="48" name="TextBox 47"/>
          <p:cNvSpPr txBox="1"/>
          <p:nvPr/>
        </p:nvSpPr>
        <p:spPr>
          <a:xfrm>
            <a:off x="7360920" y="4754880"/>
            <a:ext cx="146304" cy="182880"/>
          </a:xfrm>
          <a:prstGeom prst="rect">
            <a:avLst/>
          </a:prstGeom>
          <a:noFill/>
        </p:spPr>
        <p:txBody>
          <a:bodyPr wrap="square" lIns="0" rIns="0" tIns="0" bIns="0" anchor="t">
            <a:spAutoFit/>
          </a:bodyPr>
          <a:lstStyle/>
          <a:p>
            <a:pPr algn="l">
              <a:lnSpc>
                <a:spcPct val="115000"/>
              </a:lnSpc>
            </a:pPr>
            <a:r>
              <a:rPr sz="1000" b="0">
                <a:solidFill>
                  <a:srgbClr val="4FC3AE"/>
                </a:solidFill>
                <a:latin typeface="Consolas"/>
              </a:rPr>
              <a:t>›</a:t>
            </a:r>
          </a:p>
        </p:txBody>
      </p:sp>
      <p:sp>
        <p:nvSpPr>
          <p:cNvPr id="49" name="TextBox 48"/>
          <p:cNvSpPr txBox="1"/>
          <p:nvPr/>
        </p:nvSpPr>
        <p:spPr>
          <a:xfrm>
            <a:off x="7571231" y="4754880"/>
            <a:ext cx="1874519" cy="182880"/>
          </a:xfrm>
          <a:prstGeom prst="rect">
            <a:avLst/>
          </a:prstGeom>
          <a:noFill/>
        </p:spPr>
        <p:txBody>
          <a:bodyPr wrap="square" lIns="0" rIns="0" tIns="0" bIns="0" anchor="t">
            <a:spAutoFit/>
          </a:bodyPr>
          <a:lstStyle/>
          <a:p>
            <a:pPr algn="l">
              <a:lnSpc>
                <a:spcPct val="115000"/>
              </a:lnSpc>
            </a:pPr>
            <a:r>
              <a:rPr sz="1000" b="1">
                <a:solidFill>
                  <a:srgbClr val="E6EDEB"/>
                </a:solidFill>
                <a:latin typeface="Segoe UI"/>
              </a:rPr>
              <a:t>Deterministic risk</a:t>
            </a:r>
          </a:p>
        </p:txBody>
      </p:sp>
      <p:sp>
        <p:nvSpPr>
          <p:cNvPr id="50" name="TextBox 49"/>
          <p:cNvSpPr txBox="1"/>
          <p:nvPr/>
        </p:nvSpPr>
        <p:spPr>
          <a:xfrm>
            <a:off x="9528048" y="4754880"/>
            <a:ext cx="2148840" cy="292608"/>
          </a:xfrm>
          <a:prstGeom prst="rect">
            <a:avLst/>
          </a:prstGeom>
          <a:noFill/>
        </p:spPr>
        <p:txBody>
          <a:bodyPr wrap="square" lIns="0" rIns="0" tIns="0" bIns="0" anchor="t">
            <a:spAutoFit/>
          </a:bodyPr>
          <a:lstStyle/>
          <a:p>
            <a:pPr algn="l">
              <a:lnSpc>
                <a:spcPct val="120000"/>
              </a:lnSpc>
            </a:pPr>
            <a:r>
              <a:rPr sz="800" b="0">
                <a:solidFill>
                  <a:srgbClr val="556764"/>
                </a:solidFill>
                <a:latin typeface="Segoe UI"/>
              </a:rPr>
              <a:t>no model ever produces a margin number</a:t>
            </a:r>
          </a:p>
        </p:txBody>
      </p:sp>
      <p:sp>
        <p:nvSpPr>
          <p:cNvPr id="51" name="TextBox 50"/>
          <p:cNvSpPr txBox="1"/>
          <p:nvPr/>
        </p:nvSpPr>
        <p:spPr>
          <a:xfrm>
            <a:off x="7360920" y="5138928"/>
            <a:ext cx="146304" cy="182880"/>
          </a:xfrm>
          <a:prstGeom prst="rect">
            <a:avLst/>
          </a:prstGeom>
          <a:noFill/>
        </p:spPr>
        <p:txBody>
          <a:bodyPr wrap="square" lIns="0" rIns="0" tIns="0" bIns="0" anchor="t">
            <a:spAutoFit/>
          </a:bodyPr>
          <a:lstStyle/>
          <a:p>
            <a:pPr algn="l">
              <a:lnSpc>
                <a:spcPct val="115000"/>
              </a:lnSpc>
            </a:pPr>
            <a:r>
              <a:rPr sz="1000" b="0">
                <a:solidFill>
                  <a:srgbClr val="4FC3AE"/>
                </a:solidFill>
                <a:latin typeface="Consolas"/>
              </a:rPr>
              <a:t>›</a:t>
            </a:r>
          </a:p>
        </p:txBody>
      </p:sp>
      <p:sp>
        <p:nvSpPr>
          <p:cNvPr id="52" name="TextBox 51"/>
          <p:cNvSpPr txBox="1"/>
          <p:nvPr/>
        </p:nvSpPr>
        <p:spPr>
          <a:xfrm>
            <a:off x="7571231" y="5138928"/>
            <a:ext cx="1874519" cy="182880"/>
          </a:xfrm>
          <a:prstGeom prst="rect">
            <a:avLst/>
          </a:prstGeom>
          <a:noFill/>
        </p:spPr>
        <p:txBody>
          <a:bodyPr wrap="square" lIns="0" rIns="0" tIns="0" bIns="0" anchor="t">
            <a:spAutoFit/>
          </a:bodyPr>
          <a:lstStyle/>
          <a:p>
            <a:pPr algn="l">
              <a:lnSpc>
                <a:spcPct val="115000"/>
              </a:lnSpc>
            </a:pPr>
            <a:r>
              <a:rPr sz="1000" b="1">
                <a:solidFill>
                  <a:srgbClr val="E6EDEB"/>
                </a:solidFill>
                <a:latin typeface="Segoe UI"/>
              </a:rPr>
              <a:t>Cheapest-to-deliver</a:t>
            </a:r>
          </a:p>
        </p:txBody>
      </p:sp>
      <p:sp>
        <p:nvSpPr>
          <p:cNvPr id="53" name="TextBox 52"/>
          <p:cNvSpPr txBox="1"/>
          <p:nvPr/>
        </p:nvSpPr>
        <p:spPr>
          <a:xfrm>
            <a:off x="9528048" y="5138928"/>
            <a:ext cx="2148840" cy="292608"/>
          </a:xfrm>
          <a:prstGeom prst="rect">
            <a:avLst/>
          </a:prstGeom>
          <a:noFill/>
        </p:spPr>
        <p:txBody>
          <a:bodyPr wrap="square" lIns="0" rIns="0" tIns="0" bIns="0" anchor="t">
            <a:spAutoFit/>
          </a:bodyPr>
          <a:lstStyle/>
          <a:p>
            <a:pPr algn="l">
              <a:lnSpc>
                <a:spcPct val="120000"/>
              </a:lnSpc>
            </a:pPr>
            <a:r>
              <a:rPr sz="800" b="0">
                <a:solidFill>
                  <a:srgbClr val="556764"/>
                </a:solidFill>
                <a:latin typeface="Segoe UI"/>
              </a:rPr>
              <a:t>constrained optimisation, not habit</a:t>
            </a:r>
          </a:p>
        </p:txBody>
      </p:sp>
      <p:sp>
        <p:nvSpPr>
          <p:cNvPr id="54" name="TextBox 53"/>
          <p:cNvSpPr txBox="1"/>
          <p:nvPr/>
        </p:nvSpPr>
        <p:spPr>
          <a:xfrm>
            <a:off x="7360920" y="5522976"/>
            <a:ext cx="146304" cy="182880"/>
          </a:xfrm>
          <a:prstGeom prst="rect">
            <a:avLst/>
          </a:prstGeom>
          <a:noFill/>
        </p:spPr>
        <p:txBody>
          <a:bodyPr wrap="square" lIns="0" rIns="0" tIns="0" bIns="0" anchor="t">
            <a:spAutoFit/>
          </a:bodyPr>
          <a:lstStyle/>
          <a:p>
            <a:pPr algn="l">
              <a:lnSpc>
                <a:spcPct val="115000"/>
              </a:lnSpc>
            </a:pPr>
            <a:r>
              <a:rPr sz="1000" b="0">
                <a:solidFill>
                  <a:srgbClr val="4FC3AE"/>
                </a:solidFill>
                <a:latin typeface="Consolas"/>
              </a:rPr>
              <a:t>›</a:t>
            </a:r>
          </a:p>
        </p:txBody>
      </p:sp>
      <p:sp>
        <p:nvSpPr>
          <p:cNvPr id="55" name="TextBox 54"/>
          <p:cNvSpPr txBox="1"/>
          <p:nvPr/>
        </p:nvSpPr>
        <p:spPr>
          <a:xfrm>
            <a:off x="7571231" y="5522976"/>
            <a:ext cx="1874519" cy="182880"/>
          </a:xfrm>
          <a:prstGeom prst="rect">
            <a:avLst/>
          </a:prstGeom>
          <a:noFill/>
        </p:spPr>
        <p:txBody>
          <a:bodyPr wrap="square" lIns="0" rIns="0" tIns="0" bIns="0" anchor="t">
            <a:spAutoFit/>
          </a:bodyPr>
          <a:lstStyle/>
          <a:p>
            <a:pPr algn="l">
              <a:lnSpc>
                <a:spcPct val="115000"/>
              </a:lnSpc>
            </a:pPr>
            <a:r>
              <a:rPr sz="1000" b="1">
                <a:solidFill>
                  <a:srgbClr val="E6EDEB"/>
                </a:solidFill>
                <a:latin typeface="Segoe UI"/>
              </a:rPr>
              <a:t>Cross-border economics</a:t>
            </a:r>
          </a:p>
        </p:txBody>
      </p:sp>
      <p:sp>
        <p:nvSpPr>
          <p:cNvPr id="56" name="TextBox 55"/>
          <p:cNvSpPr txBox="1"/>
          <p:nvPr/>
        </p:nvSpPr>
        <p:spPr>
          <a:xfrm>
            <a:off x="9528048" y="5522976"/>
            <a:ext cx="2148840" cy="292608"/>
          </a:xfrm>
          <a:prstGeom prst="rect">
            <a:avLst/>
          </a:prstGeom>
          <a:noFill/>
        </p:spPr>
        <p:txBody>
          <a:bodyPr wrap="square" lIns="0" rIns="0" tIns="0" bIns="0" anchor="t">
            <a:spAutoFit/>
          </a:bodyPr>
          <a:lstStyle/>
          <a:p>
            <a:pPr algn="l">
              <a:lnSpc>
                <a:spcPct val="120000"/>
              </a:lnSpc>
            </a:pPr>
            <a:r>
              <a:rPr sz="800" b="0">
                <a:solidFill>
                  <a:srgbClr val="556764"/>
                </a:solidFill>
                <a:latin typeface="Segoe UI"/>
              </a:rPr>
              <a:t>FX drag priced, not assumed</a:t>
            </a:r>
          </a:p>
        </p:txBody>
      </p:sp>
      <p:sp>
        <p:nvSpPr>
          <p:cNvPr id="57" name="TextBox 56"/>
          <p:cNvSpPr txBox="1"/>
          <p:nvPr/>
        </p:nvSpPr>
        <p:spPr>
          <a:xfrm>
            <a:off x="960120" y="6291072"/>
            <a:ext cx="10424160" cy="274320"/>
          </a:xfrm>
          <a:prstGeom prst="rect">
            <a:avLst/>
          </a:prstGeom>
          <a:noFill/>
        </p:spPr>
        <p:txBody>
          <a:bodyPr wrap="square" lIns="0" rIns="0" tIns="0" bIns="0" anchor="t">
            <a:spAutoFit/>
          </a:bodyPr>
          <a:lstStyle/>
          <a:p>
            <a:pPr algn="l">
              <a:lnSpc>
                <a:spcPct val="115000"/>
              </a:lnSpc>
            </a:pPr>
            <a:r>
              <a:rPr sz="850" b="0">
                <a:solidFill>
                  <a:srgbClr val="556764"/>
                </a:solidFill>
                <a:latin typeface="Consolas"/>
              </a:rPr>
              <a:t>All market data, counterparties and legal documents in this prototype are SIMULATED. No transaction is executed, no market infrastructure is connected, no regulatory approval is claimed.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201168"/>
          </a:xfrm>
          <a:prstGeom prst="rect">
            <a:avLst/>
          </a:prstGeom>
          <a:noFill/>
        </p:spPr>
        <p:txBody>
          <a:bodyPr wrap="square" lIns="0" rIns="0" tIns="0" bIns="0" anchor="t">
            <a:spAutoFit/>
          </a:bodyPr>
          <a:lstStyle/>
          <a:p>
            <a:pPr algn="l">
              <a:lnSpc>
                <a:spcPct val="115000"/>
              </a:lnSpc>
            </a:pPr>
            <a:r>
              <a:rPr sz="1050" b="1" spc="220">
                <a:solidFill>
                  <a:srgbClr val="556764"/>
                </a:solidFill>
                <a:latin typeface="Consolas"/>
              </a:rPr>
              <a:t>THE PROBLEM</a:t>
            </a:r>
          </a:p>
        </p:txBody>
      </p:sp>
      <p:sp>
        <p:nvSpPr>
          <p:cNvPr id="4" name="TextBox 3"/>
          <p:cNvSpPr txBox="1"/>
          <p:nvPr/>
        </p:nvSpPr>
        <p:spPr>
          <a:xfrm>
            <a:off x="566928" y="621792"/>
            <a:ext cx="11057839" cy="914400"/>
          </a:xfrm>
          <a:prstGeom prst="rect">
            <a:avLst/>
          </a:prstGeom>
          <a:noFill/>
        </p:spPr>
        <p:txBody>
          <a:bodyPr wrap="square" lIns="0" rIns="0" tIns="0" bIns="0" anchor="t">
            <a:spAutoFit/>
          </a:bodyPr>
          <a:lstStyle/>
          <a:p>
            <a:pPr algn="l">
              <a:lnSpc>
                <a:spcPct val="106000"/>
              </a:lnSpc>
            </a:pPr>
            <a:r>
              <a:rPr sz="2900" b="1">
                <a:solidFill>
                  <a:srgbClr val="E6EDEB"/>
                </a:solidFill>
                <a:latin typeface="Cambria"/>
              </a:rPr>
              <a:t>Margin calls are settled by people reading legal documents.</a:t>
            </a:r>
          </a:p>
        </p:txBody>
      </p:sp>
      <p:sp>
        <p:nvSpPr>
          <p:cNvPr id="5" name="Rectangle 4"/>
          <p:cNvSpPr/>
          <p:nvPr/>
        </p:nvSpPr>
        <p:spPr>
          <a:xfrm>
            <a:off x="566928" y="6336792"/>
            <a:ext cx="11057839"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28232"/>
            <a:ext cx="6400800" cy="219456"/>
          </a:xfrm>
          <a:prstGeom prst="rect">
            <a:avLst/>
          </a:prstGeom>
          <a:noFill/>
        </p:spPr>
        <p:txBody>
          <a:bodyPr wrap="square" lIns="0" rIns="0" tIns="0" bIns="0" anchor="t">
            <a:spAutoFit/>
          </a:bodyPr>
          <a:lstStyle/>
          <a:p>
            <a:pPr algn="l">
              <a:lnSpc>
                <a:spcPct val="115000"/>
              </a:lnSpc>
            </a:pPr>
            <a:r>
              <a:rPr sz="850" b="0" spc="200">
                <a:solidFill>
                  <a:srgbClr val="556764"/>
                </a:solidFill>
                <a:latin typeface="Consolas"/>
              </a:rPr>
              <a:t>AETHER-DERIVATIVES</a:t>
            </a:r>
          </a:p>
        </p:txBody>
      </p:sp>
      <p:sp>
        <p:nvSpPr>
          <p:cNvPr id="7" name="TextBox 6"/>
          <p:cNvSpPr txBox="1"/>
          <p:nvPr/>
        </p:nvSpPr>
        <p:spPr>
          <a:xfrm>
            <a:off x="11076127" y="6428232"/>
            <a:ext cx="548640" cy="219456"/>
          </a:xfrm>
          <a:prstGeom prst="rect">
            <a:avLst/>
          </a:prstGeom>
          <a:noFill/>
        </p:spPr>
        <p:txBody>
          <a:bodyPr wrap="square" lIns="0" rIns="0" tIns="0" bIns="0" anchor="t">
            <a:spAutoFit/>
          </a:bodyPr>
          <a:lstStyle/>
          <a:p>
            <a:pPr algn="r">
              <a:lnSpc>
                <a:spcPct val="115000"/>
              </a:lnSpc>
            </a:pPr>
            <a:r>
              <a:rPr sz="850" b="0">
                <a:solidFill>
                  <a:srgbClr val="556764"/>
                </a:solidFill>
                <a:latin typeface="Consolas"/>
              </a:rPr>
              <a:t>02</a:t>
            </a:r>
          </a:p>
        </p:txBody>
      </p:sp>
      <p:sp>
        <p:nvSpPr>
          <p:cNvPr id="8" name="Rectangle 7"/>
          <p:cNvSpPr/>
          <p:nvPr/>
        </p:nvSpPr>
        <p:spPr>
          <a:xfrm>
            <a:off x="566928" y="1517904"/>
            <a:ext cx="3551834" cy="1225296"/>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517904"/>
            <a:ext cx="3551834" cy="41148"/>
          </a:xfrm>
          <a:prstGeom prst="rect">
            <a:avLst/>
          </a:prstGeom>
          <a:solidFill>
            <a:srgbClr val="4FC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1773936"/>
            <a:ext cx="3112922" cy="365760"/>
          </a:xfrm>
          <a:prstGeom prst="rect">
            <a:avLst/>
          </a:prstGeom>
          <a:noFill/>
        </p:spPr>
        <p:txBody>
          <a:bodyPr wrap="square" lIns="0" rIns="0" tIns="0" bIns="0" anchor="t">
            <a:spAutoFit/>
          </a:bodyPr>
          <a:lstStyle/>
          <a:p>
            <a:pPr algn="l">
              <a:lnSpc>
                <a:spcPct val="115000"/>
              </a:lnSpc>
            </a:pPr>
            <a:r>
              <a:rPr sz="2500" b="1">
                <a:solidFill>
                  <a:srgbClr val="4FC3AE"/>
                </a:solidFill>
                <a:latin typeface="Consolas"/>
              </a:rPr>
              <a:t>$600 TRILLION</a:t>
            </a:r>
          </a:p>
        </p:txBody>
      </p:sp>
      <p:sp>
        <p:nvSpPr>
          <p:cNvPr id="11" name="TextBox 10"/>
          <p:cNvSpPr txBox="1"/>
          <p:nvPr/>
        </p:nvSpPr>
        <p:spPr>
          <a:xfrm>
            <a:off x="786384" y="2212848"/>
            <a:ext cx="3094634" cy="457200"/>
          </a:xfrm>
          <a:prstGeom prst="rect">
            <a:avLst/>
          </a:prstGeom>
          <a:noFill/>
        </p:spPr>
        <p:txBody>
          <a:bodyPr wrap="square" lIns="0" rIns="0" tIns="0" bIns="0" anchor="t">
            <a:spAutoFit/>
          </a:bodyPr>
          <a:lstStyle/>
          <a:p>
            <a:pPr algn="l">
              <a:lnSpc>
                <a:spcPct val="130000"/>
              </a:lnSpc>
            </a:pPr>
            <a:r>
              <a:rPr sz="1000" b="0">
                <a:solidFill>
                  <a:srgbClr val="7B908C"/>
                </a:solidFill>
                <a:latin typeface="Segoe UI"/>
              </a:rPr>
              <a:t>notional in global OTC derivatives markets</a:t>
            </a:r>
          </a:p>
        </p:txBody>
      </p:sp>
      <p:sp>
        <p:nvSpPr>
          <p:cNvPr id="12" name="Rectangle 11"/>
          <p:cNvSpPr/>
          <p:nvPr/>
        </p:nvSpPr>
        <p:spPr>
          <a:xfrm>
            <a:off x="4319930" y="1517904"/>
            <a:ext cx="3551834" cy="1225296"/>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9930" y="1517904"/>
            <a:ext cx="3551834" cy="41148"/>
          </a:xfrm>
          <a:prstGeom prst="rect">
            <a:avLst/>
          </a:prstGeom>
          <a:solidFill>
            <a:srgbClr val="E0A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9386" y="1773936"/>
            <a:ext cx="3112922" cy="365760"/>
          </a:xfrm>
          <a:prstGeom prst="rect">
            <a:avLst/>
          </a:prstGeom>
          <a:noFill/>
        </p:spPr>
        <p:txBody>
          <a:bodyPr wrap="square" lIns="0" rIns="0" tIns="0" bIns="0" anchor="t">
            <a:spAutoFit/>
          </a:bodyPr>
          <a:lstStyle/>
          <a:p>
            <a:pPr algn="l">
              <a:lnSpc>
                <a:spcPct val="115000"/>
              </a:lnSpc>
            </a:pPr>
            <a:r>
              <a:rPr sz="2500" b="1">
                <a:solidFill>
                  <a:srgbClr val="E0A33C"/>
                </a:solidFill>
                <a:latin typeface="Consolas"/>
              </a:rPr>
              <a:t>4 – 6 HOURS</a:t>
            </a:r>
          </a:p>
        </p:txBody>
      </p:sp>
      <p:sp>
        <p:nvSpPr>
          <p:cNvPr id="15" name="TextBox 14"/>
          <p:cNvSpPr txBox="1"/>
          <p:nvPr/>
        </p:nvSpPr>
        <p:spPr>
          <a:xfrm>
            <a:off x="4539386" y="2212848"/>
            <a:ext cx="3094634" cy="457200"/>
          </a:xfrm>
          <a:prstGeom prst="rect">
            <a:avLst/>
          </a:prstGeom>
          <a:noFill/>
        </p:spPr>
        <p:txBody>
          <a:bodyPr wrap="square" lIns="0" rIns="0" tIns="0" bIns="0" anchor="t">
            <a:spAutoFit/>
          </a:bodyPr>
          <a:lstStyle/>
          <a:p>
            <a:pPr algn="l">
              <a:lnSpc>
                <a:spcPct val="130000"/>
              </a:lnSpc>
            </a:pPr>
            <a:r>
              <a:rPr sz="1000" b="0">
                <a:solidFill>
                  <a:srgbClr val="7B908C"/>
                </a:solidFill>
                <a:latin typeface="Segoe UI"/>
              </a:rPr>
              <a:t>to recalculate variation margin manually when volatility spikes</a:t>
            </a:r>
          </a:p>
        </p:txBody>
      </p:sp>
      <p:sp>
        <p:nvSpPr>
          <p:cNvPr id="16" name="Rectangle 15"/>
          <p:cNvSpPr/>
          <p:nvPr/>
        </p:nvSpPr>
        <p:spPr>
          <a:xfrm>
            <a:off x="8072932" y="1517904"/>
            <a:ext cx="3551834" cy="1225296"/>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2932" y="1517904"/>
            <a:ext cx="3551834" cy="41148"/>
          </a:xfrm>
          <a:prstGeom prst="rect">
            <a:avLst/>
          </a:prstGeom>
          <a:solidFill>
            <a:srgbClr val="A9BC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2388" y="1773936"/>
            <a:ext cx="3112922" cy="365760"/>
          </a:xfrm>
          <a:prstGeom prst="rect">
            <a:avLst/>
          </a:prstGeom>
          <a:noFill/>
        </p:spPr>
        <p:txBody>
          <a:bodyPr wrap="square" lIns="0" rIns="0" tIns="0" bIns="0" anchor="t">
            <a:spAutoFit/>
          </a:bodyPr>
          <a:lstStyle/>
          <a:p>
            <a:pPr algn="l">
              <a:lnSpc>
                <a:spcPct val="115000"/>
              </a:lnSpc>
            </a:pPr>
            <a:r>
              <a:rPr sz="2500" b="1">
                <a:solidFill>
                  <a:srgbClr val="A9BCB8"/>
                </a:solidFill>
                <a:latin typeface="Consolas"/>
              </a:rPr>
              <a:t>200+ PAGES</a:t>
            </a:r>
          </a:p>
        </p:txBody>
      </p:sp>
      <p:sp>
        <p:nvSpPr>
          <p:cNvPr id="19" name="TextBox 18"/>
          <p:cNvSpPr txBox="1"/>
          <p:nvPr/>
        </p:nvSpPr>
        <p:spPr>
          <a:xfrm>
            <a:off x="8292388" y="2212848"/>
            <a:ext cx="3094634" cy="457200"/>
          </a:xfrm>
          <a:prstGeom prst="rect">
            <a:avLst/>
          </a:prstGeom>
          <a:noFill/>
        </p:spPr>
        <p:txBody>
          <a:bodyPr wrap="square" lIns="0" rIns="0" tIns="0" bIns="0" anchor="t">
            <a:spAutoFit/>
          </a:bodyPr>
          <a:lstStyle/>
          <a:p>
            <a:pPr algn="l">
              <a:lnSpc>
                <a:spcPct val="130000"/>
              </a:lnSpc>
            </a:pPr>
            <a:r>
              <a:rPr sz="1000" b="0">
                <a:solidFill>
                  <a:srgbClr val="7B908C"/>
                </a:solidFill>
                <a:latin typeface="Segoe UI"/>
              </a:rPr>
              <a:t>of ISDA Master Agreement and Credit Support Annex per counterparty</a:t>
            </a:r>
          </a:p>
        </p:txBody>
      </p:sp>
      <p:sp>
        <p:nvSpPr>
          <p:cNvPr id="20" name="TextBox 19"/>
          <p:cNvSpPr txBox="1"/>
          <p:nvPr/>
        </p:nvSpPr>
        <p:spPr>
          <a:xfrm>
            <a:off x="566928" y="2962656"/>
            <a:ext cx="11057839" cy="274320"/>
          </a:xfrm>
          <a:prstGeom prst="rect">
            <a:avLst/>
          </a:prstGeom>
          <a:noFill/>
        </p:spPr>
        <p:txBody>
          <a:bodyPr wrap="square" lIns="0" rIns="0" tIns="0" bIns="0" anchor="t">
            <a:spAutoFit/>
          </a:bodyPr>
          <a:lstStyle/>
          <a:p>
            <a:pPr algn="l">
              <a:lnSpc>
                <a:spcPct val="115000"/>
              </a:lnSpc>
            </a:pPr>
            <a:r>
              <a:rPr sz="1250" b="0">
                <a:solidFill>
                  <a:srgbClr val="A9BCB8"/>
                </a:solidFill>
                <a:latin typeface="Segoe UI"/>
              </a:rPr>
              <a:t>During volatility, human risk desks work from spreadsheets and manual PDF searches across those annexes.</a:t>
            </a:r>
          </a:p>
        </p:txBody>
      </p:sp>
      <p:sp>
        <p:nvSpPr>
          <p:cNvPr id="21" name="Rectangle 20"/>
          <p:cNvSpPr/>
          <p:nvPr/>
        </p:nvSpPr>
        <p:spPr>
          <a:xfrm>
            <a:off x="566928" y="3438144"/>
            <a:ext cx="1736293" cy="786384"/>
          </a:xfrm>
          <a:prstGeom prst="rect">
            <a:avLst/>
          </a:prstGeom>
          <a:solidFill>
            <a:srgbClr val="182321"/>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584448"/>
            <a:ext cx="1589989" cy="219456"/>
          </a:xfrm>
          <a:prstGeom prst="rect">
            <a:avLst/>
          </a:prstGeom>
          <a:noFill/>
        </p:spPr>
        <p:txBody>
          <a:bodyPr wrap="square" lIns="0" rIns="0" tIns="0" bIns="0" anchor="t">
            <a:spAutoFit/>
          </a:bodyPr>
          <a:lstStyle/>
          <a:p>
            <a:pPr algn="ctr">
              <a:lnSpc>
                <a:spcPct val="115000"/>
              </a:lnSpc>
            </a:pPr>
            <a:r>
              <a:rPr sz="1000" b="1">
                <a:solidFill>
                  <a:srgbClr val="E6EDEB"/>
                </a:solidFill>
                <a:latin typeface="Segoe UI"/>
              </a:rPr>
              <a:t>Read the annex</a:t>
            </a:r>
          </a:p>
        </p:txBody>
      </p:sp>
      <p:sp>
        <p:nvSpPr>
          <p:cNvPr id="23" name="TextBox 22"/>
          <p:cNvSpPr txBox="1"/>
          <p:nvPr/>
        </p:nvSpPr>
        <p:spPr>
          <a:xfrm>
            <a:off x="621792" y="3840480"/>
            <a:ext cx="1626565" cy="274320"/>
          </a:xfrm>
          <a:prstGeom prst="rect">
            <a:avLst/>
          </a:prstGeom>
          <a:noFill/>
        </p:spPr>
        <p:txBody>
          <a:bodyPr wrap="square" lIns="0" rIns="0" tIns="0" bIns="0" anchor="t">
            <a:spAutoFit/>
          </a:bodyPr>
          <a:lstStyle/>
          <a:p>
            <a:pPr algn="ctr">
              <a:lnSpc>
                <a:spcPct val="115000"/>
              </a:lnSpc>
            </a:pPr>
            <a:r>
              <a:rPr sz="750" b="0">
                <a:solidFill>
                  <a:srgbClr val="556764"/>
                </a:solidFill>
                <a:latin typeface="Consolas"/>
              </a:rPr>
              <a:t>threshold · MTA · haircuts</a:t>
            </a:r>
          </a:p>
        </p:txBody>
      </p:sp>
      <p:sp>
        <p:nvSpPr>
          <p:cNvPr id="24" name="Right Arrow 23"/>
          <p:cNvSpPr/>
          <p:nvPr/>
        </p:nvSpPr>
        <p:spPr>
          <a:xfrm>
            <a:off x="2307793" y="3758184"/>
            <a:ext cx="109728" cy="91440"/>
          </a:xfrm>
          <a:prstGeom prst="rightArrow">
            <a:avLst/>
          </a:prstGeom>
          <a:solidFill>
            <a:srgbClr val="2F8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431237" y="3438144"/>
            <a:ext cx="1736293" cy="786384"/>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04389" y="3584448"/>
            <a:ext cx="1589989" cy="219456"/>
          </a:xfrm>
          <a:prstGeom prst="rect">
            <a:avLst/>
          </a:prstGeom>
          <a:noFill/>
        </p:spPr>
        <p:txBody>
          <a:bodyPr wrap="square" lIns="0" rIns="0" tIns="0" bIns="0" anchor="t">
            <a:spAutoFit/>
          </a:bodyPr>
          <a:lstStyle/>
          <a:p>
            <a:pPr algn="ctr">
              <a:lnSpc>
                <a:spcPct val="115000"/>
              </a:lnSpc>
            </a:pPr>
            <a:r>
              <a:rPr sz="1000" b="1">
                <a:solidFill>
                  <a:srgbClr val="E6EDEB"/>
                </a:solidFill>
                <a:latin typeface="Segoe UI"/>
              </a:rPr>
              <a:t>Rebuild exposure</a:t>
            </a:r>
          </a:p>
        </p:txBody>
      </p:sp>
      <p:sp>
        <p:nvSpPr>
          <p:cNvPr id="27" name="TextBox 26"/>
          <p:cNvSpPr txBox="1"/>
          <p:nvPr/>
        </p:nvSpPr>
        <p:spPr>
          <a:xfrm>
            <a:off x="2486101" y="3840480"/>
            <a:ext cx="1626565" cy="274320"/>
          </a:xfrm>
          <a:prstGeom prst="rect">
            <a:avLst/>
          </a:prstGeom>
          <a:noFill/>
        </p:spPr>
        <p:txBody>
          <a:bodyPr wrap="square" lIns="0" rIns="0" tIns="0" bIns="0" anchor="t">
            <a:spAutoFit/>
          </a:bodyPr>
          <a:lstStyle/>
          <a:p>
            <a:pPr algn="ctr">
              <a:lnSpc>
                <a:spcPct val="115000"/>
              </a:lnSpc>
            </a:pPr>
            <a:r>
              <a:rPr sz="750" b="0">
                <a:solidFill>
                  <a:srgbClr val="556764"/>
                </a:solidFill>
                <a:latin typeface="Consolas"/>
              </a:rPr>
              <a:t>netting set · mark to market</a:t>
            </a:r>
          </a:p>
        </p:txBody>
      </p:sp>
      <p:sp>
        <p:nvSpPr>
          <p:cNvPr id="28" name="Right Arrow 27"/>
          <p:cNvSpPr/>
          <p:nvPr/>
        </p:nvSpPr>
        <p:spPr>
          <a:xfrm>
            <a:off x="4172102" y="3758184"/>
            <a:ext cx="109728" cy="91440"/>
          </a:xfrm>
          <a:prstGeom prst="rightArrow">
            <a:avLst/>
          </a:prstGeom>
          <a:solidFill>
            <a:srgbClr val="2F8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295546" y="3438144"/>
            <a:ext cx="1736293" cy="786384"/>
          </a:xfrm>
          <a:prstGeom prst="rect">
            <a:avLst/>
          </a:prstGeom>
          <a:solidFill>
            <a:srgbClr val="182321"/>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68698" y="3584448"/>
            <a:ext cx="1589989" cy="219456"/>
          </a:xfrm>
          <a:prstGeom prst="rect">
            <a:avLst/>
          </a:prstGeom>
          <a:noFill/>
        </p:spPr>
        <p:txBody>
          <a:bodyPr wrap="square" lIns="0" rIns="0" tIns="0" bIns="0" anchor="t">
            <a:spAutoFit/>
          </a:bodyPr>
          <a:lstStyle/>
          <a:p>
            <a:pPr algn="ctr">
              <a:lnSpc>
                <a:spcPct val="115000"/>
              </a:lnSpc>
            </a:pPr>
            <a:r>
              <a:rPr sz="1000" b="1">
                <a:solidFill>
                  <a:srgbClr val="E6EDEB"/>
                </a:solidFill>
                <a:latin typeface="Segoe UI"/>
              </a:rPr>
              <a:t>Compute the call</a:t>
            </a:r>
          </a:p>
        </p:txBody>
      </p:sp>
      <p:sp>
        <p:nvSpPr>
          <p:cNvPr id="31" name="TextBox 30"/>
          <p:cNvSpPr txBox="1"/>
          <p:nvPr/>
        </p:nvSpPr>
        <p:spPr>
          <a:xfrm>
            <a:off x="4350410" y="3840480"/>
            <a:ext cx="1626565" cy="274320"/>
          </a:xfrm>
          <a:prstGeom prst="rect">
            <a:avLst/>
          </a:prstGeom>
          <a:noFill/>
        </p:spPr>
        <p:txBody>
          <a:bodyPr wrap="square" lIns="0" rIns="0" tIns="0" bIns="0" anchor="t">
            <a:spAutoFit/>
          </a:bodyPr>
          <a:lstStyle/>
          <a:p>
            <a:pPr algn="ctr">
              <a:lnSpc>
                <a:spcPct val="115000"/>
              </a:lnSpc>
            </a:pPr>
            <a:r>
              <a:rPr sz="750" b="0">
                <a:solidFill>
                  <a:srgbClr val="556764"/>
                </a:solidFill>
                <a:latin typeface="Consolas"/>
              </a:rPr>
              <a:t>credit support amount</a:t>
            </a:r>
          </a:p>
        </p:txBody>
      </p:sp>
      <p:sp>
        <p:nvSpPr>
          <p:cNvPr id="32" name="Right Arrow 31"/>
          <p:cNvSpPr/>
          <p:nvPr/>
        </p:nvSpPr>
        <p:spPr>
          <a:xfrm>
            <a:off x="6036411" y="3758184"/>
            <a:ext cx="109728" cy="91440"/>
          </a:xfrm>
          <a:prstGeom prst="rightArrow">
            <a:avLst/>
          </a:prstGeom>
          <a:solidFill>
            <a:srgbClr val="2F8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59855" y="3438144"/>
            <a:ext cx="1736293" cy="786384"/>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33007" y="3584448"/>
            <a:ext cx="1589989" cy="219456"/>
          </a:xfrm>
          <a:prstGeom prst="rect">
            <a:avLst/>
          </a:prstGeom>
          <a:noFill/>
        </p:spPr>
        <p:txBody>
          <a:bodyPr wrap="square" lIns="0" rIns="0" tIns="0" bIns="0" anchor="t">
            <a:spAutoFit/>
          </a:bodyPr>
          <a:lstStyle/>
          <a:p>
            <a:pPr algn="ctr">
              <a:lnSpc>
                <a:spcPct val="115000"/>
              </a:lnSpc>
            </a:pPr>
            <a:r>
              <a:rPr sz="1000" b="1">
                <a:solidFill>
                  <a:srgbClr val="E6EDEB"/>
                </a:solidFill>
                <a:latin typeface="Segoe UI"/>
              </a:rPr>
              <a:t>Choose collateral</a:t>
            </a:r>
          </a:p>
        </p:txBody>
      </p:sp>
      <p:sp>
        <p:nvSpPr>
          <p:cNvPr id="35" name="TextBox 34"/>
          <p:cNvSpPr txBox="1"/>
          <p:nvPr/>
        </p:nvSpPr>
        <p:spPr>
          <a:xfrm>
            <a:off x="6214719" y="3840480"/>
            <a:ext cx="1626565" cy="274320"/>
          </a:xfrm>
          <a:prstGeom prst="rect">
            <a:avLst/>
          </a:prstGeom>
          <a:noFill/>
        </p:spPr>
        <p:txBody>
          <a:bodyPr wrap="square" lIns="0" rIns="0" tIns="0" bIns="0" anchor="t">
            <a:spAutoFit/>
          </a:bodyPr>
          <a:lstStyle/>
          <a:p>
            <a:pPr algn="ctr">
              <a:lnSpc>
                <a:spcPct val="115000"/>
              </a:lnSpc>
            </a:pPr>
            <a:r>
              <a:rPr sz="750" b="0">
                <a:solidFill>
                  <a:srgbClr val="556764"/>
                </a:solidFill>
                <a:latin typeface="Consolas"/>
              </a:rPr>
              <a:t>eligibility · concentration</a:t>
            </a:r>
          </a:p>
        </p:txBody>
      </p:sp>
      <p:sp>
        <p:nvSpPr>
          <p:cNvPr id="36" name="Right Arrow 35"/>
          <p:cNvSpPr/>
          <p:nvPr/>
        </p:nvSpPr>
        <p:spPr>
          <a:xfrm>
            <a:off x="7900720" y="3758184"/>
            <a:ext cx="109728" cy="91440"/>
          </a:xfrm>
          <a:prstGeom prst="rightArrow">
            <a:avLst/>
          </a:prstGeom>
          <a:solidFill>
            <a:srgbClr val="2F8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24164" y="3438144"/>
            <a:ext cx="1736293" cy="786384"/>
          </a:xfrm>
          <a:prstGeom prst="rect">
            <a:avLst/>
          </a:prstGeom>
          <a:solidFill>
            <a:srgbClr val="182321"/>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97316" y="3584448"/>
            <a:ext cx="1589989" cy="219456"/>
          </a:xfrm>
          <a:prstGeom prst="rect">
            <a:avLst/>
          </a:prstGeom>
          <a:noFill/>
        </p:spPr>
        <p:txBody>
          <a:bodyPr wrap="square" lIns="0" rIns="0" tIns="0" bIns="0" anchor="t">
            <a:spAutoFit/>
          </a:bodyPr>
          <a:lstStyle/>
          <a:p>
            <a:pPr algn="ctr">
              <a:lnSpc>
                <a:spcPct val="115000"/>
              </a:lnSpc>
            </a:pPr>
            <a:r>
              <a:rPr sz="1000" b="1">
                <a:solidFill>
                  <a:srgbClr val="E6EDEB"/>
                </a:solidFill>
                <a:latin typeface="Segoe UI"/>
              </a:rPr>
              <a:t>Instruct settlement</a:t>
            </a:r>
          </a:p>
        </p:txBody>
      </p:sp>
      <p:sp>
        <p:nvSpPr>
          <p:cNvPr id="39" name="TextBox 38"/>
          <p:cNvSpPr txBox="1"/>
          <p:nvPr/>
        </p:nvSpPr>
        <p:spPr>
          <a:xfrm>
            <a:off x="8079028" y="3840480"/>
            <a:ext cx="1626565" cy="274320"/>
          </a:xfrm>
          <a:prstGeom prst="rect">
            <a:avLst/>
          </a:prstGeom>
          <a:noFill/>
        </p:spPr>
        <p:txBody>
          <a:bodyPr wrap="square" lIns="0" rIns="0" tIns="0" bIns="0" anchor="t">
            <a:spAutoFit/>
          </a:bodyPr>
          <a:lstStyle/>
          <a:p>
            <a:pPr algn="ctr">
              <a:lnSpc>
                <a:spcPct val="115000"/>
              </a:lnSpc>
            </a:pPr>
            <a:r>
              <a:rPr sz="750" b="0">
                <a:solidFill>
                  <a:srgbClr val="556764"/>
                </a:solidFill>
                <a:latin typeface="Consolas"/>
              </a:rPr>
              <a:t>custodian · value date</a:t>
            </a:r>
          </a:p>
        </p:txBody>
      </p:sp>
      <p:sp>
        <p:nvSpPr>
          <p:cNvPr id="40" name="Right Arrow 39"/>
          <p:cNvSpPr/>
          <p:nvPr/>
        </p:nvSpPr>
        <p:spPr>
          <a:xfrm>
            <a:off x="9765030" y="3758184"/>
            <a:ext cx="109728" cy="91440"/>
          </a:xfrm>
          <a:prstGeom prst="rightArrow">
            <a:avLst/>
          </a:prstGeom>
          <a:solidFill>
            <a:srgbClr val="2F8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88473" y="3438144"/>
            <a:ext cx="1736293" cy="786384"/>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961625" y="3584448"/>
            <a:ext cx="1589989" cy="219456"/>
          </a:xfrm>
          <a:prstGeom prst="rect">
            <a:avLst/>
          </a:prstGeom>
          <a:noFill/>
        </p:spPr>
        <p:txBody>
          <a:bodyPr wrap="square" lIns="0" rIns="0" tIns="0" bIns="0" anchor="t">
            <a:spAutoFit/>
          </a:bodyPr>
          <a:lstStyle/>
          <a:p>
            <a:pPr algn="ctr">
              <a:lnSpc>
                <a:spcPct val="115000"/>
              </a:lnSpc>
            </a:pPr>
            <a:r>
              <a:rPr sz="1000" b="1">
                <a:solidFill>
                  <a:srgbClr val="E6EDEB"/>
                </a:solidFill>
                <a:latin typeface="Segoe UI"/>
              </a:rPr>
              <a:t>Defend it later</a:t>
            </a:r>
          </a:p>
        </p:txBody>
      </p:sp>
      <p:sp>
        <p:nvSpPr>
          <p:cNvPr id="43" name="TextBox 42"/>
          <p:cNvSpPr txBox="1"/>
          <p:nvPr/>
        </p:nvSpPr>
        <p:spPr>
          <a:xfrm>
            <a:off x="9943338" y="3840480"/>
            <a:ext cx="1626565" cy="274320"/>
          </a:xfrm>
          <a:prstGeom prst="rect">
            <a:avLst/>
          </a:prstGeom>
          <a:noFill/>
        </p:spPr>
        <p:txBody>
          <a:bodyPr wrap="square" lIns="0" rIns="0" tIns="0" bIns="0" anchor="t">
            <a:spAutoFit/>
          </a:bodyPr>
          <a:lstStyle/>
          <a:p>
            <a:pPr algn="ctr">
              <a:lnSpc>
                <a:spcPct val="115000"/>
              </a:lnSpc>
            </a:pPr>
            <a:r>
              <a:rPr sz="750" b="0">
                <a:solidFill>
                  <a:srgbClr val="556764"/>
                </a:solidFill>
                <a:latin typeface="Consolas"/>
              </a:rPr>
              <a:t>audit · dispute</a:t>
            </a:r>
          </a:p>
        </p:txBody>
      </p:sp>
      <p:sp>
        <p:nvSpPr>
          <p:cNvPr id="44" name="Rectangle 43"/>
          <p:cNvSpPr/>
          <p:nvPr/>
        </p:nvSpPr>
        <p:spPr>
          <a:xfrm>
            <a:off x="566928" y="4517136"/>
            <a:ext cx="3551834" cy="969264"/>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66928" y="4517136"/>
            <a:ext cx="27432" cy="969264"/>
          </a:xfrm>
          <a:prstGeom prst="rect">
            <a:avLst/>
          </a:prstGeom>
          <a:solidFill>
            <a:srgbClr val="E26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8096" y="4681728"/>
            <a:ext cx="3149498" cy="219456"/>
          </a:xfrm>
          <a:prstGeom prst="rect">
            <a:avLst/>
          </a:prstGeom>
          <a:noFill/>
        </p:spPr>
        <p:txBody>
          <a:bodyPr wrap="square" lIns="0" rIns="0" tIns="0" bIns="0" anchor="t">
            <a:spAutoFit/>
          </a:bodyPr>
          <a:lstStyle/>
          <a:p>
            <a:pPr algn="l">
              <a:lnSpc>
                <a:spcPct val="115000"/>
              </a:lnSpc>
            </a:pPr>
            <a:r>
              <a:rPr sz="1150" b="1">
                <a:solidFill>
                  <a:srgbClr val="E6EDEB"/>
                </a:solidFill>
                <a:latin typeface="Segoe UI"/>
              </a:rPr>
              <a:t>Late margin calls</a:t>
            </a:r>
          </a:p>
        </p:txBody>
      </p:sp>
      <p:sp>
        <p:nvSpPr>
          <p:cNvPr id="47" name="TextBox 46"/>
          <p:cNvSpPr txBox="1"/>
          <p:nvPr/>
        </p:nvSpPr>
        <p:spPr>
          <a:xfrm>
            <a:off x="768096" y="4956048"/>
            <a:ext cx="3131210" cy="402336"/>
          </a:xfrm>
          <a:prstGeom prst="rect">
            <a:avLst/>
          </a:prstGeom>
          <a:noFill/>
        </p:spPr>
        <p:txBody>
          <a:bodyPr wrap="square" lIns="0" rIns="0" tIns="0" bIns="0" anchor="t">
            <a:spAutoFit/>
          </a:bodyPr>
          <a:lstStyle/>
          <a:p>
            <a:pPr algn="l">
              <a:lnSpc>
                <a:spcPct val="130000"/>
              </a:lnSpc>
            </a:pPr>
            <a:r>
              <a:rPr sz="950" b="0">
                <a:solidFill>
                  <a:srgbClr val="7B908C"/>
                </a:solidFill>
                <a:latin typeface="Segoe UI"/>
              </a:rPr>
              <a:t>trigger default notices and frozen trading lines.</a:t>
            </a:r>
          </a:p>
        </p:txBody>
      </p:sp>
      <p:sp>
        <p:nvSpPr>
          <p:cNvPr id="48" name="Rectangle 47"/>
          <p:cNvSpPr/>
          <p:nvPr/>
        </p:nvSpPr>
        <p:spPr>
          <a:xfrm>
            <a:off x="4319930" y="4517136"/>
            <a:ext cx="3551834" cy="969264"/>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319930" y="4517136"/>
            <a:ext cx="27432" cy="969264"/>
          </a:xfrm>
          <a:prstGeom prst="rect">
            <a:avLst/>
          </a:prstGeom>
          <a:solidFill>
            <a:srgbClr val="E26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21098" y="4681728"/>
            <a:ext cx="3149498" cy="219456"/>
          </a:xfrm>
          <a:prstGeom prst="rect">
            <a:avLst/>
          </a:prstGeom>
          <a:noFill/>
        </p:spPr>
        <p:txBody>
          <a:bodyPr wrap="square" lIns="0" rIns="0" tIns="0" bIns="0" anchor="t">
            <a:spAutoFit/>
          </a:bodyPr>
          <a:lstStyle/>
          <a:p>
            <a:pPr algn="l">
              <a:lnSpc>
                <a:spcPct val="115000"/>
              </a:lnSpc>
            </a:pPr>
            <a:r>
              <a:rPr sz="1150" b="1">
                <a:solidFill>
                  <a:srgbClr val="E6EDEB"/>
                </a:solidFill>
                <a:latin typeface="Segoe UI"/>
              </a:rPr>
              <a:t>Cash-first habit</a:t>
            </a:r>
          </a:p>
        </p:txBody>
      </p:sp>
      <p:sp>
        <p:nvSpPr>
          <p:cNvPr id="51" name="TextBox 50"/>
          <p:cNvSpPr txBox="1"/>
          <p:nvPr/>
        </p:nvSpPr>
        <p:spPr>
          <a:xfrm>
            <a:off x="4521098" y="4956048"/>
            <a:ext cx="3131210" cy="402336"/>
          </a:xfrm>
          <a:prstGeom prst="rect">
            <a:avLst/>
          </a:prstGeom>
          <a:noFill/>
        </p:spPr>
        <p:txBody>
          <a:bodyPr wrap="square" lIns="0" rIns="0" tIns="0" bIns="0" anchor="t">
            <a:spAutoFit/>
          </a:bodyPr>
          <a:lstStyle/>
          <a:p>
            <a:pPr algn="l">
              <a:lnSpc>
                <a:spcPct val="130000"/>
              </a:lnSpc>
            </a:pPr>
            <a:r>
              <a:rPr sz="950" b="0">
                <a:solidFill>
                  <a:srgbClr val="7B908C"/>
                </a:solidFill>
                <a:latin typeface="Segoe UI"/>
              </a:rPr>
              <a:t>posts the most expensive asset on the balance sheet.</a:t>
            </a:r>
          </a:p>
        </p:txBody>
      </p:sp>
      <p:sp>
        <p:nvSpPr>
          <p:cNvPr id="52" name="Rectangle 51"/>
          <p:cNvSpPr/>
          <p:nvPr/>
        </p:nvSpPr>
        <p:spPr>
          <a:xfrm>
            <a:off x="8072932" y="4517136"/>
            <a:ext cx="3551834" cy="969264"/>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072932" y="4517136"/>
            <a:ext cx="27432" cy="969264"/>
          </a:xfrm>
          <a:prstGeom prst="rect">
            <a:avLst/>
          </a:prstGeom>
          <a:solidFill>
            <a:srgbClr val="E26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74100" y="4681728"/>
            <a:ext cx="3149498" cy="219456"/>
          </a:xfrm>
          <a:prstGeom prst="rect">
            <a:avLst/>
          </a:prstGeom>
          <a:noFill/>
        </p:spPr>
        <p:txBody>
          <a:bodyPr wrap="square" lIns="0" rIns="0" tIns="0" bIns="0" anchor="t">
            <a:spAutoFit/>
          </a:bodyPr>
          <a:lstStyle/>
          <a:p>
            <a:pPr algn="l">
              <a:lnSpc>
                <a:spcPct val="115000"/>
              </a:lnSpc>
            </a:pPr>
            <a:r>
              <a:rPr sz="1150" b="1">
                <a:solidFill>
                  <a:srgbClr val="E6EDEB"/>
                </a:solidFill>
                <a:latin typeface="Segoe UI"/>
              </a:rPr>
              <a:t>No single record</a:t>
            </a:r>
          </a:p>
        </p:txBody>
      </p:sp>
      <p:sp>
        <p:nvSpPr>
          <p:cNvPr id="55" name="TextBox 54"/>
          <p:cNvSpPr txBox="1"/>
          <p:nvPr/>
        </p:nvSpPr>
        <p:spPr>
          <a:xfrm>
            <a:off x="8274100" y="4956048"/>
            <a:ext cx="3131210" cy="402336"/>
          </a:xfrm>
          <a:prstGeom prst="rect">
            <a:avLst/>
          </a:prstGeom>
          <a:noFill/>
        </p:spPr>
        <p:txBody>
          <a:bodyPr wrap="square" lIns="0" rIns="0" tIns="0" bIns="0" anchor="t">
            <a:spAutoFit/>
          </a:bodyPr>
          <a:lstStyle/>
          <a:p>
            <a:pPr algn="l">
              <a:lnSpc>
                <a:spcPct val="130000"/>
              </a:lnSpc>
            </a:pPr>
            <a:r>
              <a:rPr sz="950" b="0">
                <a:solidFill>
                  <a:srgbClr val="7B908C"/>
                </a:solidFill>
                <a:latin typeface="Segoe UI"/>
              </a:rPr>
              <a:t>leaves disputes to be argued from four systems.</a:t>
            </a:r>
          </a:p>
        </p:txBody>
      </p:sp>
      <p:sp>
        <p:nvSpPr>
          <p:cNvPr id="56" name="Rectangle 55"/>
          <p:cNvSpPr/>
          <p:nvPr/>
        </p:nvSpPr>
        <p:spPr>
          <a:xfrm>
            <a:off x="566928" y="5614416"/>
            <a:ext cx="11057839" cy="457200"/>
          </a:xfrm>
          <a:prstGeom prst="rect">
            <a:avLst/>
          </a:prstGeom>
          <a:solidFill>
            <a:srgbClr val="182321"/>
          </a:solidFill>
          <a:ln w="13970">
            <a:solidFill>
              <a:srgbClr val="2F8B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66928" y="5614416"/>
            <a:ext cx="11057839" cy="457200"/>
          </a:xfrm>
          <a:prstGeom prst="rect">
            <a:avLst/>
          </a:prstGeom>
          <a:noFill/>
        </p:spPr>
        <p:txBody>
          <a:bodyPr wrap="square" lIns="0" rIns="0" tIns="0" bIns="0" anchor="ctr">
            <a:spAutoFit/>
          </a:bodyPr>
          <a:lstStyle/>
          <a:p>
            <a:pPr algn="ctr">
              <a:lnSpc>
                <a:spcPct val="115000"/>
              </a:lnSpc>
            </a:pPr>
            <a:r>
              <a:rPr sz="1150" b="1">
                <a:solidFill>
                  <a:srgbClr val="4FC3AE"/>
                </a:solidFill>
                <a:latin typeface="Segoe UI"/>
              </a:rPr>
              <a:t>These decisions sit across legal documents, risk engines, treasury spreadsheets and operations workflows. AETHER connects them.</a:t>
            </a:r>
          </a:p>
        </p:txBody>
      </p:sp>
      <p:sp>
        <p:nvSpPr>
          <p:cNvPr id="58" name="TextBox 57"/>
          <p:cNvSpPr txBox="1"/>
          <p:nvPr/>
        </p:nvSpPr>
        <p:spPr>
          <a:xfrm>
            <a:off x="566928" y="6144768"/>
            <a:ext cx="11057839" cy="182880"/>
          </a:xfrm>
          <a:prstGeom prst="rect">
            <a:avLst/>
          </a:prstGeom>
          <a:noFill/>
        </p:spPr>
        <p:txBody>
          <a:bodyPr wrap="square" lIns="0" rIns="0" tIns="0" bIns="0" anchor="t">
            <a:spAutoFit/>
          </a:bodyPr>
          <a:lstStyle/>
          <a:p>
            <a:pPr algn="l">
              <a:lnSpc>
                <a:spcPct val="115000"/>
              </a:lnSpc>
            </a:pPr>
            <a:r>
              <a:rPr sz="800" b="0">
                <a:solidFill>
                  <a:srgbClr val="556764"/>
                </a:solidFill>
                <a:latin typeface="Consolas"/>
              </a:rPr>
              <a:t>Market scale and manual-effort figures as stated in the AETHER Master Playbook. Not measured by this prototype.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201168"/>
          </a:xfrm>
          <a:prstGeom prst="rect">
            <a:avLst/>
          </a:prstGeom>
          <a:noFill/>
        </p:spPr>
        <p:txBody>
          <a:bodyPr wrap="square" lIns="0" rIns="0" tIns="0" bIns="0" anchor="t">
            <a:spAutoFit/>
          </a:bodyPr>
          <a:lstStyle/>
          <a:p>
            <a:pPr algn="l">
              <a:lnSpc>
                <a:spcPct val="115000"/>
              </a:lnSpc>
            </a:pPr>
            <a:r>
              <a:rPr sz="1050" b="1" spc="220">
                <a:solidFill>
                  <a:srgbClr val="556764"/>
                </a:solidFill>
                <a:latin typeface="Consolas"/>
              </a:rPr>
              <a:t>THE IDEA, WITHOUT THE JARGON</a:t>
            </a:r>
          </a:p>
        </p:txBody>
      </p:sp>
      <p:sp>
        <p:nvSpPr>
          <p:cNvPr id="4" name="TextBox 3"/>
          <p:cNvSpPr txBox="1"/>
          <p:nvPr/>
        </p:nvSpPr>
        <p:spPr>
          <a:xfrm>
            <a:off x="566928" y="621792"/>
            <a:ext cx="11057839" cy="914400"/>
          </a:xfrm>
          <a:prstGeom prst="rect">
            <a:avLst/>
          </a:prstGeom>
          <a:noFill/>
        </p:spPr>
        <p:txBody>
          <a:bodyPr wrap="square" lIns="0" rIns="0" tIns="0" bIns="0" anchor="t">
            <a:spAutoFit/>
          </a:bodyPr>
          <a:lstStyle/>
          <a:p>
            <a:pPr algn="l">
              <a:lnSpc>
                <a:spcPct val="106000"/>
              </a:lnSpc>
            </a:pPr>
            <a:r>
              <a:rPr sz="2900" b="1">
                <a:solidFill>
                  <a:srgbClr val="E6EDEB"/>
                </a:solidFill>
                <a:latin typeface="Cambria"/>
              </a:rPr>
              <a:t>Think of it as an automated escrow desk.</a:t>
            </a:r>
          </a:p>
        </p:txBody>
      </p:sp>
      <p:sp>
        <p:nvSpPr>
          <p:cNvPr id="5" name="Rectangle 4"/>
          <p:cNvSpPr/>
          <p:nvPr/>
        </p:nvSpPr>
        <p:spPr>
          <a:xfrm>
            <a:off x="566928" y="6336792"/>
            <a:ext cx="11057839"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28232"/>
            <a:ext cx="6400800" cy="219456"/>
          </a:xfrm>
          <a:prstGeom prst="rect">
            <a:avLst/>
          </a:prstGeom>
          <a:noFill/>
        </p:spPr>
        <p:txBody>
          <a:bodyPr wrap="square" lIns="0" rIns="0" tIns="0" bIns="0" anchor="t">
            <a:spAutoFit/>
          </a:bodyPr>
          <a:lstStyle/>
          <a:p>
            <a:pPr algn="l">
              <a:lnSpc>
                <a:spcPct val="115000"/>
              </a:lnSpc>
            </a:pPr>
            <a:r>
              <a:rPr sz="850" b="0" spc="200">
                <a:solidFill>
                  <a:srgbClr val="556764"/>
                </a:solidFill>
                <a:latin typeface="Consolas"/>
              </a:rPr>
              <a:t>AETHER-DERIVATIVES</a:t>
            </a:r>
          </a:p>
        </p:txBody>
      </p:sp>
      <p:sp>
        <p:nvSpPr>
          <p:cNvPr id="7" name="TextBox 6"/>
          <p:cNvSpPr txBox="1"/>
          <p:nvPr/>
        </p:nvSpPr>
        <p:spPr>
          <a:xfrm>
            <a:off x="11076127" y="6428232"/>
            <a:ext cx="548640" cy="219456"/>
          </a:xfrm>
          <a:prstGeom prst="rect">
            <a:avLst/>
          </a:prstGeom>
          <a:noFill/>
        </p:spPr>
        <p:txBody>
          <a:bodyPr wrap="square" lIns="0" rIns="0" tIns="0" bIns="0" anchor="t">
            <a:spAutoFit/>
          </a:bodyPr>
          <a:lstStyle/>
          <a:p>
            <a:pPr algn="r">
              <a:lnSpc>
                <a:spcPct val="115000"/>
              </a:lnSpc>
            </a:pPr>
            <a:r>
              <a:rPr sz="850" b="0">
                <a:solidFill>
                  <a:srgbClr val="556764"/>
                </a:solidFill>
                <a:latin typeface="Consolas"/>
              </a:rPr>
              <a:t>03</a:t>
            </a:r>
          </a:p>
        </p:txBody>
      </p:sp>
      <p:sp>
        <p:nvSpPr>
          <p:cNvPr id="8" name="TextBox 7"/>
          <p:cNvSpPr txBox="1"/>
          <p:nvPr/>
        </p:nvSpPr>
        <p:spPr>
          <a:xfrm>
            <a:off x="566928" y="1481328"/>
            <a:ext cx="10607040" cy="274320"/>
          </a:xfrm>
          <a:prstGeom prst="rect">
            <a:avLst/>
          </a:prstGeom>
          <a:noFill/>
        </p:spPr>
        <p:txBody>
          <a:bodyPr wrap="square" lIns="0" rIns="0" tIns="0" bIns="0" anchor="t">
            <a:spAutoFit/>
          </a:bodyPr>
          <a:lstStyle/>
          <a:p>
            <a:pPr algn="l">
              <a:lnSpc>
                <a:spcPct val="115000"/>
              </a:lnSpc>
            </a:pPr>
            <a:r>
              <a:rPr sz="1250" b="0">
                <a:solidFill>
                  <a:srgbClr val="A9BCB8"/>
                </a:solidFill>
                <a:latin typeface="Segoe UI"/>
              </a:rPr>
              <a:t>Two parties trade. Prices move. Someone has to post security, and the contract decides how much and in what form.</a:t>
            </a:r>
          </a:p>
        </p:txBody>
      </p:sp>
      <p:sp>
        <p:nvSpPr>
          <p:cNvPr id="9" name="Rectangle 8"/>
          <p:cNvSpPr/>
          <p:nvPr/>
        </p:nvSpPr>
        <p:spPr>
          <a:xfrm>
            <a:off x="566928" y="2029968"/>
            <a:ext cx="3539642" cy="3127248"/>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029968"/>
            <a:ext cx="3539642" cy="45720"/>
          </a:xfrm>
          <a:prstGeom prst="rect">
            <a:avLst/>
          </a:prstGeom>
          <a:solidFill>
            <a:srgbClr val="4FC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231136"/>
            <a:ext cx="548640" cy="274320"/>
          </a:xfrm>
          <a:prstGeom prst="rect">
            <a:avLst/>
          </a:prstGeom>
          <a:noFill/>
        </p:spPr>
        <p:txBody>
          <a:bodyPr wrap="square" lIns="0" rIns="0" tIns="0" bIns="0" anchor="t">
            <a:spAutoFit/>
          </a:bodyPr>
          <a:lstStyle/>
          <a:p>
            <a:pPr algn="l">
              <a:lnSpc>
                <a:spcPct val="115000"/>
              </a:lnSpc>
            </a:pPr>
            <a:r>
              <a:rPr sz="1600" b="1">
                <a:solidFill>
                  <a:srgbClr val="4FC3AE"/>
                </a:solidFill>
                <a:latin typeface="Consolas"/>
              </a:rPr>
              <a:t>01</a:t>
            </a:r>
          </a:p>
        </p:txBody>
      </p:sp>
      <p:sp>
        <p:nvSpPr>
          <p:cNvPr id="12" name="TextBox 11"/>
          <p:cNvSpPr txBox="1"/>
          <p:nvPr/>
        </p:nvSpPr>
        <p:spPr>
          <a:xfrm>
            <a:off x="786384" y="2633472"/>
            <a:ext cx="3100730" cy="219456"/>
          </a:xfrm>
          <a:prstGeom prst="rect">
            <a:avLst/>
          </a:prstGeom>
          <a:noFill/>
        </p:spPr>
        <p:txBody>
          <a:bodyPr wrap="square" lIns="0" rIns="0" tIns="0" bIns="0" anchor="t">
            <a:spAutoFit/>
          </a:bodyPr>
          <a:lstStyle/>
          <a:p>
            <a:pPr algn="l">
              <a:lnSpc>
                <a:spcPct val="115000"/>
              </a:lnSpc>
            </a:pPr>
            <a:r>
              <a:rPr sz="1100" b="1" spc="120">
                <a:solidFill>
                  <a:srgbClr val="E6EDEB"/>
                </a:solidFill>
                <a:latin typeface="Consolas"/>
              </a:rPr>
              <a:t>THE CONTRACT AUDITOR</a:t>
            </a:r>
          </a:p>
        </p:txBody>
      </p:sp>
      <p:sp>
        <p:nvSpPr>
          <p:cNvPr id="13" name="TextBox 12"/>
          <p:cNvSpPr txBox="1"/>
          <p:nvPr/>
        </p:nvSpPr>
        <p:spPr>
          <a:xfrm>
            <a:off x="786384" y="2889504"/>
            <a:ext cx="3100730" cy="201168"/>
          </a:xfrm>
          <a:prstGeom prst="rect">
            <a:avLst/>
          </a:prstGeom>
          <a:noFill/>
        </p:spPr>
        <p:txBody>
          <a:bodyPr wrap="square" lIns="0" rIns="0" tIns="0" bIns="0" anchor="t">
            <a:spAutoFit/>
          </a:bodyPr>
          <a:lstStyle/>
          <a:p>
            <a:pPr algn="l">
              <a:lnSpc>
                <a:spcPct val="115000"/>
              </a:lnSpc>
            </a:pPr>
            <a:r>
              <a:rPr sz="950" b="0">
                <a:solidFill>
                  <a:srgbClr val="4FC3AE"/>
                </a:solidFill>
                <a:latin typeface="Segoe UI"/>
              </a:rPr>
              <a:t>Legal-Clause Agent</a:t>
            </a:r>
          </a:p>
        </p:txBody>
      </p:sp>
      <p:sp>
        <p:nvSpPr>
          <p:cNvPr id="14" name="Rectangle 13"/>
          <p:cNvSpPr/>
          <p:nvPr/>
        </p:nvSpPr>
        <p:spPr>
          <a:xfrm>
            <a:off x="786384" y="3182112"/>
            <a:ext cx="3100730"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 y="3346704"/>
            <a:ext cx="3082442" cy="1097280"/>
          </a:xfrm>
          <a:prstGeom prst="rect">
            <a:avLst/>
          </a:prstGeom>
          <a:noFill/>
        </p:spPr>
        <p:txBody>
          <a:bodyPr wrap="square" lIns="0" rIns="0" tIns="0" bIns="0" anchor="t">
            <a:spAutoFit/>
          </a:bodyPr>
          <a:lstStyle/>
          <a:p>
            <a:pPr algn="l">
              <a:lnSpc>
                <a:spcPct val="140000"/>
              </a:lnSpc>
            </a:pPr>
            <a:r>
              <a:rPr sz="1000" b="0">
                <a:solidFill>
                  <a:srgbClr val="7B908C"/>
                </a:solidFill>
                <a:latin typeface="Segoe UI"/>
              </a:rPr>
              <a:t>Reads the agreement to establish the rules: which assets qualify as security, what minimum sizes apply, and what safety margin is taken on each.</a:t>
            </a:r>
          </a:p>
        </p:txBody>
      </p:sp>
      <p:sp>
        <p:nvSpPr>
          <p:cNvPr id="16" name="Rectangle 15"/>
          <p:cNvSpPr/>
          <p:nvPr/>
        </p:nvSpPr>
        <p:spPr>
          <a:xfrm>
            <a:off x="786384" y="4590288"/>
            <a:ext cx="3100730"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736592"/>
            <a:ext cx="3082442" cy="365760"/>
          </a:xfrm>
          <a:prstGeom prst="rect">
            <a:avLst/>
          </a:prstGeom>
          <a:noFill/>
        </p:spPr>
        <p:txBody>
          <a:bodyPr wrap="square" lIns="0" rIns="0" tIns="0" bIns="0" anchor="t">
            <a:spAutoFit/>
          </a:bodyPr>
          <a:lstStyle/>
          <a:p>
            <a:pPr algn="l">
              <a:lnSpc>
                <a:spcPct val="135000"/>
              </a:lnSpc>
            </a:pPr>
            <a:r>
              <a:rPr sz="850" b="0">
                <a:solidFill>
                  <a:srgbClr val="556764"/>
                </a:solidFill>
                <a:latin typeface="Consolas"/>
              </a:rPr>
              <a:t>Threshold · Minimum Transfer Amount · eligible collateral · haircuts</a:t>
            </a:r>
          </a:p>
        </p:txBody>
      </p:sp>
      <p:sp>
        <p:nvSpPr>
          <p:cNvPr id="18" name="Right Arrow 17"/>
          <p:cNvSpPr/>
          <p:nvPr/>
        </p:nvSpPr>
        <p:spPr>
          <a:xfrm>
            <a:off x="4143146" y="3474720"/>
            <a:ext cx="146304" cy="118872"/>
          </a:xfrm>
          <a:prstGeom prst="rightArrow">
            <a:avLst/>
          </a:prstGeom>
          <a:solidFill>
            <a:srgbClr val="2F8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26026" y="2029968"/>
            <a:ext cx="3539642" cy="3127248"/>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26026" y="2029968"/>
            <a:ext cx="3539642" cy="45720"/>
          </a:xfrm>
          <a:prstGeom prst="rect">
            <a:avLst/>
          </a:prstGeom>
          <a:solidFill>
            <a:srgbClr val="E0A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45482" y="2231136"/>
            <a:ext cx="548640" cy="274320"/>
          </a:xfrm>
          <a:prstGeom prst="rect">
            <a:avLst/>
          </a:prstGeom>
          <a:noFill/>
        </p:spPr>
        <p:txBody>
          <a:bodyPr wrap="square" lIns="0" rIns="0" tIns="0" bIns="0" anchor="t">
            <a:spAutoFit/>
          </a:bodyPr>
          <a:lstStyle/>
          <a:p>
            <a:pPr algn="l">
              <a:lnSpc>
                <a:spcPct val="115000"/>
              </a:lnSpc>
            </a:pPr>
            <a:r>
              <a:rPr sz="1600" b="1">
                <a:solidFill>
                  <a:srgbClr val="E0A33C"/>
                </a:solidFill>
                <a:latin typeface="Consolas"/>
              </a:rPr>
              <a:t>02</a:t>
            </a:r>
          </a:p>
        </p:txBody>
      </p:sp>
      <p:sp>
        <p:nvSpPr>
          <p:cNvPr id="22" name="TextBox 21"/>
          <p:cNvSpPr txBox="1"/>
          <p:nvPr/>
        </p:nvSpPr>
        <p:spPr>
          <a:xfrm>
            <a:off x="4545482" y="2633472"/>
            <a:ext cx="3100730" cy="219456"/>
          </a:xfrm>
          <a:prstGeom prst="rect">
            <a:avLst/>
          </a:prstGeom>
          <a:noFill/>
        </p:spPr>
        <p:txBody>
          <a:bodyPr wrap="square" lIns="0" rIns="0" tIns="0" bIns="0" anchor="t">
            <a:spAutoFit/>
          </a:bodyPr>
          <a:lstStyle/>
          <a:p>
            <a:pPr algn="l">
              <a:lnSpc>
                <a:spcPct val="115000"/>
              </a:lnSpc>
            </a:pPr>
            <a:r>
              <a:rPr sz="1100" b="1" spc="120">
                <a:solidFill>
                  <a:srgbClr val="E6EDEB"/>
                </a:solidFill>
                <a:latin typeface="Consolas"/>
              </a:rPr>
              <a:t>THE PIT BOSS</a:t>
            </a:r>
          </a:p>
        </p:txBody>
      </p:sp>
      <p:sp>
        <p:nvSpPr>
          <p:cNvPr id="23" name="TextBox 22"/>
          <p:cNvSpPr txBox="1"/>
          <p:nvPr/>
        </p:nvSpPr>
        <p:spPr>
          <a:xfrm>
            <a:off x="4545482" y="2889504"/>
            <a:ext cx="3100730" cy="201168"/>
          </a:xfrm>
          <a:prstGeom prst="rect">
            <a:avLst/>
          </a:prstGeom>
          <a:noFill/>
        </p:spPr>
        <p:txBody>
          <a:bodyPr wrap="square" lIns="0" rIns="0" tIns="0" bIns="0" anchor="t">
            <a:spAutoFit/>
          </a:bodyPr>
          <a:lstStyle/>
          <a:p>
            <a:pPr algn="l">
              <a:lnSpc>
                <a:spcPct val="115000"/>
              </a:lnSpc>
            </a:pPr>
            <a:r>
              <a:rPr sz="950" b="0">
                <a:solidFill>
                  <a:srgbClr val="E0A33C"/>
                </a:solidFill>
                <a:latin typeface="Segoe UI"/>
              </a:rPr>
              <a:t>Risk-Engine Agent</a:t>
            </a:r>
          </a:p>
        </p:txBody>
      </p:sp>
      <p:sp>
        <p:nvSpPr>
          <p:cNvPr id="24" name="Rectangle 23"/>
          <p:cNvSpPr/>
          <p:nvPr/>
        </p:nvSpPr>
        <p:spPr>
          <a:xfrm>
            <a:off x="4545482" y="3182112"/>
            <a:ext cx="3100730"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45482" y="3346704"/>
            <a:ext cx="3082442" cy="1097280"/>
          </a:xfrm>
          <a:prstGeom prst="rect">
            <a:avLst/>
          </a:prstGeom>
          <a:noFill/>
        </p:spPr>
        <p:txBody>
          <a:bodyPr wrap="square" lIns="0" rIns="0" tIns="0" bIns="0" anchor="t">
            <a:spAutoFit/>
          </a:bodyPr>
          <a:lstStyle/>
          <a:p>
            <a:pPr algn="l">
              <a:lnSpc>
                <a:spcPct val="140000"/>
              </a:lnSpc>
            </a:pPr>
            <a:r>
              <a:rPr sz="1000" b="0">
                <a:solidFill>
                  <a:srgbClr val="7B908C"/>
                </a:solidFill>
                <a:latin typeface="Segoe UI"/>
              </a:rPr>
              <a:t>Watches the position. When prices move, it works out exactly how much additional security is required right now, under those rules.</a:t>
            </a:r>
          </a:p>
        </p:txBody>
      </p:sp>
      <p:sp>
        <p:nvSpPr>
          <p:cNvPr id="26" name="Rectangle 25"/>
          <p:cNvSpPr/>
          <p:nvPr/>
        </p:nvSpPr>
        <p:spPr>
          <a:xfrm>
            <a:off x="4545482" y="4590288"/>
            <a:ext cx="3100730"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45482" y="4736592"/>
            <a:ext cx="3082442" cy="365760"/>
          </a:xfrm>
          <a:prstGeom prst="rect">
            <a:avLst/>
          </a:prstGeom>
          <a:noFill/>
        </p:spPr>
        <p:txBody>
          <a:bodyPr wrap="square" lIns="0" rIns="0" tIns="0" bIns="0" anchor="t">
            <a:spAutoFit/>
          </a:bodyPr>
          <a:lstStyle/>
          <a:p>
            <a:pPr algn="l">
              <a:lnSpc>
                <a:spcPct val="135000"/>
              </a:lnSpc>
            </a:pPr>
            <a:r>
              <a:rPr sz="850" b="0">
                <a:solidFill>
                  <a:srgbClr val="556764"/>
                </a:solidFill>
                <a:latin typeface="Consolas"/>
              </a:rPr>
              <a:t>Netting-set exposure · credit support amount · initial margin</a:t>
            </a:r>
          </a:p>
        </p:txBody>
      </p:sp>
      <p:sp>
        <p:nvSpPr>
          <p:cNvPr id="28" name="Right Arrow 27"/>
          <p:cNvSpPr/>
          <p:nvPr/>
        </p:nvSpPr>
        <p:spPr>
          <a:xfrm>
            <a:off x="7902244" y="3474720"/>
            <a:ext cx="146304" cy="118872"/>
          </a:xfrm>
          <a:prstGeom prst="rightArrow">
            <a:avLst/>
          </a:prstGeom>
          <a:solidFill>
            <a:srgbClr val="2F8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85124" y="2029968"/>
            <a:ext cx="3539642" cy="3127248"/>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85124" y="2029968"/>
            <a:ext cx="3539642" cy="45720"/>
          </a:xfrm>
          <a:prstGeom prst="rect">
            <a:avLst/>
          </a:prstGeom>
          <a:solidFill>
            <a:srgbClr val="A9BC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04580" y="2231136"/>
            <a:ext cx="548640" cy="274320"/>
          </a:xfrm>
          <a:prstGeom prst="rect">
            <a:avLst/>
          </a:prstGeom>
          <a:noFill/>
        </p:spPr>
        <p:txBody>
          <a:bodyPr wrap="square" lIns="0" rIns="0" tIns="0" bIns="0" anchor="t">
            <a:spAutoFit/>
          </a:bodyPr>
          <a:lstStyle/>
          <a:p>
            <a:pPr algn="l">
              <a:lnSpc>
                <a:spcPct val="115000"/>
              </a:lnSpc>
            </a:pPr>
            <a:r>
              <a:rPr sz="1600" b="1">
                <a:solidFill>
                  <a:srgbClr val="A9BCB8"/>
                </a:solidFill>
                <a:latin typeface="Consolas"/>
              </a:rPr>
              <a:t>03</a:t>
            </a:r>
          </a:p>
        </p:txBody>
      </p:sp>
      <p:sp>
        <p:nvSpPr>
          <p:cNvPr id="32" name="TextBox 31"/>
          <p:cNvSpPr txBox="1"/>
          <p:nvPr/>
        </p:nvSpPr>
        <p:spPr>
          <a:xfrm>
            <a:off x="8304580" y="2633472"/>
            <a:ext cx="3100730" cy="219456"/>
          </a:xfrm>
          <a:prstGeom prst="rect">
            <a:avLst/>
          </a:prstGeom>
          <a:noFill/>
        </p:spPr>
        <p:txBody>
          <a:bodyPr wrap="square" lIns="0" rIns="0" tIns="0" bIns="0" anchor="t">
            <a:spAutoFit/>
          </a:bodyPr>
          <a:lstStyle/>
          <a:p>
            <a:pPr algn="l">
              <a:lnSpc>
                <a:spcPct val="115000"/>
              </a:lnSpc>
            </a:pPr>
            <a:r>
              <a:rPr sz="1100" b="1" spc="120">
                <a:solidFill>
                  <a:srgbClr val="E6EDEB"/>
                </a:solidFill>
                <a:latin typeface="Consolas"/>
              </a:rPr>
              <a:t>THE TREASURY MANAGER</a:t>
            </a:r>
          </a:p>
        </p:txBody>
      </p:sp>
      <p:sp>
        <p:nvSpPr>
          <p:cNvPr id="33" name="TextBox 32"/>
          <p:cNvSpPr txBox="1"/>
          <p:nvPr/>
        </p:nvSpPr>
        <p:spPr>
          <a:xfrm>
            <a:off x="8304580" y="2889504"/>
            <a:ext cx="3100730" cy="201168"/>
          </a:xfrm>
          <a:prstGeom prst="rect">
            <a:avLst/>
          </a:prstGeom>
          <a:noFill/>
        </p:spPr>
        <p:txBody>
          <a:bodyPr wrap="square" lIns="0" rIns="0" tIns="0" bIns="0" anchor="t">
            <a:spAutoFit/>
          </a:bodyPr>
          <a:lstStyle/>
          <a:p>
            <a:pPr algn="l">
              <a:lnSpc>
                <a:spcPct val="115000"/>
              </a:lnSpc>
            </a:pPr>
            <a:r>
              <a:rPr sz="950" b="0">
                <a:solidFill>
                  <a:srgbClr val="A9BCB8"/>
                </a:solidFill>
                <a:latin typeface="Segoe UI"/>
              </a:rPr>
              <a:t>Collateral-Optimizer Agent</a:t>
            </a:r>
          </a:p>
        </p:txBody>
      </p:sp>
      <p:sp>
        <p:nvSpPr>
          <p:cNvPr id="34" name="Rectangle 33"/>
          <p:cNvSpPr/>
          <p:nvPr/>
        </p:nvSpPr>
        <p:spPr>
          <a:xfrm>
            <a:off x="8304580" y="3182112"/>
            <a:ext cx="3100730"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4580" y="3346704"/>
            <a:ext cx="3082442" cy="1097280"/>
          </a:xfrm>
          <a:prstGeom prst="rect">
            <a:avLst/>
          </a:prstGeom>
          <a:noFill/>
        </p:spPr>
        <p:txBody>
          <a:bodyPr wrap="square" lIns="0" rIns="0" tIns="0" bIns="0" anchor="t">
            <a:spAutoFit/>
          </a:bodyPr>
          <a:lstStyle/>
          <a:p>
            <a:pPr algn="l">
              <a:lnSpc>
                <a:spcPct val="140000"/>
              </a:lnSpc>
            </a:pPr>
            <a:r>
              <a:rPr sz="1000" b="0">
                <a:solidFill>
                  <a:srgbClr val="7B908C"/>
                </a:solidFill>
                <a:latin typeface="Segoe UI"/>
              </a:rPr>
              <a:t>Looks across everything available — cash, government bonds, corporate paper, gold — and picks the cheapest combination the contract actually permits.</a:t>
            </a:r>
          </a:p>
        </p:txBody>
      </p:sp>
      <p:sp>
        <p:nvSpPr>
          <p:cNvPr id="36" name="Rectangle 35"/>
          <p:cNvSpPr/>
          <p:nvPr/>
        </p:nvSpPr>
        <p:spPr>
          <a:xfrm>
            <a:off x="8304580" y="4590288"/>
            <a:ext cx="3100730"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04580" y="4736592"/>
            <a:ext cx="3082442" cy="365760"/>
          </a:xfrm>
          <a:prstGeom prst="rect">
            <a:avLst/>
          </a:prstGeom>
          <a:noFill/>
        </p:spPr>
        <p:txBody>
          <a:bodyPr wrap="square" lIns="0" rIns="0" tIns="0" bIns="0" anchor="t">
            <a:spAutoFit/>
          </a:bodyPr>
          <a:lstStyle/>
          <a:p>
            <a:pPr algn="l">
              <a:lnSpc>
                <a:spcPct val="135000"/>
              </a:lnSpc>
            </a:pPr>
            <a:r>
              <a:rPr sz="850" b="0">
                <a:solidFill>
                  <a:srgbClr val="556764"/>
                </a:solidFill>
                <a:latin typeface="Consolas"/>
              </a:rPr>
              <a:t>Eligibility · concentration caps · FX · funding cost</a:t>
            </a:r>
          </a:p>
        </p:txBody>
      </p:sp>
      <p:sp>
        <p:nvSpPr>
          <p:cNvPr id="38" name="Rectangle 37"/>
          <p:cNvSpPr/>
          <p:nvPr/>
        </p:nvSpPr>
        <p:spPr>
          <a:xfrm>
            <a:off x="566928" y="5358384"/>
            <a:ext cx="11057839" cy="713232"/>
          </a:xfrm>
          <a:prstGeom prst="rect">
            <a:avLst/>
          </a:prstGeom>
          <a:solidFill>
            <a:srgbClr val="182321"/>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4672" y="5486400"/>
            <a:ext cx="10881360" cy="457200"/>
          </a:xfrm>
          <a:prstGeom prst="rect">
            <a:avLst/>
          </a:prstGeom>
          <a:noFill/>
        </p:spPr>
        <p:txBody>
          <a:bodyPr wrap="square" lIns="0" rIns="0" tIns="0" bIns="0" anchor="t">
            <a:spAutoFit/>
          </a:bodyPr>
          <a:lstStyle/>
          <a:p>
            <a:pPr algn="l">
              <a:lnSpc>
                <a:spcPct val="135000"/>
              </a:lnSpc>
            </a:pPr>
            <a:r>
              <a:rPr sz="1100" b="0">
                <a:solidFill>
                  <a:srgbClr val="A9BCB8"/>
                </a:solidFill>
                <a:latin typeface="Segoe UI"/>
              </a:rPr>
              <a:t>Today all three roles are people, working in different systems, on different timelines. AETHER makes them one pipeline — and keeps a human in the loop exactly where the contract is ambiguous.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201168"/>
          </a:xfrm>
          <a:prstGeom prst="rect">
            <a:avLst/>
          </a:prstGeom>
          <a:noFill/>
        </p:spPr>
        <p:txBody>
          <a:bodyPr wrap="square" lIns="0" rIns="0" tIns="0" bIns="0" anchor="t">
            <a:spAutoFit/>
          </a:bodyPr>
          <a:lstStyle/>
          <a:p>
            <a:pPr algn="l">
              <a:lnSpc>
                <a:spcPct val="115000"/>
              </a:lnSpc>
            </a:pPr>
            <a:r>
              <a:rPr sz="1050" b="1" spc="220">
                <a:solidFill>
                  <a:srgbClr val="556764"/>
                </a:solidFill>
                <a:latin typeface="Consolas"/>
              </a:rPr>
              <a:t>WHY THIS NEEDS MORE THAN A CHATBOT</a:t>
            </a:r>
          </a:p>
        </p:txBody>
      </p:sp>
      <p:sp>
        <p:nvSpPr>
          <p:cNvPr id="4" name="TextBox 3"/>
          <p:cNvSpPr txBox="1"/>
          <p:nvPr/>
        </p:nvSpPr>
        <p:spPr>
          <a:xfrm>
            <a:off x="566928" y="621792"/>
            <a:ext cx="11057839" cy="914400"/>
          </a:xfrm>
          <a:prstGeom prst="rect">
            <a:avLst/>
          </a:prstGeom>
          <a:noFill/>
        </p:spPr>
        <p:txBody>
          <a:bodyPr wrap="square" lIns="0" rIns="0" tIns="0" bIns="0" anchor="t">
            <a:spAutoFit/>
          </a:bodyPr>
          <a:lstStyle/>
          <a:p>
            <a:pPr algn="l">
              <a:lnSpc>
                <a:spcPct val="106000"/>
              </a:lnSpc>
            </a:pPr>
            <a:r>
              <a:rPr sz="2900" b="1">
                <a:solidFill>
                  <a:srgbClr val="E6EDEB"/>
                </a:solidFill>
                <a:latin typeface="Cambria"/>
              </a:rPr>
              <a:t>A prompt wrapper cannot do this job.</a:t>
            </a:r>
          </a:p>
        </p:txBody>
      </p:sp>
      <p:sp>
        <p:nvSpPr>
          <p:cNvPr id="5" name="Rectangle 4"/>
          <p:cNvSpPr/>
          <p:nvPr/>
        </p:nvSpPr>
        <p:spPr>
          <a:xfrm>
            <a:off x="566928" y="6336792"/>
            <a:ext cx="11057839"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28232"/>
            <a:ext cx="6400800" cy="219456"/>
          </a:xfrm>
          <a:prstGeom prst="rect">
            <a:avLst/>
          </a:prstGeom>
          <a:noFill/>
        </p:spPr>
        <p:txBody>
          <a:bodyPr wrap="square" lIns="0" rIns="0" tIns="0" bIns="0" anchor="t">
            <a:spAutoFit/>
          </a:bodyPr>
          <a:lstStyle/>
          <a:p>
            <a:pPr algn="l">
              <a:lnSpc>
                <a:spcPct val="115000"/>
              </a:lnSpc>
            </a:pPr>
            <a:r>
              <a:rPr sz="850" b="0" spc="200">
                <a:solidFill>
                  <a:srgbClr val="556764"/>
                </a:solidFill>
                <a:latin typeface="Consolas"/>
              </a:rPr>
              <a:t>AETHER-DERIVATIVES</a:t>
            </a:r>
          </a:p>
        </p:txBody>
      </p:sp>
      <p:sp>
        <p:nvSpPr>
          <p:cNvPr id="7" name="TextBox 6"/>
          <p:cNvSpPr txBox="1"/>
          <p:nvPr/>
        </p:nvSpPr>
        <p:spPr>
          <a:xfrm>
            <a:off x="11076127" y="6428232"/>
            <a:ext cx="548640" cy="219456"/>
          </a:xfrm>
          <a:prstGeom prst="rect">
            <a:avLst/>
          </a:prstGeom>
          <a:noFill/>
        </p:spPr>
        <p:txBody>
          <a:bodyPr wrap="square" lIns="0" rIns="0" tIns="0" bIns="0" anchor="t">
            <a:spAutoFit/>
          </a:bodyPr>
          <a:lstStyle/>
          <a:p>
            <a:pPr algn="r">
              <a:lnSpc>
                <a:spcPct val="115000"/>
              </a:lnSpc>
            </a:pPr>
            <a:r>
              <a:rPr sz="850" b="0">
                <a:solidFill>
                  <a:srgbClr val="556764"/>
                </a:solidFill>
                <a:latin typeface="Consolas"/>
              </a:rPr>
              <a:t>04</a:t>
            </a:r>
          </a:p>
        </p:txBody>
      </p:sp>
      <p:sp>
        <p:nvSpPr>
          <p:cNvPr id="8" name="Rectangle 7"/>
          <p:cNvSpPr/>
          <p:nvPr/>
        </p:nvSpPr>
        <p:spPr>
          <a:xfrm>
            <a:off x="566928" y="1517904"/>
            <a:ext cx="11057839" cy="310896"/>
          </a:xfrm>
          <a:prstGeom prst="rect">
            <a:avLst/>
          </a:prstGeom>
          <a:solidFill>
            <a:srgbClr val="182321"/>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600200"/>
            <a:ext cx="2286000" cy="182880"/>
          </a:xfrm>
          <a:prstGeom prst="rect">
            <a:avLst/>
          </a:prstGeom>
          <a:noFill/>
        </p:spPr>
        <p:txBody>
          <a:bodyPr wrap="square" lIns="0" rIns="0" tIns="0" bIns="0" anchor="t">
            <a:spAutoFit/>
          </a:bodyPr>
          <a:lstStyle/>
          <a:p>
            <a:pPr algn="l">
              <a:lnSpc>
                <a:spcPct val="115000"/>
              </a:lnSpc>
            </a:pPr>
            <a:r>
              <a:rPr sz="850" b="1" spc="160">
                <a:solidFill>
                  <a:srgbClr val="556764"/>
                </a:solidFill>
                <a:latin typeface="Consolas"/>
              </a:rPr>
              <a:t>LAYER</a:t>
            </a:r>
          </a:p>
        </p:txBody>
      </p:sp>
      <p:sp>
        <p:nvSpPr>
          <p:cNvPr id="10" name="TextBox 9"/>
          <p:cNvSpPr txBox="1"/>
          <p:nvPr/>
        </p:nvSpPr>
        <p:spPr>
          <a:xfrm>
            <a:off x="3355848" y="1600200"/>
            <a:ext cx="3931920" cy="182880"/>
          </a:xfrm>
          <a:prstGeom prst="rect">
            <a:avLst/>
          </a:prstGeom>
          <a:noFill/>
        </p:spPr>
        <p:txBody>
          <a:bodyPr wrap="square" lIns="0" rIns="0" tIns="0" bIns="0" anchor="t">
            <a:spAutoFit/>
          </a:bodyPr>
          <a:lstStyle/>
          <a:p>
            <a:pPr algn="l">
              <a:lnSpc>
                <a:spcPct val="115000"/>
              </a:lnSpc>
            </a:pPr>
            <a:r>
              <a:rPr sz="850" b="1" spc="160">
                <a:solidFill>
                  <a:srgbClr val="556764"/>
                </a:solidFill>
                <a:latin typeface="Consolas"/>
              </a:rPr>
              <a:t>WHY A GENERIC LLM OR RAG FAILS</a:t>
            </a:r>
          </a:p>
        </p:txBody>
      </p:sp>
      <p:sp>
        <p:nvSpPr>
          <p:cNvPr id="11" name="TextBox 10"/>
          <p:cNvSpPr txBox="1"/>
          <p:nvPr/>
        </p:nvSpPr>
        <p:spPr>
          <a:xfrm>
            <a:off x="7470648" y="1600200"/>
            <a:ext cx="4023360" cy="182880"/>
          </a:xfrm>
          <a:prstGeom prst="rect">
            <a:avLst/>
          </a:prstGeom>
          <a:noFill/>
        </p:spPr>
        <p:txBody>
          <a:bodyPr wrap="square" lIns="0" rIns="0" tIns="0" bIns="0" anchor="t">
            <a:spAutoFit/>
          </a:bodyPr>
          <a:lstStyle/>
          <a:p>
            <a:pPr algn="l">
              <a:lnSpc>
                <a:spcPct val="115000"/>
              </a:lnSpc>
            </a:pPr>
            <a:r>
              <a:rPr sz="850" b="1" spc="160">
                <a:solidFill>
                  <a:srgbClr val="556764"/>
                </a:solidFill>
                <a:latin typeface="Consolas"/>
              </a:rPr>
              <a:t>WHY AN AGENTIC SWARM SUCCEEDS</a:t>
            </a:r>
          </a:p>
        </p:txBody>
      </p:sp>
      <p:sp>
        <p:nvSpPr>
          <p:cNvPr id="12" name="Rectangle 11"/>
          <p:cNvSpPr/>
          <p:nvPr/>
        </p:nvSpPr>
        <p:spPr>
          <a:xfrm>
            <a:off x="566928" y="1828800"/>
            <a:ext cx="11057839" cy="1225296"/>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1828800"/>
            <a:ext cx="36576" cy="1225296"/>
          </a:xfrm>
          <a:prstGeom prst="rect">
            <a:avLst/>
          </a:prstGeom>
          <a:solidFill>
            <a:srgbClr val="4FC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2121408"/>
            <a:ext cx="2286000" cy="548640"/>
          </a:xfrm>
          <a:prstGeom prst="rect">
            <a:avLst/>
          </a:prstGeom>
          <a:noFill/>
        </p:spPr>
        <p:txBody>
          <a:bodyPr wrap="square" lIns="0" rIns="0" tIns="0" bIns="0" anchor="t">
            <a:spAutoFit/>
          </a:bodyPr>
          <a:lstStyle/>
          <a:p>
            <a:pPr algn="l">
              <a:lnSpc>
                <a:spcPct val="130000"/>
              </a:lnSpc>
            </a:pPr>
            <a:r>
              <a:rPr sz="1100" b="1" spc="100">
                <a:solidFill>
                  <a:srgbClr val="4FC3AE"/>
                </a:solidFill>
                <a:latin typeface="Consolas"/>
              </a:rPr>
              <a:t>LEGAL</a:t>
            </a:r>
          </a:p>
          <a:p>
            <a:pPr algn="l">
              <a:lnSpc>
                <a:spcPct val="130000"/>
              </a:lnSpc>
            </a:pPr>
            <a:r>
              <a:rPr sz="1100" b="1" spc="100">
                <a:solidFill>
                  <a:srgbClr val="4FC3AE"/>
                </a:solidFill>
                <a:latin typeface="Consolas"/>
              </a:rPr>
              <a:t>EXTRACTION</a:t>
            </a:r>
          </a:p>
        </p:txBody>
      </p:sp>
      <p:sp>
        <p:nvSpPr>
          <p:cNvPr id="15" name="Rectangle 14"/>
          <p:cNvSpPr/>
          <p:nvPr/>
        </p:nvSpPr>
        <p:spPr>
          <a:xfrm>
            <a:off x="3218688" y="1993392"/>
            <a:ext cx="7315" cy="896112"/>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55848" y="2048256"/>
            <a:ext cx="3931920" cy="822960"/>
          </a:xfrm>
          <a:prstGeom prst="rect">
            <a:avLst/>
          </a:prstGeom>
          <a:noFill/>
        </p:spPr>
        <p:txBody>
          <a:bodyPr wrap="square" lIns="0" rIns="0" tIns="0" bIns="0" anchor="t">
            <a:spAutoFit/>
          </a:bodyPr>
          <a:lstStyle/>
          <a:p>
            <a:pPr algn="l">
              <a:lnSpc>
                <a:spcPct val="135000"/>
              </a:lnSpc>
            </a:pPr>
            <a:r>
              <a:rPr sz="950" b="0">
                <a:solidFill>
                  <a:srgbClr val="7B908C"/>
                </a:solidFill>
                <a:latin typeface="Segoe UI"/>
              </a:rPr>
              <a:t>Standard retrieval cannot correlate nested clauses — a Threshold modified by a credit-rating downgrade trigger sits in two paragraphs that never appear together.</a:t>
            </a:r>
          </a:p>
        </p:txBody>
      </p:sp>
      <p:sp>
        <p:nvSpPr>
          <p:cNvPr id="17" name="Rectangle 16"/>
          <p:cNvSpPr/>
          <p:nvPr/>
        </p:nvSpPr>
        <p:spPr>
          <a:xfrm>
            <a:off x="7333488" y="1993392"/>
            <a:ext cx="7315" cy="896112"/>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70648" y="2048256"/>
            <a:ext cx="4023360" cy="822960"/>
          </a:xfrm>
          <a:prstGeom prst="rect">
            <a:avLst/>
          </a:prstGeom>
          <a:noFill/>
        </p:spPr>
        <p:txBody>
          <a:bodyPr wrap="square" lIns="0" rIns="0" tIns="0" bIns="0" anchor="t">
            <a:spAutoFit/>
          </a:bodyPr>
          <a:lstStyle/>
          <a:p>
            <a:pPr algn="l">
              <a:lnSpc>
                <a:spcPct val="135000"/>
              </a:lnSpc>
            </a:pPr>
            <a:r>
              <a:rPr sz="950" b="0">
                <a:solidFill>
                  <a:srgbClr val="A9BCB8"/>
                </a:solidFill>
                <a:latin typeface="Segoe UI"/>
              </a:rPr>
              <a:t>The agent audits the annex systematically and emits a structured schema: typed values, each with a citation, each with a confidence, ambiguity routed to a human.</a:t>
            </a:r>
          </a:p>
        </p:txBody>
      </p:sp>
      <p:sp>
        <p:nvSpPr>
          <p:cNvPr id="19" name="Rectangle 18"/>
          <p:cNvSpPr/>
          <p:nvPr/>
        </p:nvSpPr>
        <p:spPr>
          <a:xfrm>
            <a:off x="566928" y="3127248"/>
            <a:ext cx="11057839" cy="1225296"/>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3127248"/>
            <a:ext cx="36576" cy="1225296"/>
          </a:xfrm>
          <a:prstGeom prst="rect">
            <a:avLst/>
          </a:prstGeom>
          <a:solidFill>
            <a:srgbClr val="E0A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3419856"/>
            <a:ext cx="2286000" cy="548640"/>
          </a:xfrm>
          <a:prstGeom prst="rect">
            <a:avLst/>
          </a:prstGeom>
          <a:noFill/>
        </p:spPr>
        <p:txBody>
          <a:bodyPr wrap="square" lIns="0" rIns="0" tIns="0" bIns="0" anchor="t">
            <a:spAutoFit/>
          </a:bodyPr>
          <a:lstStyle/>
          <a:p>
            <a:pPr algn="l">
              <a:lnSpc>
                <a:spcPct val="130000"/>
              </a:lnSpc>
            </a:pPr>
            <a:r>
              <a:rPr sz="1100" b="1" spc="100">
                <a:solidFill>
                  <a:srgbClr val="E0A33C"/>
                </a:solidFill>
                <a:latin typeface="Consolas"/>
              </a:rPr>
              <a:t>RISK</a:t>
            </a:r>
          </a:p>
          <a:p>
            <a:pPr algn="l">
              <a:lnSpc>
                <a:spcPct val="130000"/>
              </a:lnSpc>
            </a:pPr>
            <a:r>
              <a:rPr sz="1100" b="1" spc="100">
                <a:solidFill>
                  <a:srgbClr val="E0A33C"/>
                </a:solidFill>
                <a:latin typeface="Consolas"/>
              </a:rPr>
              <a:t>ENGINE</a:t>
            </a:r>
          </a:p>
        </p:txBody>
      </p:sp>
      <p:sp>
        <p:nvSpPr>
          <p:cNvPr id="22" name="Rectangle 21"/>
          <p:cNvSpPr/>
          <p:nvPr/>
        </p:nvSpPr>
        <p:spPr>
          <a:xfrm>
            <a:off x="3218688" y="3291840"/>
            <a:ext cx="7315" cy="896112"/>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55848" y="3346704"/>
            <a:ext cx="3931920" cy="822960"/>
          </a:xfrm>
          <a:prstGeom prst="rect">
            <a:avLst/>
          </a:prstGeom>
          <a:noFill/>
        </p:spPr>
        <p:txBody>
          <a:bodyPr wrap="square" lIns="0" rIns="0" tIns="0" bIns="0" anchor="t">
            <a:spAutoFit/>
          </a:bodyPr>
          <a:lstStyle/>
          <a:p>
            <a:pPr algn="l">
              <a:lnSpc>
                <a:spcPct val="135000"/>
              </a:lnSpc>
            </a:pPr>
            <a:r>
              <a:rPr sz="950" b="0">
                <a:solidFill>
                  <a:srgbClr val="7B908C"/>
                </a:solidFill>
                <a:latin typeface="Segoe UI"/>
              </a:rPr>
              <a:t>Language models hallucinate arithmetic. They cannot be trusted with a nine-figure margin number, and no amount of prompting changes that.</a:t>
            </a:r>
          </a:p>
        </p:txBody>
      </p:sp>
      <p:sp>
        <p:nvSpPr>
          <p:cNvPr id="24" name="Rectangle 23"/>
          <p:cNvSpPr/>
          <p:nvPr/>
        </p:nvSpPr>
        <p:spPr>
          <a:xfrm>
            <a:off x="7333488" y="3291840"/>
            <a:ext cx="7315" cy="896112"/>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70648" y="3346704"/>
            <a:ext cx="4023360" cy="822960"/>
          </a:xfrm>
          <a:prstGeom prst="rect">
            <a:avLst/>
          </a:prstGeom>
          <a:noFill/>
        </p:spPr>
        <p:txBody>
          <a:bodyPr wrap="square" lIns="0" rIns="0" tIns="0" bIns="0" anchor="t">
            <a:spAutoFit/>
          </a:bodyPr>
          <a:lstStyle/>
          <a:p>
            <a:pPr algn="l">
              <a:lnSpc>
                <a:spcPct val="135000"/>
              </a:lnSpc>
            </a:pPr>
            <a:r>
              <a:rPr sz="950" b="0">
                <a:solidFill>
                  <a:srgbClr val="A9BCB8"/>
                </a:solidFill>
                <a:latin typeface="Segoe UI"/>
              </a:rPr>
              <a:t>The agent never calculates. It invokes audited deterministic functions through a typed tool boundary and the engine returns every figure.</a:t>
            </a:r>
          </a:p>
        </p:txBody>
      </p:sp>
      <p:sp>
        <p:nvSpPr>
          <p:cNvPr id="26" name="Rectangle 25"/>
          <p:cNvSpPr/>
          <p:nvPr/>
        </p:nvSpPr>
        <p:spPr>
          <a:xfrm>
            <a:off x="566928" y="4425696"/>
            <a:ext cx="11057839" cy="1225296"/>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4425696"/>
            <a:ext cx="36576" cy="1225296"/>
          </a:xfrm>
          <a:prstGeom prst="rect">
            <a:avLst/>
          </a:prstGeom>
          <a:solidFill>
            <a:srgbClr val="A9BC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6384" y="4718304"/>
            <a:ext cx="2286000" cy="548640"/>
          </a:xfrm>
          <a:prstGeom prst="rect">
            <a:avLst/>
          </a:prstGeom>
          <a:noFill/>
        </p:spPr>
        <p:txBody>
          <a:bodyPr wrap="square" lIns="0" rIns="0" tIns="0" bIns="0" anchor="t">
            <a:spAutoFit/>
          </a:bodyPr>
          <a:lstStyle/>
          <a:p>
            <a:pPr algn="l">
              <a:lnSpc>
                <a:spcPct val="130000"/>
              </a:lnSpc>
            </a:pPr>
            <a:r>
              <a:rPr sz="1100" b="1" spc="100">
                <a:solidFill>
                  <a:srgbClr val="A9BCB8"/>
                </a:solidFill>
                <a:latin typeface="Consolas"/>
              </a:rPr>
              <a:t>COLLATERAL</a:t>
            </a:r>
          </a:p>
          <a:p>
            <a:pPr algn="l">
              <a:lnSpc>
                <a:spcPct val="130000"/>
              </a:lnSpc>
            </a:pPr>
            <a:r>
              <a:rPr sz="1100" b="1" spc="100">
                <a:solidFill>
                  <a:srgbClr val="A9BCB8"/>
                </a:solidFill>
                <a:latin typeface="Consolas"/>
              </a:rPr>
              <a:t>OPTIMISATION</a:t>
            </a:r>
          </a:p>
        </p:txBody>
      </p:sp>
      <p:sp>
        <p:nvSpPr>
          <p:cNvPr id="29" name="Rectangle 28"/>
          <p:cNvSpPr/>
          <p:nvPr/>
        </p:nvSpPr>
        <p:spPr>
          <a:xfrm>
            <a:off x="3218688" y="4590288"/>
            <a:ext cx="7315" cy="896112"/>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55848" y="4645152"/>
            <a:ext cx="3931920" cy="822960"/>
          </a:xfrm>
          <a:prstGeom prst="rect">
            <a:avLst/>
          </a:prstGeom>
          <a:noFill/>
        </p:spPr>
        <p:txBody>
          <a:bodyPr wrap="square" lIns="0" rIns="0" tIns="0" bIns="0" anchor="t">
            <a:spAutoFit/>
          </a:bodyPr>
          <a:lstStyle/>
          <a:p>
            <a:pPr algn="l">
              <a:lnSpc>
                <a:spcPct val="135000"/>
              </a:lnSpc>
            </a:pPr>
            <a:r>
              <a:rPr sz="950" b="0">
                <a:solidFill>
                  <a:srgbClr val="7B908C"/>
                </a:solidFill>
                <a:latin typeface="Segoe UI"/>
              </a:rPr>
              <a:t>Fixed rules cannot weigh cross-asset yields, haircuts, concentration caps and FX conversion simultaneously. Desks fall back on ‘post cash’.</a:t>
            </a:r>
          </a:p>
        </p:txBody>
      </p:sp>
      <p:sp>
        <p:nvSpPr>
          <p:cNvPr id="31" name="Rectangle 30"/>
          <p:cNvSpPr/>
          <p:nvPr/>
        </p:nvSpPr>
        <p:spPr>
          <a:xfrm>
            <a:off x="7333488" y="4590288"/>
            <a:ext cx="7315" cy="896112"/>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70648" y="4645152"/>
            <a:ext cx="4023360" cy="822960"/>
          </a:xfrm>
          <a:prstGeom prst="rect">
            <a:avLst/>
          </a:prstGeom>
          <a:noFill/>
        </p:spPr>
        <p:txBody>
          <a:bodyPr wrap="square" lIns="0" rIns="0" tIns="0" bIns="0" anchor="t">
            <a:spAutoFit/>
          </a:bodyPr>
          <a:lstStyle/>
          <a:p>
            <a:pPr algn="l">
              <a:lnSpc>
                <a:spcPct val="135000"/>
              </a:lnSpc>
            </a:pPr>
            <a:r>
              <a:rPr sz="950" b="0">
                <a:solidFill>
                  <a:srgbClr val="A9BCB8"/>
                </a:solidFill>
                <a:latin typeface="Segoe UI"/>
              </a:rPr>
              <a:t>The agent hands the problem to a linear program that solves it exactly — and returns the shadow price of every binding constraint.</a:t>
            </a:r>
          </a:p>
        </p:txBody>
      </p:sp>
      <p:sp>
        <p:nvSpPr>
          <p:cNvPr id="33" name="Rectangle 32"/>
          <p:cNvSpPr/>
          <p:nvPr/>
        </p:nvSpPr>
        <p:spPr>
          <a:xfrm>
            <a:off x="566928" y="5742432"/>
            <a:ext cx="11057839" cy="512064"/>
          </a:xfrm>
          <a:prstGeom prst="rect">
            <a:avLst/>
          </a:prstGeom>
          <a:solidFill>
            <a:srgbClr val="182321"/>
          </a:solidFill>
          <a:ln w="15240">
            <a:solidFill>
              <a:srgbClr val="4FC3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6928" y="5742432"/>
            <a:ext cx="11057839" cy="512064"/>
          </a:xfrm>
          <a:prstGeom prst="rect">
            <a:avLst/>
          </a:prstGeom>
          <a:noFill/>
        </p:spPr>
        <p:txBody>
          <a:bodyPr wrap="square" lIns="0" rIns="0" tIns="0" bIns="0" anchor="ctr">
            <a:spAutoFit/>
          </a:bodyPr>
          <a:lstStyle/>
          <a:p>
            <a:pPr algn="ctr">
              <a:lnSpc>
                <a:spcPct val="115000"/>
              </a:lnSpc>
            </a:pPr>
            <a:r>
              <a:rPr sz="1500" b="1">
                <a:solidFill>
                  <a:srgbClr val="4FC3AE"/>
                </a:solidFill>
                <a:latin typeface="Cambria"/>
              </a:rPr>
              <a:t>AI interprets.  Deterministic engines calculate.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201168"/>
          </a:xfrm>
          <a:prstGeom prst="rect">
            <a:avLst/>
          </a:prstGeom>
          <a:noFill/>
        </p:spPr>
        <p:txBody>
          <a:bodyPr wrap="square" lIns="0" rIns="0" tIns="0" bIns="0" anchor="t">
            <a:spAutoFit/>
          </a:bodyPr>
          <a:lstStyle/>
          <a:p>
            <a:pPr algn="l">
              <a:lnSpc>
                <a:spcPct val="115000"/>
              </a:lnSpc>
            </a:pPr>
            <a:r>
              <a:rPr sz="1050" b="1" spc="220">
                <a:solidFill>
                  <a:srgbClr val="556764"/>
                </a:solidFill>
                <a:latin typeface="Consolas"/>
              </a:rPr>
              <a:t>ARCHITECTURE</a:t>
            </a:r>
          </a:p>
        </p:txBody>
      </p:sp>
      <p:sp>
        <p:nvSpPr>
          <p:cNvPr id="4" name="TextBox 3"/>
          <p:cNvSpPr txBox="1"/>
          <p:nvPr/>
        </p:nvSpPr>
        <p:spPr>
          <a:xfrm>
            <a:off x="566928" y="621792"/>
            <a:ext cx="11057839" cy="914400"/>
          </a:xfrm>
          <a:prstGeom prst="rect">
            <a:avLst/>
          </a:prstGeom>
          <a:noFill/>
        </p:spPr>
        <p:txBody>
          <a:bodyPr wrap="square" lIns="0" rIns="0" tIns="0" bIns="0" anchor="t">
            <a:spAutoFit/>
          </a:bodyPr>
          <a:lstStyle/>
          <a:p>
            <a:pPr algn="l">
              <a:lnSpc>
                <a:spcPct val="106000"/>
              </a:lnSpc>
            </a:pPr>
            <a:r>
              <a:rPr sz="2900" b="1">
                <a:solidFill>
                  <a:srgbClr val="E6EDEB"/>
                </a:solidFill>
                <a:latin typeface="Cambria"/>
              </a:rPr>
              <a:t>Three agents. One orchestrator. One auditable decision.</a:t>
            </a:r>
          </a:p>
        </p:txBody>
      </p:sp>
      <p:sp>
        <p:nvSpPr>
          <p:cNvPr id="5" name="Rectangle 4"/>
          <p:cNvSpPr/>
          <p:nvPr/>
        </p:nvSpPr>
        <p:spPr>
          <a:xfrm>
            <a:off x="566928" y="6336792"/>
            <a:ext cx="11057839"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28232"/>
            <a:ext cx="6400800" cy="219456"/>
          </a:xfrm>
          <a:prstGeom prst="rect">
            <a:avLst/>
          </a:prstGeom>
          <a:noFill/>
        </p:spPr>
        <p:txBody>
          <a:bodyPr wrap="square" lIns="0" rIns="0" tIns="0" bIns="0" anchor="t">
            <a:spAutoFit/>
          </a:bodyPr>
          <a:lstStyle/>
          <a:p>
            <a:pPr algn="l">
              <a:lnSpc>
                <a:spcPct val="115000"/>
              </a:lnSpc>
            </a:pPr>
            <a:r>
              <a:rPr sz="850" b="0" spc="200">
                <a:solidFill>
                  <a:srgbClr val="556764"/>
                </a:solidFill>
                <a:latin typeface="Consolas"/>
              </a:rPr>
              <a:t>AETHER-DERIVATIVES</a:t>
            </a:r>
          </a:p>
        </p:txBody>
      </p:sp>
      <p:sp>
        <p:nvSpPr>
          <p:cNvPr id="7" name="TextBox 6"/>
          <p:cNvSpPr txBox="1"/>
          <p:nvPr/>
        </p:nvSpPr>
        <p:spPr>
          <a:xfrm>
            <a:off x="11076127" y="6428232"/>
            <a:ext cx="548640" cy="219456"/>
          </a:xfrm>
          <a:prstGeom prst="rect">
            <a:avLst/>
          </a:prstGeom>
          <a:noFill/>
        </p:spPr>
        <p:txBody>
          <a:bodyPr wrap="square" lIns="0" rIns="0" tIns="0" bIns="0" anchor="t">
            <a:spAutoFit/>
          </a:bodyPr>
          <a:lstStyle/>
          <a:p>
            <a:pPr algn="r">
              <a:lnSpc>
                <a:spcPct val="115000"/>
              </a:lnSpc>
            </a:pPr>
            <a:r>
              <a:rPr sz="850" b="0">
                <a:solidFill>
                  <a:srgbClr val="556764"/>
                </a:solidFill>
                <a:latin typeface="Consolas"/>
              </a:rPr>
              <a:t>05</a:t>
            </a:r>
          </a:p>
        </p:txBody>
      </p:sp>
      <p:sp>
        <p:nvSpPr>
          <p:cNvPr id="8" name="Rectangle 7"/>
          <p:cNvSpPr/>
          <p:nvPr/>
        </p:nvSpPr>
        <p:spPr>
          <a:xfrm>
            <a:off x="4041648" y="1517904"/>
            <a:ext cx="4114800" cy="603504"/>
          </a:xfrm>
          <a:prstGeom prst="rect">
            <a:avLst/>
          </a:prstGeom>
          <a:solidFill>
            <a:srgbClr val="182321"/>
          </a:solidFill>
          <a:ln w="15240">
            <a:solidFill>
              <a:srgbClr val="2F8B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41648" y="1627632"/>
            <a:ext cx="4114800" cy="219456"/>
          </a:xfrm>
          <a:prstGeom prst="rect">
            <a:avLst/>
          </a:prstGeom>
          <a:noFill/>
        </p:spPr>
        <p:txBody>
          <a:bodyPr wrap="square" lIns="0" rIns="0" tIns="0" bIns="0" anchor="t">
            <a:spAutoFit/>
          </a:bodyPr>
          <a:lstStyle/>
          <a:p>
            <a:pPr algn="ctr">
              <a:lnSpc>
                <a:spcPct val="115000"/>
              </a:lnSpc>
            </a:pPr>
            <a:r>
              <a:rPr sz="1250" b="1" spc="180">
                <a:solidFill>
                  <a:srgbClr val="4FC3AE"/>
                </a:solidFill>
                <a:latin typeface="Consolas"/>
              </a:rPr>
              <a:t>AETHER ORCHESTRATOR</a:t>
            </a:r>
          </a:p>
        </p:txBody>
      </p:sp>
      <p:sp>
        <p:nvSpPr>
          <p:cNvPr id="10" name="TextBox 9"/>
          <p:cNvSpPr txBox="1"/>
          <p:nvPr/>
        </p:nvSpPr>
        <p:spPr>
          <a:xfrm>
            <a:off x="4041648" y="1865376"/>
            <a:ext cx="4114800" cy="182880"/>
          </a:xfrm>
          <a:prstGeom prst="rect">
            <a:avLst/>
          </a:prstGeom>
          <a:noFill/>
        </p:spPr>
        <p:txBody>
          <a:bodyPr wrap="square" lIns="0" rIns="0" tIns="0" bIns="0" anchor="t">
            <a:spAutoFit/>
          </a:bodyPr>
          <a:lstStyle/>
          <a:p>
            <a:pPr algn="ctr">
              <a:lnSpc>
                <a:spcPct val="115000"/>
              </a:lnSpc>
            </a:pPr>
            <a:r>
              <a:rPr sz="900" b="0">
                <a:solidFill>
                  <a:srgbClr val="556764"/>
                </a:solidFill>
                <a:latin typeface="Segoe UI"/>
              </a:rPr>
              <a:t>state, routing and hand-off between agents</a:t>
            </a:r>
          </a:p>
        </p:txBody>
      </p:sp>
      <p:sp>
        <p:nvSpPr>
          <p:cNvPr id="11" name="Down Arrow 10"/>
          <p:cNvSpPr/>
          <p:nvPr/>
        </p:nvSpPr>
        <p:spPr>
          <a:xfrm>
            <a:off x="2278837" y="2157984"/>
            <a:ext cx="128016" cy="274320"/>
          </a:xfrm>
          <a:prstGeom prst="downArrow">
            <a:avLst/>
          </a:prstGeom>
          <a:solidFill>
            <a:srgbClr val="2F8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523744"/>
            <a:ext cx="3551834" cy="2834640"/>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2523744"/>
            <a:ext cx="3551834" cy="45720"/>
          </a:xfrm>
          <a:prstGeom prst="rect">
            <a:avLst/>
          </a:prstGeom>
          <a:solidFill>
            <a:srgbClr val="4FC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706624"/>
            <a:ext cx="3149498" cy="219456"/>
          </a:xfrm>
          <a:prstGeom prst="rect">
            <a:avLst/>
          </a:prstGeom>
          <a:noFill/>
        </p:spPr>
        <p:txBody>
          <a:bodyPr wrap="square" lIns="0" rIns="0" tIns="0" bIns="0" anchor="t">
            <a:spAutoFit/>
          </a:bodyPr>
          <a:lstStyle/>
          <a:p>
            <a:pPr algn="l">
              <a:lnSpc>
                <a:spcPct val="115000"/>
              </a:lnSpc>
            </a:pPr>
            <a:r>
              <a:rPr sz="1050" b="1" spc="80">
                <a:solidFill>
                  <a:srgbClr val="4FC3AE"/>
                </a:solidFill>
                <a:latin typeface="Consolas"/>
              </a:rPr>
              <a:t>LEGAL-CLAUSE AGENT</a:t>
            </a:r>
          </a:p>
        </p:txBody>
      </p:sp>
      <p:sp>
        <p:nvSpPr>
          <p:cNvPr id="15" name="TextBox 14"/>
          <p:cNvSpPr txBox="1"/>
          <p:nvPr/>
        </p:nvSpPr>
        <p:spPr>
          <a:xfrm>
            <a:off x="768096" y="2962656"/>
            <a:ext cx="3149498" cy="201168"/>
          </a:xfrm>
          <a:prstGeom prst="rect">
            <a:avLst/>
          </a:prstGeom>
          <a:noFill/>
        </p:spPr>
        <p:txBody>
          <a:bodyPr wrap="square" lIns="0" rIns="0" tIns="0" bIns="0" anchor="t">
            <a:spAutoFit/>
          </a:bodyPr>
          <a:lstStyle/>
          <a:p>
            <a:pPr algn="l">
              <a:lnSpc>
                <a:spcPct val="115000"/>
              </a:lnSpc>
            </a:pPr>
            <a:r>
              <a:rPr sz="1050" b="1">
                <a:solidFill>
                  <a:srgbClr val="E6EDEB"/>
                </a:solidFill>
                <a:latin typeface="Segoe UI"/>
              </a:rPr>
              <a:t>Interprets the contract</a:t>
            </a:r>
          </a:p>
        </p:txBody>
      </p:sp>
      <p:sp>
        <p:nvSpPr>
          <p:cNvPr id="16" name="Rectangle 15"/>
          <p:cNvSpPr/>
          <p:nvPr/>
        </p:nvSpPr>
        <p:spPr>
          <a:xfrm>
            <a:off x="768096" y="3255264"/>
            <a:ext cx="3149498"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3401568"/>
            <a:ext cx="146304" cy="182880"/>
          </a:xfrm>
          <a:prstGeom prst="rect">
            <a:avLst/>
          </a:prstGeom>
          <a:noFill/>
        </p:spPr>
        <p:txBody>
          <a:bodyPr wrap="square" lIns="0" rIns="0" tIns="0" bIns="0" anchor="t">
            <a:spAutoFit/>
          </a:bodyPr>
          <a:lstStyle/>
          <a:p>
            <a:pPr algn="l">
              <a:lnSpc>
                <a:spcPct val="115000"/>
              </a:lnSpc>
            </a:pPr>
            <a:r>
              <a:rPr sz="950" b="0">
                <a:solidFill>
                  <a:srgbClr val="4FC3AE"/>
                </a:solidFill>
                <a:latin typeface="Consolas"/>
              </a:rPr>
              <a:t>›</a:t>
            </a:r>
          </a:p>
        </p:txBody>
      </p:sp>
      <p:sp>
        <p:nvSpPr>
          <p:cNvPr id="18" name="TextBox 17"/>
          <p:cNvSpPr txBox="1"/>
          <p:nvPr/>
        </p:nvSpPr>
        <p:spPr>
          <a:xfrm>
            <a:off x="969264" y="3401568"/>
            <a:ext cx="2948330" cy="384048"/>
          </a:xfrm>
          <a:prstGeom prst="rect">
            <a:avLst/>
          </a:prstGeom>
          <a:noFill/>
        </p:spPr>
        <p:txBody>
          <a:bodyPr wrap="square" lIns="0" rIns="0" tIns="0" bIns="0" anchor="t">
            <a:spAutoFit/>
          </a:bodyPr>
          <a:lstStyle/>
          <a:p>
            <a:pPr algn="l">
              <a:lnSpc>
                <a:spcPct val="125000"/>
              </a:lnSpc>
            </a:pPr>
            <a:r>
              <a:rPr sz="900" b="0">
                <a:solidFill>
                  <a:srgbClr val="7B908C"/>
                </a:solidFill>
                <a:latin typeface="Segoe UI"/>
              </a:rPr>
              <a:t>Parses the ISDA Master Agreement</a:t>
            </a:r>
          </a:p>
          <a:p>
            <a:pPr algn="l">
              <a:lnSpc>
                <a:spcPct val="125000"/>
              </a:lnSpc>
            </a:pPr>
            <a:r>
              <a:rPr sz="900" b="0">
                <a:solidFill>
                  <a:srgbClr val="7B908C"/>
                </a:solidFill>
                <a:latin typeface="Segoe UI"/>
              </a:rPr>
              <a:t>and Credit Support Annex</a:t>
            </a:r>
          </a:p>
        </p:txBody>
      </p:sp>
      <p:sp>
        <p:nvSpPr>
          <p:cNvPr id="19" name="TextBox 18"/>
          <p:cNvSpPr txBox="1"/>
          <p:nvPr/>
        </p:nvSpPr>
        <p:spPr>
          <a:xfrm>
            <a:off x="768096" y="3877056"/>
            <a:ext cx="146304" cy="182880"/>
          </a:xfrm>
          <a:prstGeom prst="rect">
            <a:avLst/>
          </a:prstGeom>
          <a:noFill/>
        </p:spPr>
        <p:txBody>
          <a:bodyPr wrap="square" lIns="0" rIns="0" tIns="0" bIns="0" anchor="t">
            <a:spAutoFit/>
          </a:bodyPr>
          <a:lstStyle/>
          <a:p>
            <a:pPr algn="l">
              <a:lnSpc>
                <a:spcPct val="115000"/>
              </a:lnSpc>
            </a:pPr>
            <a:r>
              <a:rPr sz="950" b="0">
                <a:solidFill>
                  <a:srgbClr val="4FC3AE"/>
                </a:solidFill>
                <a:latin typeface="Consolas"/>
              </a:rPr>
              <a:t>›</a:t>
            </a:r>
          </a:p>
        </p:txBody>
      </p:sp>
      <p:sp>
        <p:nvSpPr>
          <p:cNvPr id="20" name="TextBox 19"/>
          <p:cNvSpPr txBox="1"/>
          <p:nvPr/>
        </p:nvSpPr>
        <p:spPr>
          <a:xfrm>
            <a:off x="969264" y="3877056"/>
            <a:ext cx="2948330" cy="384048"/>
          </a:xfrm>
          <a:prstGeom prst="rect">
            <a:avLst/>
          </a:prstGeom>
          <a:noFill/>
        </p:spPr>
        <p:txBody>
          <a:bodyPr wrap="square" lIns="0" rIns="0" tIns="0" bIns="0" anchor="t">
            <a:spAutoFit/>
          </a:bodyPr>
          <a:lstStyle/>
          <a:p>
            <a:pPr algn="l">
              <a:lnSpc>
                <a:spcPct val="125000"/>
              </a:lnSpc>
            </a:pPr>
            <a:r>
              <a:rPr sz="900" b="0">
                <a:solidFill>
                  <a:srgbClr val="7B908C"/>
                </a:solidFill>
                <a:latin typeface="Segoe UI"/>
              </a:rPr>
              <a:t>Extracts thresholds, minimum transfer</a:t>
            </a:r>
          </a:p>
          <a:p>
            <a:pPr algn="l">
              <a:lnSpc>
                <a:spcPct val="125000"/>
              </a:lnSpc>
            </a:pPr>
            <a:r>
              <a:rPr sz="900" b="0">
                <a:solidFill>
                  <a:srgbClr val="7B908C"/>
                </a:solidFill>
                <a:latin typeface="Segoe UI"/>
              </a:rPr>
              <a:t>amounts and valuation percentages</a:t>
            </a:r>
          </a:p>
        </p:txBody>
      </p:sp>
      <p:sp>
        <p:nvSpPr>
          <p:cNvPr id="21" name="TextBox 20"/>
          <p:cNvSpPr txBox="1"/>
          <p:nvPr/>
        </p:nvSpPr>
        <p:spPr>
          <a:xfrm>
            <a:off x="768096" y="4352544"/>
            <a:ext cx="146304" cy="182880"/>
          </a:xfrm>
          <a:prstGeom prst="rect">
            <a:avLst/>
          </a:prstGeom>
          <a:noFill/>
        </p:spPr>
        <p:txBody>
          <a:bodyPr wrap="square" lIns="0" rIns="0" tIns="0" bIns="0" anchor="t">
            <a:spAutoFit/>
          </a:bodyPr>
          <a:lstStyle/>
          <a:p>
            <a:pPr algn="l">
              <a:lnSpc>
                <a:spcPct val="115000"/>
              </a:lnSpc>
            </a:pPr>
            <a:r>
              <a:rPr sz="950" b="0">
                <a:solidFill>
                  <a:srgbClr val="4FC3AE"/>
                </a:solidFill>
                <a:latin typeface="Consolas"/>
              </a:rPr>
              <a:t>›</a:t>
            </a:r>
          </a:p>
        </p:txBody>
      </p:sp>
      <p:sp>
        <p:nvSpPr>
          <p:cNvPr id="22" name="TextBox 21"/>
          <p:cNvSpPr txBox="1"/>
          <p:nvPr/>
        </p:nvSpPr>
        <p:spPr>
          <a:xfrm>
            <a:off x="969264" y="4352544"/>
            <a:ext cx="2948330" cy="384048"/>
          </a:xfrm>
          <a:prstGeom prst="rect">
            <a:avLst/>
          </a:prstGeom>
          <a:noFill/>
        </p:spPr>
        <p:txBody>
          <a:bodyPr wrap="square" lIns="0" rIns="0" tIns="0" bIns="0" anchor="t">
            <a:spAutoFit/>
          </a:bodyPr>
          <a:lstStyle/>
          <a:p>
            <a:pPr algn="l">
              <a:lnSpc>
                <a:spcPct val="125000"/>
              </a:lnSpc>
            </a:pPr>
            <a:r>
              <a:rPr sz="900" b="0">
                <a:solidFill>
                  <a:srgbClr val="7B908C"/>
                </a:solidFill>
                <a:latin typeface="Segoe UI"/>
              </a:rPr>
              <a:t>Cites the source span for every value</a:t>
            </a:r>
          </a:p>
          <a:p>
            <a:pPr algn="l">
              <a:lnSpc>
                <a:spcPct val="125000"/>
              </a:lnSpc>
            </a:pPr>
            <a:r>
              <a:rPr sz="900" b="0">
                <a:solidFill>
                  <a:srgbClr val="7B908C"/>
                </a:solidFill>
                <a:latin typeface="Segoe UI"/>
              </a:rPr>
              <a:t>Flags ambiguity for human review</a:t>
            </a:r>
          </a:p>
        </p:txBody>
      </p:sp>
      <p:sp>
        <p:nvSpPr>
          <p:cNvPr id="23" name="Rectangle 22"/>
          <p:cNvSpPr/>
          <p:nvPr/>
        </p:nvSpPr>
        <p:spPr>
          <a:xfrm>
            <a:off x="768096" y="4901184"/>
            <a:ext cx="3149498"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047488"/>
            <a:ext cx="3149498" cy="201168"/>
          </a:xfrm>
          <a:prstGeom prst="rect">
            <a:avLst/>
          </a:prstGeom>
          <a:noFill/>
        </p:spPr>
        <p:txBody>
          <a:bodyPr wrap="square" lIns="0" rIns="0" tIns="0" bIns="0" anchor="t">
            <a:spAutoFit/>
          </a:bodyPr>
          <a:lstStyle/>
          <a:p>
            <a:pPr algn="l">
              <a:lnSpc>
                <a:spcPct val="115000"/>
              </a:lnSpc>
            </a:pPr>
            <a:r>
              <a:rPr sz="900" b="0">
                <a:solidFill>
                  <a:srgbClr val="4FC3AE"/>
                </a:solidFill>
                <a:latin typeface="Consolas"/>
              </a:rPr>
              <a:t>OUT →  structured contractual terms</a:t>
            </a:r>
          </a:p>
        </p:txBody>
      </p:sp>
      <p:sp>
        <p:nvSpPr>
          <p:cNvPr id="25" name="Down Arrow 24"/>
          <p:cNvSpPr/>
          <p:nvPr/>
        </p:nvSpPr>
        <p:spPr>
          <a:xfrm>
            <a:off x="2278837" y="5394960"/>
            <a:ext cx="128016" cy="237744"/>
          </a:xfrm>
          <a:prstGeom prst="downArrow">
            <a:avLst/>
          </a:prstGeom>
          <a:solidFill>
            <a:srgbClr val="2F8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own Arrow 25"/>
          <p:cNvSpPr/>
          <p:nvPr/>
        </p:nvSpPr>
        <p:spPr>
          <a:xfrm>
            <a:off x="6031839" y="2157984"/>
            <a:ext cx="128016" cy="274320"/>
          </a:xfrm>
          <a:prstGeom prst="downArrow">
            <a:avLst/>
          </a:prstGeom>
          <a:solidFill>
            <a:srgbClr val="2F8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19930" y="2523744"/>
            <a:ext cx="3551834" cy="2834640"/>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19930" y="2523744"/>
            <a:ext cx="3551834" cy="45720"/>
          </a:xfrm>
          <a:prstGeom prst="rect">
            <a:avLst/>
          </a:prstGeom>
          <a:solidFill>
            <a:srgbClr val="E0A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21098" y="2706624"/>
            <a:ext cx="3149498" cy="219456"/>
          </a:xfrm>
          <a:prstGeom prst="rect">
            <a:avLst/>
          </a:prstGeom>
          <a:noFill/>
        </p:spPr>
        <p:txBody>
          <a:bodyPr wrap="square" lIns="0" rIns="0" tIns="0" bIns="0" anchor="t">
            <a:spAutoFit/>
          </a:bodyPr>
          <a:lstStyle/>
          <a:p>
            <a:pPr algn="l">
              <a:lnSpc>
                <a:spcPct val="115000"/>
              </a:lnSpc>
            </a:pPr>
            <a:r>
              <a:rPr sz="1050" b="1" spc="80">
                <a:solidFill>
                  <a:srgbClr val="E0A33C"/>
                </a:solidFill>
                <a:latin typeface="Consolas"/>
              </a:rPr>
              <a:t>RISK-ENGINE AGENT</a:t>
            </a:r>
          </a:p>
        </p:txBody>
      </p:sp>
      <p:sp>
        <p:nvSpPr>
          <p:cNvPr id="30" name="TextBox 29"/>
          <p:cNvSpPr txBox="1"/>
          <p:nvPr/>
        </p:nvSpPr>
        <p:spPr>
          <a:xfrm>
            <a:off x="4521098" y="2962656"/>
            <a:ext cx="3149498" cy="201168"/>
          </a:xfrm>
          <a:prstGeom prst="rect">
            <a:avLst/>
          </a:prstGeom>
          <a:noFill/>
        </p:spPr>
        <p:txBody>
          <a:bodyPr wrap="square" lIns="0" rIns="0" tIns="0" bIns="0" anchor="t">
            <a:spAutoFit/>
          </a:bodyPr>
          <a:lstStyle/>
          <a:p>
            <a:pPr algn="l">
              <a:lnSpc>
                <a:spcPct val="115000"/>
              </a:lnSpc>
            </a:pPr>
            <a:r>
              <a:rPr sz="1050" b="1">
                <a:solidFill>
                  <a:srgbClr val="E6EDEB"/>
                </a:solidFill>
                <a:latin typeface="Segoe UI"/>
              </a:rPr>
              <a:t>Quantifies the requirement</a:t>
            </a:r>
          </a:p>
        </p:txBody>
      </p:sp>
      <p:sp>
        <p:nvSpPr>
          <p:cNvPr id="31" name="Rectangle 30"/>
          <p:cNvSpPr/>
          <p:nvPr/>
        </p:nvSpPr>
        <p:spPr>
          <a:xfrm>
            <a:off x="4521098" y="3255264"/>
            <a:ext cx="3149498"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21098" y="3401568"/>
            <a:ext cx="146304" cy="182880"/>
          </a:xfrm>
          <a:prstGeom prst="rect">
            <a:avLst/>
          </a:prstGeom>
          <a:noFill/>
        </p:spPr>
        <p:txBody>
          <a:bodyPr wrap="square" lIns="0" rIns="0" tIns="0" bIns="0" anchor="t">
            <a:spAutoFit/>
          </a:bodyPr>
          <a:lstStyle/>
          <a:p>
            <a:pPr algn="l">
              <a:lnSpc>
                <a:spcPct val="115000"/>
              </a:lnSpc>
            </a:pPr>
            <a:r>
              <a:rPr sz="950" b="0">
                <a:solidFill>
                  <a:srgbClr val="E0A33C"/>
                </a:solidFill>
                <a:latin typeface="Consolas"/>
              </a:rPr>
              <a:t>›</a:t>
            </a:r>
          </a:p>
        </p:txBody>
      </p:sp>
      <p:sp>
        <p:nvSpPr>
          <p:cNvPr id="33" name="TextBox 32"/>
          <p:cNvSpPr txBox="1"/>
          <p:nvPr/>
        </p:nvSpPr>
        <p:spPr>
          <a:xfrm>
            <a:off x="4722266" y="3401568"/>
            <a:ext cx="2948330" cy="384048"/>
          </a:xfrm>
          <a:prstGeom prst="rect">
            <a:avLst/>
          </a:prstGeom>
          <a:noFill/>
        </p:spPr>
        <p:txBody>
          <a:bodyPr wrap="square" lIns="0" rIns="0" tIns="0" bIns="0" anchor="t">
            <a:spAutoFit/>
          </a:bodyPr>
          <a:lstStyle/>
          <a:p>
            <a:pPr algn="l">
              <a:lnSpc>
                <a:spcPct val="125000"/>
              </a:lnSpc>
            </a:pPr>
            <a:r>
              <a:rPr sz="900" b="0">
                <a:solidFill>
                  <a:srgbClr val="7B908C"/>
                </a:solidFill>
                <a:latin typeface="Segoe UI"/>
              </a:rPr>
              <a:t>Marks the netting set to a pinned</a:t>
            </a:r>
          </a:p>
          <a:p>
            <a:pPr algn="l">
              <a:lnSpc>
                <a:spcPct val="125000"/>
              </a:lnSpc>
            </a:pPr>
            <a:r>
              <a:rPr sz="900" b="0">
                <a:solidFill>
                  <a:srgbClr val="7B908C"/>
                </a:solidFill>
                <a:latin typeface="Segoe UI"/>
              </a:rPr>
              <a:t>market snapshot</a:t>
            </a:r>
          </a:p>
        </p:txBody>
      </p:sp>
      <p:sp>
        <p:nvSpPr>
          <p:cNvPr id="34" name="TextBox 33"/>
          <p:cNvSpPr txBox="1"/>
          <p:nvPr/>
        </p:nvSpPr>
        <p:spPr>
          <a:xfrm>
            <a:off x="4521098" y="3877056"/>
            <a:ext cx="146304" cy="182880"/>
          </a:xfrm>
          <a:prstGeom prst="rect">
            <a:avLst/>
          </a:prstGeom>
          <a:noFill/>
        </p:spPr>
        <p:txBody>
          <a:bodyPr wrap="square" lIns="0" rIns="0" tIns="0" bIns="0" anchor="t">
            <a:spAutoFit/>
          </a:bodyPr>
          <a:lstStyle/>
          <a:p>
            <a:pPr algn="l">
              <a:lnSpc>
                <a:spcPct val="115000"/>
              </a:lnSpc>
            </a:pPr>
            <a:r>
              <a:rPr sz="950" b="0">
                <a:solidFill>
                  <a:srgbClr val="E0A33C"/>
                </a:solidFill>
                <a:latin typeface="Consolas"/>
              </a:rPr>
              <a:t>›</a:t>
            </a:r>
          </a:p>
        </p:txBody>
      </p:sp>
      <p:sp>
        <p:nvSpPr>
          <p:cNvPr id="35" name="TextBox 34"/>
          <p:cNvSpPr txBox="1"/>
          <p:nvPr/>
        </p:nvSpPr>
        <p:spPr>
          <a:xfrm>
            <a:off x="4722266" y="3877056"/>
            <a:ext cx="2948330" cy="384048"/>
          </a:xfrm>
          <a:prstGeom prst="rect">
            <a:avLst/>
          </a:prstGeom>
          <a:noFill/>
        </p:spPr>
        <p:txBody>
          <a:bodyPr wrap="square" lIns="0" rIns="0" tIns="0" bIns="0" anchor="t">
            <a:spAutoFit/>
          </a:bodyPr>
          <a:lstStyle/>
          <a:p>
            <a:pPr algn="l">
              <a:lnSpc>
                <a:spcPct val="125000"/>
              </a:lnSpc>
            </a:pPr>
            <a:r>
              <a:rPr sz="900" b="0">
                <a:solidFill>
                  <a:srgbClr val="7B908C"/>
                </a:solidFill>
                <a:latin typeface="Segoe UI"/>
              </a:rPr>
              <a:t>Applies the CSA waterfall: threshold,</a:t>
            </a:r>
          </a:p>
          <a:p>
            <a:pPr algn="l">
              <a:lnSpc>
                <a:spcPct val="125000"/>
              </a:lnSpc>
            </a:pPr>
            <a:r>
              <a:rPr sz="900" b="0">
                <a:solidFill>
                  <a:srgbClr val="7B908C"/>
                </a:solidFill>
                <a:latin typeface="Segoe UI"/>
              </a:rPr>
              <a:t>independent amount, MTA, rounding</a:t>
            </a:r>
          </a:p>
        </p:txBody>
      </p:sp>
      <p:sp>
        <p:nvSpPr>
          <p:cNvPr id="36" name="TextBox 35"/>
          <p:cNvSpPr txBox="1"/>
          <p:nvPr/>
        </p:nvSpPr>
        <p:spPr>
          <a:xfrm>
            <a:off x="4521098" y="4352544"/>
            <a:ext cx="146304" cy="182880"/>
          </a:xfrm>
          <a:prstGeom prst="rect">
            <a:avLst/>
          </a:prstGeom>
          <a:noFill/>
        </p:spPr>
        <p:txBody>
          <a:bodyPr wrap="square" lIns="0" rIns="0" tIns="0" bIns="0" anchor="t">
            <a:spAutoFit/>
          </a:bodyPr>
          <a:lstStyle/>
          <a:p>
            <a:pPr algn="l">
              <a:lnSpc>
                <a:spcPct val="115000"/>
              </a:lnSpc>
            </a:pPr>
            <a:r>
              <a:rPr sz="950" b="0">
                <a:solidFill>
                  <a:srgbClr val="E0A33C"/>
                </a:solidFill>
                <a:latin typeface="Consolas"/>
              </a:rPr>
              <a:t>›</a:t>
            </a:r>
          </a:p>
        </p:txBody>
      </p:sp>
      <p:sp>
        <p:nvSpPr>
          <p:cNvPr id="37" name="TextBox 36"/>
          <p:cNvSpPr txBox="1"/>
          <p:nvPr/>
        </p:nvSpPr>
        <p:spPr>
          <a:xfrm>
            <a:off x="4722266" y="4352544"/>
            <a:ext cx="2948330" cy="384048"/>
          </a:xfrm>
          <a:prstGeom prst="rect">
            <a:avLst/>
          </a:prstGeom>
          <a:noFill/>
        </p:spPr>
        <p:txBody>
          <a:bodyPr wrap="square" lIns="0" rIns="0" tIns="0" bIns="0" anchor="t">
            <a:spAutoFit/>
          </a:bodyPr>
          <a:lstStyle/>
          <a:p>
            <a:pPr algn="l">
              <a:lnSpc>
                <a:spcPct val="125000"/>
              </a:lnSpc>
            </a:pPr>
            <a:r>
              <a:rPr sz="900" b="0">
                <a:solidFill>
                  <a:srgbClr val="7B908C"/>
                </a:solidFill>
                <a:latin typeface="Segoe UI"/>
              </a:rPr>
              <a:t>Computes initial margin alongside</a:t>
            </a:r>
          </a:p>
          <a:p>
            <a:pPr algn="l">
              <a:lnSpc>
                <a:spcPct val="125000"/>
              </a:lnSpc>
            </a:pPr>
            <a:r>
              <a:rPr sz="900" b="0">
                <a:solidFill>
                  <a:srgbClr val="7B908C"/>
                </a:solidFill>
                <a:latin typeface="Segoe UI"/>
              </a:rPr>
              <a:t>Never performs arithmetic itself</a:t>
            </a:r>
          </a:p>
        </p:txBody>
      </p:sp>
      <p:sp>
        <p:nvSpPr>
          <p:cNvPr id="38" name="Rectangle 37"/>
          <p:cNvSpPr/>
          <p:nvPr/>
        </p:nvSpPr>
        <p:spPr>
          <a:xfrm>
            <a:off x="4521098" y="4901184"/>
            <a:ext cx="3149498"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21098" y="5047488"/>
            <a:ext cx="3149498" cy="201168"/>
          </a:xfrm>
          <a:prstGeom prst="rect">
            <a:avLst/>
          </a:prstGeom>
          <a:noFill/>
        </p:spPr>
        <p:txBody>
          <a:bodyPr wrap="square" lIns="0" rIns="0" tIns="0" bIns="0" anchor="t">
            <a:spAutoFit/>
          </a:bodyPr>
          <a:lstStyle/>
          <a:p>
            <a:pPr algn="l">
              <a:lnSpc>
                <a:spcPct val="115000"/>
              </a:lnSpc>
            </a:pPr>
            <a:r>
              <a:rPr sz="900" b="0">
                <a:solidFill>
                  <a:srgbClr val="E0A33C"/>
                </a:solidFill>
                <a:latin typeface="Consolas"/>
              </a:rPr>
              <a:t>OUT →  the margin requirement</a:t>
            </a:r>
          </a:p>
        </p:txBody>
      </p:sp>
      <p:sp>
        <p:nvSpPr>
          <p:cNvPr id="40" name="Down Arrow 39"/>
          <p:cNvSpPr/>
          <p:nvPr/>
        </p:nvSpPr>
        <p:spPr>
          <a:xfrm>
            <a:off x="6031839" y="5394960"/>
            <a:ext cx="128016" cy="237744"/>
          </a:xfrm>
          <a:prstGeom prst="downArrow">
            <a:avLst/>
          </a:prstGeom>
          <a:solidFill>
            <a:srgbClr val="2F8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Down Arrow 40"/>
          <p:cNvSpPr/>
          <p:nvPr/>
        </p:nvSpPr>
        <p:spPr>
          <a:xfrm>
            <a:off x="9784842" y="2157984"/>
            <a:ext cx="128016" cy="274320"/>
          </a:xfrm>
          <a:prstGeom prst="downArrow">
            <a:avLst/>
          </a:prstGeom>
          <a:solidFill>
            <a:srgbClr val="2F8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072932" y="2523744"/>
            <a:ext cx="3551834" cy="2834640"/>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072932" y="2523744"/>
            <a:ext cx="3551834" cy="45720"/>
          </a:xfrm>
          <a:prstGeom prst="rect">
            <a:avLst/>
          </a:prstGeom>
          <a:solidFill>
            <a:srgbClr val="A9BC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74100" y="2706624"/>
            <a:ext cx="3149498" cy="219456"/>
          </a:xfrm>
          <a:prstGeom prst="rect">
            <a:avLst/>
          </a:prstGeom>
          <a:noFill/>
        </p:spPr>
        <p:txBody>
          <a:bodyPr wrap="square" lIns="0" rIns="0" tIns="0" bIns="0" anchor="t">
            <a:spAutoFit/>
          </a:bodyPr>
          <a:lstStyle/>
          <a:p>
            <a:pPr algn="l">
              <a:lnSpc>
                <a:spcPct val="115000"/>
              </a:lnSpc>
            </a:pPr>
            <a:r>
              <a:rPr sz="1050" b="1" spc="80">
                <a:solidFill>
                  <a:srgbClr val="A9BCB8"/>
                </a:solidFill>
                <a:latin typeface="Consolas"/>
              </a:rPr>
              <a:t>COLLATERAL-OPTIMIZER AGENT</a:t>
            </a:r>
          </a:p>
        </p:txBody>
      </p:sp>
      <p:sp>
        <p:nvSpPr>
          <p:cNvPr id="45" name="TextBox 44"/>
          <p:cNvSpPr txBox="1"/>
          <p:nvPr/>
        </p:nvSpPr>
        <p:spPr>
          <a:xfrm>
            <a:off x="8274100" y="2962656"/>
            <a:ext cx="3149498" cy="201168"/>
          </a:xfrm>
          <a:prstGeom prst="rect">
            <a:avLst/>
          </a:prstGeom>
          <a:noFill/>
        </p:spPr>
        <p:txBody>
          <a:bodyPr wrap="square" lIns="0" rIns="0" tIns="0" bIns="0" anchor="t">
            <a:spAutoFit/>
          </a:bodyPr>
          <a:lstStyle/>
          <a:p>
            <a:pPr algn="l">
              <a:lnSpc>
                <a:spcPct val="115000"/>
              </a:lnSpc>
            </a:pPr>
            <a:r>
              <a:rPr sz="1050" b="1">
                <a:solidFill>
                  <a:srgbClr val="E6EDEB"/>
                </a:solidFill>
                <a:latin typeface="Segoe UI"/>
              </a:rPr>
              <a:t>Decides what to deliver</a:t>
            </a:r>
          </a:p>
        </p:txBody>
      </p:sp>
      <p:sp>
        <p:nvSpPr>
          <p:cNvPr id="46" name="Rectangle 45"/>
          <p:cNvSpPr/>
          <p:nvPr/>
        </p:nvSpPr>
        <p:spPr>
          <a:xfrm>
            <a:off x="8274100" y="3255264"/>
            <a:ext cx="3149498"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74100" y="3401568"/>
            <a:ext cx="146304" cy="182880"/>
          </a:xfrm>
          <a:prstGeom prst="rect">
            <a:avLst/>
          </a:prstGeom>
          <a:noFill/>
        </p:spPr>
        <p:txBody>
          <a:bodyPr wrap="square" lIns="0" rIns="0" tIns="0" bIns="0" anchor="t">
            <a:spAutoFit/>
          </a:bodyPr>
          <a:lstStyle/>
          <a:p>
            <a:pPr algn="l">
              <a:lnSpc>
                <a:spcPct val="115000"/>
              </a:lnSpc>
            </a:pPr>
            <a:r>
              <a:rPr sz="950" b="0">
                <a:solidFill>
                  <a:srgbClr val="A9BCB8"/>
                </a:solidFill>
                <a:latin typeface="Consolas"/>
              </a:rPr>
              <a:t>›</a:t>
            </a:r>
          </a:p>
        </p:txBody>
      </p:sp>
      <p:sp>
        <p:nvSpPr>
          <p:cNvPr id="48" name="TextBox 47"/>
          <p:cNvSpPr txBox="1"/>
          <p:nvPr/>
        </p:nvSpPr>
        <p:spPr>
          <a:xfrm>
            <a:off x="8475268" y="3401568"/>
            <a:ext cx="2948330" cy="384048"/>
          </a:xfrm>
          <a:prstGeom prst="rect">
            <a:avLst/>
          </a:prstGeom>
          <a:noFill/>
        </p:spPr>
        <p:txBody>
          <a:bodyPr wrap="square" lIns="0" rIns="0" tIns="0" bIns="0" anchor="t">
            <a:spAutoFit/>
          </a:bodyPr>
          <a:lstStyle/>
          <a:p>
            <a:pPr algn="l">
              <a:lnSpc>
                <a:spcPct val="125000"/>
              </a:lnSpc>
            </a:pPr>
            <a:r>
              <a:rPr sz="900" b="0">
                <a:solidFill>
                  <a:srgbClr val="7B908C"/>
                </a:solidFill>
                <a:latin typeface="Segoe UI"/>
              </a:rPr>
              <a:t>Screens inventory for eligibility</a:t>
            </a:r>
          </a:p>
          <a:p>
            <a:pPr algn="l">
              <a:lnSpc>
                <a:spcPct val="125000"/>
              </a:lnSpc>
            </a:pPr>
            <a:r>
              <a:rPr sz="900" b="0">
                <a:solidFill>
                  <a:srgbClr val="7B908C"/>
                </a:solidFill>
                <a:latin typeface="Segoe UI"/>
              </a:rPr>
              <a:t>under the annex's schedule</a:t>
            </a:r>
          </a:p>
        </p:txBody>
      </p:sp>
      <p:sp>
        <p:nvSpPr>
          <p:cNvPr id="49" name="TextBox 48"/>
          <p:cNvSpPr txBox="1"/>
          <p:nvPr/>
        </p:nvSpPr>
        <p:spPr>
          <a:xfrm>
            <a:off x="8274100" y="3877056"/>
            <a:ext cx="146304" cy="182880"/>
          </a:xfrm>
          <a:prstGeom prst="rect">
            <a:avLst/>
          </a:prstGeom>
          <a:noFill/>
        </p:spPr>
        <p:txBody>
          <a:bodyPr wrap="square" lIns="0" rIns="0" tIns="0" bIns="0" anchor="t">
            <a:spAutoFit/>
          </a:bodyPr>
          <a:lstStyle/>
          <a:p>
            <a:pPr algn="l">
              <a:lnSpc>
                <a:spcPct val="115000"/>
              </a:lnSpc>
            </a:pPr>
            <a:r>
              <a:rPr sz="950" b="0">
                <a:solidFill>
                  <a:srgbClr val="A9BCB8"/>
                </a:solidFill>
                <a:latin typeface="Consolas"/>
              </a:rPr>
              <a:t>›</a:t>
            </a:r>
          </a:p>
        </p:txBody>
      </p:sp>
      <p:sp>
        <p:nvSpPr>
          <p:cNvPr id="50" name="TextBox 49"/>
          <p:cNvSpPr txBox="1"/>
          <p:nvPr/>
        </p:nvSpPr>
        <p:spPr>
          <a:xfrm>
            <a:off x="8475268" y="3877056"/>
            <a:ext cx="2948330" cy="384048"/>
          </a:xfrm>
          <a:prstGeom prst="rect">
            <a:avLst/>
          </a:prstGeom>
          <a:noFill/>
        </p:spPr>
        <p:txBody>
          <a:bodyPr wrap="square" lIns="0" rIns="0" tIns="0" bIns="0" anchor="t">
            <a:spAutoFit/>
          </a:bodyPr>
          <a:lstStyle/>
          <a:p>
            <a:pPr algn="l">
              <a:lnSpc>
                <a:spcPct val="125000"/>
              </a:lnSpc>
            </a:pPr>
            <a:r>
              <a:rPr sz="900" b="0">
                <a:solidFill>
                  <a:srgbClr val="7B908C"/>
                </a:solidFill>
                <a:latin typeface="Segoe UI"/>
              </a:rPr>
              <a:t>Prices haircuts, FX and funding cost</a:t>
            </a:r>
          </a:p>
          <a:p>
            <a:pPr algn="l">
              <a:lnSpc>
                <a:spcPct val="125000"/>
              </a:lnSpc>
            </a:pPr>
            <a:r>
              <a:rPr sz="900" b="0">
                <a:solidFill>
                  <a:srgbClr val="7B908C"/>
                </a:solidFill>
                <a:latin typeface="Segoe UI"/>
              </a:rPr>
              <a:t>per unit actually delivered</a:t>
            </a:r>
          </a:p>
        </p:txBody>
      </p:sp>
      <p:sp>
        <p:nvSpPr>
          <p:cNvPr id="51" name="TextBox 50"/>
          <p:cNvSpPr txBox="1"/>
          <p:nvPr/>
        </p:nvSpPr>
        <p:spPr>
          <a:xfrm>
            <a:off x="8274100" y="4352544"/>
            <a:ext cx="146304" cy="182880"/>
          </a:xfrm>
          <a:prstGeom prst="rect">
            <a:avLst/>
          </a:prstGeom>
          <a:noFill/>
        </p:spPr>
        <p:txBody>
          <a:bodyPr wrap="square" lIns="0" rIns="0" tIns="0" bIns="0" anchor="t">
            <a:spAutoFit/>
          </a:bodyPr>
          <a:lstStyle/>
          <a:p>
            <a:pPr algn="l">
              <a:lnSpc>
                <a:spcPct val="115000"/>
              </a:lnSpc>
            </a:pPr>
            <a:r>
              <a:rPr sz="950" b="0">
                <a:solidFill>
                  <a:srgbClr val="A9BCB8"/>
                </a:solidFill>
                <a:latin typeface="Consolas"/>
              </a:rPr>
              <a:t>›</a:t>
            </a:r>
          </a:p>
        </p:txBody>
      </p:sp>
      <p:sp>
        <p:nvSpPr>
          <p:cNvPr id="52" name="TextBox 51"/>
          <p:cNvSpPr txBox="1"/>
          <p:nvPr/>
        </p:nvSpPr>
        <p:spPr>
          <a:xfrm>
            <a:off x="8475268" y="4352544"/>
            <a:ext cx="2948330" cy="384048"/>
          </a:xfrm>
          <a:prstGeom prst="rect">
            <a:avLst/>
          </a:prstGeom>
          <a:noFill/>
        </p:spPr>
        <p:txBody>
          <a:bodyPr wrap="square" lIns="0" rIns="0" tIns="0" bIns="0" anchor="t">
            <a:spAutoFit/>
          </a:bodyPr>
          <a:lstStyle/>
          <a:p>
            <a:pPr algn="l">
              <a:lnSpc>
                <a:spcPct val="125000"/>
              </a:lnSpc>
            </a:pPr>
            <a:r>
              <a:rPr sz="900" b="0">
                <a:solidFill>
                  <a:srgbClr val="7B908C"/>
                </a:solidFill>
                <a:latin typeface="Segoe UI"/>
              </a:rPr>
              <a:t>Solves for cheapest feasible mix</a:t>
            </a:r>
          </a:p>
          <a:p>
            <a:pPr algn="l">
              <a:lnSpc>
                <a:spcPct val="125000"/>
              </a:lnSpc>
            </a:pPr>
            <a:r>
              <a:rPr sz="900" b="0">
                <a:solidFill>
                  <a:srgbClr val="7B908C"/>
                </a:solidFill>
                <a:latin typeface="Segoe UI"/>
              </a:rPr>
              <a:t>Renders the settlement instruction</a:t>
            </a:r>
          </a:p>
        </p:txBody>
      </p:sp>
      <p:sp>
        <p:nvSpPr>
          <p:cNvPr id="53" name="Rectangle 52"/>
          <p:cNvSpPr/>
          <p:nvPr/>
        </p:nvSpPr>
        <p:spPr>
          <a:xfrm>
            <a:off x="8274100" y="4901184"/>
            <a:ext cx="3149498"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74100" y="5047488"/>
            <a:ext cx="3149498" cy="201168"/>
          </a:xfrm>
          <a:prstGeom prst="rect">
            <a:avLst/>
          </a:prstGeom>
          <a:noFill/>
        </p:spPr>
        <p:txBody>
          <a:bodyPr wrap="square" lIns="0" rIns="0" tIns="0" bIns="0" anchor="t">
            <a:spAutoFit/>
          </a:bodyPr>
          <a:lstStyle/>
          <a:p>
            <a:pPr algn="l">
              <a:lnSpc>
                <a:spcPct val="115000"/>
              </a:lnSpc>
            </a:pPr>
            <a:r>
              <a:rPr sz="900" b="0">
                <a:solidFill>
                  <a:srgbClr val="A9BCB8"/>
                </a:solidFill>
                <a:latin typeface="Consolas"/>
              </a:rPr>
              <a:t>OUT →  the collateral decision</a:t>
            </a:r>
          </a:p>
        </p:txBody>
      </p:sp>
      <p:sp>
        <p:nvSpPr>
          <p:cNvPr id="55" name="Down Arrow 54"/>
          <p:cNvSpPr/>
          <p:nvPr/>
        </p:nvSpPr>
        <p:spPr>
          <a:xfrm>
            <a:off x="9784842" y="5394960"/>
            <a:ext cx="128016" cy="237744"/>
          </a:xfrm>
          <a:prstGeom prst="downArrow">
            <a:avLst/>
          </a:prstGeom>
          <a:solidFill>
            <a:srgbClr val="2F8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66928" y="5724144"/>
            <a:ext cx="11057839" cy="530352"/>
          </a:xfrm>
          <a:prstGeom prst="rect">
            <a:avLst/>
          </a:prstGeom>
          <a:solidFill>
            <a:srgbClr val="182321"/>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86384" y="5852160"/>
            <a:ext cx="5120640" cy="219456"/>
          </a:xfrm>
          <a:prstGeom prst="rect">
            <a:avLst/>
          </a:prstGeom>
          <a:noFill/>
        </p:spPr>
        <p:txBody>
          <a:bodyPr wrap="square" lIns="0" rIns="0" tIns="0" bIns="0" anchor="t">
            <a:spAutoFit/>
          </a:bodyPr>
          <a:lstStyle/>
          <a:p>
            <a:pPr algn="l">
              <a:lnSpc>
                <a:spcPct val="115000"/>
              </a:lnSpc>
            </a:pPr>
            <a:r>
              <a:rPr sz="1100" b="1" spc="140">
                <a:solidFill>
                  <a:srgbClr val="4FC3AE"/>
                </a:solidFill>
                <a:latin typeface="Consolas"/>
              </a:rPr>
              <a:t>DECISION RECORD  →  AUDIT CHAIN</a:t>
            </a:r>
          </a:p>
        </p:txBody>
      </p:sp>
      <p:sp>
        <p:nvSpPr>
          <p:cNvPr id="58" name="TextBox 57"/>
          <p:cNvSpPr txBox="1"/>
          <p:nvPr/>
        </p:nvSpPr>
        <p:spPr>
          <a:xfrm>
            <a:off x="5961888" y="5870448"/>
            <a:ext cx="5486400" cy="219456"/>
          </a:xfrm>
          <a:prstGeom prst="rect">
            <a:avLst/>
          </a:prstGeom>
          <a:noFill/>
        </p:spPr>
        <p:txBody>
          <a:bodyPr wrap="square" lIns="0" rIns="0" tIns="0" bIns="0" anchor="t">
            <a:spAutoFit/>
          </a:bodyPr>
          <a:lstStyle/>
          <a:p>
            <a:pPr algn="r">
              <a:lnSpc>
                <a:spcPct val="115000"/>
              </a:lnSpc>
            </a:pPr>
            <a:r>
              <a:rPr sz="950" b="0">
                <a:solidFill>
                  <a:srgbClr val="7B908C"/>
                </a:solidFill>
                <a:latin typeface="Segoe UI"/>
              </a:rPr>
              <a:t>Each agent's request and each engine's result is recorded separately.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201168"/>
          </a:xfrm>
          <a:prstGeom prst="rect">
            <a:avLst/>
          </a:prstGeom>
          <a:noFill/>
        </p:spPr>
        <p:txBody>
          <a:bodyPr wrap="square" lIns="0" rIns="0" tIns="0" bIns="0" anchor="t">
            <a:spAutoFit/>
          </a:bodyPr>
          <a:lstStyle/>
          <a:p>
            <a:pPr algn="l">
              <a:lnSpc>
                <a:spcPct val="115000"/>
              </a:lnSpc>
            </a:pPr>
            <a:r>
              <a:rPr sz="1050" b="1" spc="220">
                <a:solidFill>
                  <a:srgbClr val="556764"/>
                </a:solidFill>
                <a:latin typeface="Consolas"/>
              </a:rPr>
              <a:t>THE WORKFLOW</a:t>
            </a:r>
          </a:p>
        </p:txBody>
      </p:sp>
      <p:sp>
        <p:nvSpPr>
          <p:cNvPr id="4" name="TextBox 3"/>
          <p:cNvSpPr txBox="1"/>
          <p:nvPr/>
        </p:nvSpPr>
        <p:spPr>
          <a:xfrm>
            <a:off x="566928" y="621792"/>
            <a:ext cx="11057839" cy="914400"/>
          </a:xfrm>
          <a:prstGeom prst="rect">
            <a:avLst/>
          </a:prstGeom>
          <a:noFill/>
        </p:spPr>
        <p:txBody>
          <a:bodyPr wrap="square" lIns="0" rIns="0" tIns="0" bIns="0" anchor="t">
            <a:spAutoFit/>
          </a:bodyPr>
          <a:lstStyle/>
          <a:p>
            <a:pPr algn="l">
              <a:lnSpc>
                <a:spcPct val="106000"/>
              </a:lnSpc>
            </a:pPr>
            <a:r>
              <a:rPr sz="2900" b="1">
                <a:solidFill>
                  <a:srgbClr val="E6EDEB"/>
                </a:solidFill>
                <a:latin typeface="Cambria"/>
              </a:rPr>
              <a:t>One decision pipeline, from contract to collateral.</a:t>
            </a:r>
          </a:p>
        </p:txBody>
      </p:sp>
      <p:sp>
        <p:nvSpPr>
          <p:cNvPr id="5" name="Rectangle 4"/>
          <p:cNvSpPr/>
          <p:nvPr/>
        </p:nvSpPr>
        <p:spPr>
          <a:xfrm>
            <a:off x="566928" y="6336792"/>
            <a:ext cx="11057839"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28232"/>
            <a:ext cx="6400800" cy="219456"/>
          </a:xfrm>
          <a:prstGeom prst="rect">
            <a:avLst/>
          </a:prstGeom>
          <a:noFill/>
        </p:spPr>
        <p:txBody>
          <a:bodyPr wrap="square" lIns="0" rIns="0" tIns="0" bIns="0" anchor="t">
            <a:spAutoFit/>
          </a:bodyPr>
          <a:lstStyle/>
          <a:p>
            <a:pPr algn="l">
              <a:lnSpc>
                <a:spcPct val="115000"/>
              </a:lnSpc>
            </a:pPr>
            <a:r>
              <a:rPr sz="850" b="0" spc="200">
                <a:solidFill>
                  <a:srgbClr val="556764"/>
                </a:solidFill>
                <a:latin typeface="Consolas"/>
              </a:rPr>
              <a:t>AETHER-DERIVATIVES</a:t>
            </a:r>
          </a:p>
        </p:txBody>
      </p:sp>
      <p:sp>
        <p:nvSpPr>
          <p:cNvPr id="7" name="TextBox 6"/>
          <p:cNvSpPr txBox="1"/>
          <p:nvPr/>
        </p:nvSpPr>
        <p:spPr>
          <a:xfrm>
            <a:off x="11076127" y="6428232"/>
            <a:ext cx="548640" cy="219456"/>
          </a:xfrm>
          <a:prstGeom prst="rect">
            <a:avLst/>
          </a:prstGeom>
          <a:noFill/>
        </p:spPr>
        <p:txBody>
          <a:bodyPr wrap="square" lIns="0" rIns="0" tIns="0" bIns="0" anchor="t">
            <a:spAutoFit/>
          </a:bodyPr>
          <a:lstStyle/>
          <a:p>
            <a:pPr algn="r">
              <a:lnSpc>
                <a:spcPct val="115000"/>
              </a:lnSpc>
            </a:pPr>
            <a:r>
              <a:rPr sz="850" b="0">
                <a:solidFill>
                  <a:srgbClr val="556764"/>
                </a:solidFill>
                <a:latin typeface="Consolas"/>
              </a:rPr>
              <a:t>06</a:t>
            </a:r>
          </a:p>
        </p:txBody>
      </p:sp>
      <p:sp>
        <p:nvSpPr>
          <p:cNvPr id="8" name="Rectangle 7"/>
          <p:cNvSpPr/>
          <p:nvPr/>
        </p:nvSpPr>
        <p:spPr>
          <a:xfrm>
            <a:off x="566928" y="1517904"/>
            <a:ext cx="5806440" cy="502920"/>
          </a:xfrm>
          <a:prstGeom prst="rect">
            <a:avLst/>
          </a:prstGeom>
          <a:solidFill>
            <a:srgbClr val="182321"/>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600200"/>
            <a:ext cx="3291840" cy="201168"/>
          </a:xfrm>
          <a:prstGeom prst="rect">
            <a:avLst/>
          </a:prstGeom>
          <a:noFill/>
        </p:spPr>
        <p:txBody>
          <a:bodyPr wrap="square" lIns="0" rIns="0" tIns="0" bIns="0" anchor="t">
            <a:spAutoFit/>
          </a:bodyPr>
          <a:lstStyle/>
          <a:p>
            <a:pPr algn="l">
              <a:lnSpc>
                <a:spcPct val="115000"/>
              </a:lnSpc>
            </a:pPr>
            <a:r>
              <a:rPr sz="1000" b="1" spc="120">
                <a:solidFill>
                  <a:srgbClr val="A9BCB8"/>
                </a:solidFill>
                <a:latin typeface="Consolas"/>
              </a:rPr>
              <a:t>LEGAL DOCUMENT</a:t>
            </a:r>
          </a:p>
        </p:txBody>
      </p:sp>
      <p:sp>
        <p:nvSpPr>
          <p:cNvPr id="10" name="TextBox 9"/>
          <p:cNvSpPr txBox="1"/>
          <p:nvPr/>
        </p:nvSpPr>
        <p:spPr>
          <a:xfrm>
            <a:off x="749808" y="1801368"/>
            <a:ext cx="5120640" cy="182880"/>
          </a:xfrm>
          <a:prstGeom prst="rect">
            <a:avLst/>
          </a:prstGeom>
          <a:noFill/>
        </p:spPr>
        <p:txBody>
          <a:bodyPr wrap="square" lIns="0" rIns="0" tIns="0" bIns="0" anchor="t">
            <a:spAutoFit/>
          </a:bodyPr>
          <a:lstStyle/>
          <a:p>
            <a:pPr algn="l">
              <a:lnSpc>
                <a:spcPct val="115000"/>
              </a:lnSpc>
            </a:pPr>
            <a:r>
              <a:rPr sz="850" b="0">
                <a:solidFill>
                  <a:srgbClr val="556764"/>
                </a:solidFill>
                <a:latin typeface="Segoe UI"/>
              </a:rPr>
              <a:t>ISDA Master Agreement + Credit Support Annex</a:t>
            </a:r>
          </a:p>
        </p:txBody>
      </p:sp>
      <p:sp>
        <p:nvSpPr>
          <p:cNvPr id="11" name="Down Arrow 10"/>
          <p:cNvSpPr/>
          <p:nvPr/>
        </p:nvSpPr>
        <p:spPr>
          <a:xfrm>
            <a:off x="859536" y="2043684"/>
            <a:ext cx="91440" cy="118872"/>
          </a:xfrm>
          <a:prstGeom prst="downArrow">
            <a:avLst/>
          </a:prstGeom>
          <a:solidFill>
            <a:srgbClr val="2F8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121408"/>
            <a:ext cx="5806440" cy="502920"/>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203703"/>
            <a:ext cx="3291840" cy="201168"/>
          </a:xfrm>
          <a:prstGeom prst="rect">
            <a:avLst/>
          </a:prstGeom>
          <a:noFill/>
        </p:spPr>
        <p:txBody>
          <a:bodyPr wrap="square" lIns="0" rIns="0" tIns="0" bIns="0" anchor="t">
            <a:spAutoFit/>
          </a:bodyPr>
          <a:lstStyle/>
          <a:p>
            <a:pPr algn="l">
              <a:lnSpc>
                <a:spcPct val="115000"/>
              </a:lnSpc>
            </a:pPr>
            <a:r>
              <a:rPr sz="1000" b="1" spc="120">
                <a:solidFill>
                  <a:srgbClr val="4FC3AE"/>
                </a:solidFill>
                <a:latin typeface="Consolas"/>
              </a:rPr>
              <a:t>LEGAL-CLAUSE AGENT</a:t>
            </a:r>
          </a:p>
        </p:txBody>
      </p:sp>
      <p:sp>
        <p:nvSpPr>
          <p:cNvPr id="14" name="TextBox 13"/>
          <p:cNvSpPr txBox="1"/>
          <p:nvPr/>
        </p:nvSpPr>
        <p:spPr>
          <a:xfrm>
            <a:off x="749808" y="2404872"/>
            <a:ext cx="5120640" cy="182880"/>
          </a:xfrm>
          <a:prstGeom prst="rect">
            <a:avLst/>
          </a:prstGeom>
          <a:noFill/>
        </p:spPr>
        <p:txBody>
          <a:bodyPr wrap="square" lIns="0" rIns="0" tIns="0" bIns="0" anchor="t">
            <a:spAutoFit/>
          </a:bodyPr>
          <a:lstStyle/>
          <a:p>
            <a:pPr algn="l">
              <a:lnSpc>
                <a:spcPct val="115000"/>
              </a:lnSpc>
            </a:pPr>
            <a:r>
              <a:rPr sz="850" b="0">
                <a:solidFill>
                  <a:srgbClr val="556764"/>
                </a:solidFill>
                <a:latin typeface="Segoe UI"/>
              </a:rPr>
              <a:t>reads, extracts, cites, scores confidence</a:t>
            </a:r>
          </a:p>
        </p:txBody>
      </p:sp>
      <p:sp>
        <p:nvSpPr>
          <p:cNvPr id="15" name="Rectangle 14"/>
          <p:cNvSpPr/>
          <p:nvPr/>
        </p:nvSpPr>
        <p:spPr>
          <a:xfrm>
            <a:off x="5522976" y="2258568"/>
            <a:ext cx="544068" cy="219456"/>
          </a:xfrm>
          <a:prstGeom prst="rect">
            <a:avLst/>
          </a:prstGeom>
          <a:solidFill>
            <a:srgbClr val="142B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22976" y="2299715"/>
            <a:ext cx="544068" cy="182880"/>
          </a:xfrm>
          <a:prstGeom prst="rect">
            <a:avLst/>
          </a:prstGeom>
          <a:noFill/>
        </p:spPr>
        <p:txBody>
          <a:bodyPr wrap="square" lIns="0" rIns="0" tIns="0" bIns="0" anchor="t">
            <a:spAutoFit/>
          </a:bodyPr>
          <a:lstStyle/>
          <a:p>
            <a:pPr algn="ctr">
              <a:lnSpc>
                <a:spcPct val="115000"/>
              </a:lnSpc>
            </a:pPr>
            <a:r>
              <a:rPr sz="850" b="1" spc="120">
                <a:solidFill>
                  <a:srgbClr val="4FC3AE"/>
                </a:solidFill>
                <a:latin typeface="Consolas"/>
              </a:rPr>
              <a:t>AGENT</a:t>
            </a:r>
          </a:p>
        </p:txBody>
      </p:sp>
      <p:sp>
        <p:nvSpPr>
          <p:cNvPr id="17" name="Down Arrow 16"/>
          <p:cNvSpPr/>
          <p:nvPr/>
        </p:nvSpPr>
        <p:spPr>
          <a:xfrm>
            <a:off x="859536" y="2647187"/>
            <a:ext cx="91440" cy="118872"/>
          </a:xfrm>
          <a:prstGeom prst="downArrow">
            <a:avLst/>
          </a:prstGeom>
          <a:solidFill>
            <a:srgbClr val="2F8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724912"/>
            <a:ext cx="5806440" cy="502920"/>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2807208"/>
            <a:ext cx="3291840" cy="201168"/>
          </a:xfrm>
          <a:prstGeom prst="rect">
            <a:avLst/>
          </a:prstGeom>
          <a:noFill/>
        </p:spPr>
        <p:txBody>
          <a:bodyPr wrap="square" lIns="0" rIns="0" tIns="0" bIns="0" anchor="t">
            <a:spAutoFit/>
          </a:bodyPr>
          <a:lstStyle/>
          <a:p>
            <a:pPr algn="l">
              <a:lnSpc>
                <a:spcPct val="115000"/>
              </a:lnSpc>
            </a:pPr>
            <a:r>
              <a:rPr sz="1000" b="1" spc="120">
                <a:solidFill>
                  <a:srgbClr val="E2687F"/>
                </a:solidFill>
                <a:latin typeface="Consolas"/>
              </a:rPr>
              <a:t>HUMAN REVIEW</a:t>
            </a:r>
          </a:p>
        </p:txBody>
      </p:sp>
      <p:sp>
        <p:nvSpPr>
          <p:cNvPr id="20" name="TextBox 19"/>
          <p:cNvSpPr txBox="1"/>
          <p:nvPr/>
        </p:nvSpPr>
        <p:spPr>
          <a:xfrm>
            <a:off x="749808" y="3008376"/>
            <a:ext cx="5120640" cy="182880"/>
          </a:xfrm>
          <a:prstGeom prst="rect">
            <a:avLst/>
          </a:prstGeom>
          <a:noFill/>
        </p:spPr>
        <p:txBody>
          <a:bodyPr wrap="square" lIns="0" rIns="0" tIns="0" bIns="0" anchor="t">
            <a:spAutoFit/>
          </a:bodyPr>
          <a:lstStyle/>
          <a:p>
            <a:pPr algn="l">
              <a:lnSpc>
                <a:spcPct val="115000"/>
              </a:lnSpc>
            </a:pPr>
            <a:r>
              <a:rPr sz="850" b="0">
                <a:solidFill>
                  <a:srgbClr val="556764"/>
                </a:solidFill>
                <a:latin typeface="Segoe UI"/>
              </a:rPr>
              <a:t>only where the contract is genuinely ambiguous</a:t>
            </a:r>
          </a:p>
        </p:txBody>
      </p:sp>
      <p:sp>
        <p:nvSpPr>
          <p:cNvPr id="21" name="Rectangle 20"/>
          <p:cNvSpPr/>
          <p:nvPr/>
        </p:nvSpPr>
        <p:spPr>
          <a:xfrm>
            <a:off x="5522976" y="2862072"/>
            <a:ext cx="544068" cy="219456"/>
          </a:xfrm>
          <a:prstGeom prst="rect">
            <a:avLst/>
          </a:prstGeom>
          <a:solidFill>
            <a:srgbClr val="2E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22976" y="2903220"/>
            <a:ext cx="544068" cy="182880"/>
          </a:xfrm>
          <a:prstGeom prst="rect">
            <a:avLst/>
          </a:prstGeom>
          <a:noFill/>
        </p:spPr>
        <p:txBody>
          <a:bodyPr wrap="square" lIns="0" rIns="0" tIns="0" bIns="0" anchor="t">
            <a:spAutoFit/>
          </a:bodyPr>
          <a:lstStyle/>
          <a:p>
            <a:pPr algn="ctr">
              <a:lnSpc>
                <a:spcPct val="115000"/>
              </a:lnSpc>
            </a:pPr>
            <a:r>
              <a:rPr sz="850" b="1" spc="120">
                <a:solidFill>
                  <a:srgbClr val="E2687F"/>
                </a:solidFill>
                <a:latin typeface="Consolas"/>
              </a:rPr>
              <a:t>HUMAN</a:t>
            </a:r>
          </a:p>
        </p:txBody>
      </p:sp>
      <p:sp>
        <p:nvSpPr>
          <p:cNvPr id="23" name="Down Arrow 22"/>
          <p:cNvSpPr/>
          <p:nvPr/>
        </p:nvSpPr>
        <p:spPr>
          <a:xfrm>
            <a:off x="859536" y="3250691"/>
            <a:ext cx="91440" cy="118872"/>
          </a:xfrm>
          <a:prstGeom prst="downArrow">
            <a:avLst/>
          </a:prstGeom>
          <a:solidFill>
            <a:srgbClr val="2F8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328416"/>
            <a:ext cx="5806440" cy="502920"/>
          </a:xfrm>
          <a:prstGeom prst="rect">
            <a:avLst/>
          </a:prstGeom>
          <a:solidFill>
            <a:srgbClr val="182321"/>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3410712"/>
            <a:ext cx="3291840" cy="201168"/>
          </a:xfrm>
          <a:prstGeom prst="rect">
            <a:avLst/>
          </a:prstGeom>
          <a:noFill/>
        </p:spPr>
        <p:txBody>
          <a:bodyPr wrap="square" lIns="0" rIns="0" tIns="0" bIns="0" anchor="t">
            <a:spAutoFit/>
          </a:bodyPr>
          <a:lstStyle/>
          <a:p>
            <a:pPr algn="l">
              <a:lnSpc>
                <a:spcPct val="115000"/>
              </a:lnSpc>
            </a:pPr>
            <a:r>
              <a:rPr sz="1000" b="1" spc="120">
                <a:solidFill>
                  <a:srgbClr val="A9BCB8"/>
                </a:solidFill>
                <a:latin typeface="Consolas"/>
              </a:rPr>
              <a:t>STRUCTURED TERMS</a:t>
            </a:r>
          </a:p>
        </p:txBody>
      </p:sp>
      <p:sp>
        <p:nvSpPr>
          <p:cNvPr id="26" name="TextBox 25"/>
          <p:cNvSpPr txBox="1"/>
          <p:nvPr/>
        </p:nvSpPr>
        <p:spPr>
          <a:xfrm>
            <a:off x="749808" y="3611880"/>
            <a:ext cx="5120640" cy="182880"/>
          </a:xfrm>
          <a:prstGeom prst="rect">
            <a:avLst/>
          </a:prstGeom>
          <a:noFill/>
        </p:spPr>
        <p:txBody>
          <a:bodyPr wrap="square" lIns="0" rIns="0" tIns="0" bIns="0" anchor="t">
            <a:spAutoFit/>
          </a:bodyPr>
          <a:lstStyle/>
          <a:p>
            <a:pPr algn="l">
              <a:lnSpc>
                <a:spcPct val="115000"/>
              </a:lnSpc>
            </a:pPr>
            <a:r>
              <a:rPr sz="850" b="0">
                <a:solidFill>
                  <a:srgbClr val="556764"/>
                </a:solidFill>
                <a:latin typeface="Segoe UI"/>
              </a:rPr>
              <a:t>frozen — this version governs the calculation</a:t>
            </a:r>
          </a:p>
        </p:txBody>
      </p:sp>
      <p:sp>
        <p:nvSpPr>
          <p:cNvPr id="27" name="Down Arrow 26"/>
          <p:cNvSpPr/>
          <p:nvPr/>
        </p:nvSpPr>
        <p:spPr>
          <a:xfrm>
            <a:off x="859536" y="3854196"/>
            <a:ext cx="91440" cy="118872"/>
          </a:xfrm>
          <a:prstGeom prst="downArrow">
            <a:avLst/>
          </a:prstGeom>
          <a:solidFill>
            <a:srgbClr val="2F8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6928" y="3931920"/>
            <a:ext cx="5806440" cy="502920"/>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 y="4014215"/>
            <a:ext cx="3291840" cy="201168"/>
          </a:xfrm>
          <a:prstGeom prst="rect">
            <a:avLst/>
          </a:prstGeom>
          <a:noFill/>
        </p:spPr>
        <p:txBody>
          <a:bodyPr wrap="square" lIns="0" rIns="0" tIns="0" bIns="0" anchor="t">
            <a:spAutoFit/>
          </a:bodyPr>
          <a:lstStyle/>
          <a:p>
            <a:pPr algn="l">
              <a:lnSpc>
                <a:spcPct val="115000"/>
              </a:lnSpc>
            </a:pPr>
            <a:r>
              <a:rPr sz="1000" b="1" spc="120">
                <a:solidFill>
                  <a:srgbClr val="E0A33C"/>
                </a:solidFill>
                <a:latin typeface="Consolas"/>
              </a:rPr>
              <a:t>RISK / MARGIN ENGINE</a:t>
            </a:r>
          </a:p>
        </p:txBody>
      </p:sp>
      <p:sp>
        <p:nvSpPr>
          <p:cNvPr id="30" name="TextBox 29"/>
          <p:cNvSpPr txBox="1"/>
          <p:nvPr/>
        </p:nvSpPr>
        <p:spPr>
          <a:xfrm>
            <a:off x="749808" y="4215383"/>
            <a:ext cx="5120640" cy="182880"/>
          </a:xfrm>
          <a:prstGeom prst="rect">
            <a:avLst/>
          </a:prstGeom>
          <a:noFill/>
        </p:spPr>
        <p:txBody>
          <a:bodyPr wrap="square" lIns="0" rIns="0" tIns="0" bIns="0" anchor="t">
            <a:spAutoFit/>
          </a:bodyPr>
          <a:lstStyle/>
          <a:p>
            <a:pPr algn="l">
              <a:lnSpc>
                <a:spcPct val="115000"/>
              </a:lnSpc>
            </a:pPr>
            <a:r>
              <a:rPr sz="850" b="0">
                <a:solidFill>
                  <a:srgbClr val="556764"/>
                </a:solidFill>
                <a:latin typeface="Segoe UI"/>
              </a:rPr>
              <a:t>exposure, credit support amount, MTA, rounding</a:t>
            </a:r>
          </a:p>
        </p:txBody>
      </p:sp>
      <p:sp>
        <p:nvSpPr>
          <p:cNvPr id="31" name="Rectangle 30"/>
          <p:cNvSpPr/>
          <p:nvPr/>
        </p:nvSpPr>
        <p:spPr>
          <a:xfrm>
            <a:off x="5522976" y="4069080"/>
            <a:ext cx="612647" cy="219456"/>
          </a:xfrm>
          <a:prstGeom prst="rect">
            <a:avLst/>
          </a:prstGeom>
          <a:solidFill>
            <a:srgbClr val="2E2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522976" y="4110228"/>
            <a:ext cx="612647" cy="182880"/>
          </a:xfrm>
          <a:prstGeom prst="rect">
            <a:avLst/>
          </a:prstGeom>
          <a:noFill/>
        </p:spPr>
        <p:txBody>
          <a:bodyPr wrap="square" lIns="0" rIns="0" tIns="0" bIns="0" anchor="t">
            <a:spAutoFit/>
          </a:bodyPr>
          <a:lstStyle/>
          <a:p>
            <a:pPr algn="ctr">
              <a:lnSpc>
                <a:spcPct val="115000"/>
              </a:lnSpc>
            </a:pPr>
            <a:r>
              <a:rPr sz="850" b="1" spc="120">
                <a:solidFill>
                  <a:srgbClr val="E0A33C"/>
                </a:solidFill>
                <a:latin typeface="Consolas"/>
              </a:rPr>
              <a:t>ENGINE</a:t>
            </a:r>
          </a:p>
        </p:txBody>
      </p:sp>
      <p:sp>
        <p:nvSpPr>
          <p:cNvPr id="33" name="Down Arrow 32"/>
          <p:cNvSpPr/>
          <p:nvPr/>
        </p:nvSpPr>
        <p:spPr>
          <a:xfrm>
            <a:off x="859536" y="4457700"/>
            <a:ext cx="91440" cy="118872"/>
          </a:xfrm>
          <a:prstGeom prst="downArrow">
            <a:avLst/>
          </a:prstGeom>
          <a:solidFill>
            <a:srgbClr val="2F8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4535424"/>
            <a:ext cx="5806440" cy="502920"/>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9808" y="4617720"/>
            <a:ext cx="3291840" cy="201168"/>
          </a:xfrm>
          <a:prstGeom prst="rect">
            <a:avLst/>
          </a:prstGeom>
          <a:noFill/>
        </p:spPr>
        <p:txBody>
          <a:bodyPr wrap="square" lIns="0" rIns="0" tIns="0" bIns="0" anchor="t">
            <a:spAutoFit/>
          </a:bodyPr>
          <a:lstStyle/>
          <a:p>
            <a:pPr algn="l">
              <a:lnSpc>
                <a:spcPct val="115000"/>
              </a:lnSpc>
            </a:pPr>
            <a:r>
              <a:rPr sz="1000" b="1" spc="120">
                <a:solidFill>
                  <a:srgbClr val="E0A33C"/>
                </a:solidFill>
                <a:latin typeface="Consolas"/>
              </a:rPr>
              <a:t>COLLATERAL OPTIMISER</a:t>
            </a:r>
          </a:p>
        </p:txBody>
      </p:sp>
      <p:sp>
        <p:nvSpPr>
          <p:cNvPr id="36" name="TextBox 35"/>
          <p:cNvSpPr txBox="1"/>
          <p:nvPr/>
        </p:nvSpPr>
        <p:spPr>
          <a:xfrm>
            <a:off x="749808" y="4818888"/>
            <a:ext cx="5120640" cy="182880"/>
          </a:xfrm>
          <a:prstGeom prst="rect">
            <a:avLst/>
          </a:prstGeom>
          <a:noFill/>
        </p:spPr>
        <p:txBody>
          <a:bodyPr wrap="square" lIns="0" rIns="0" tIns="0" bIns="0" anchor="t">
            <a:spAutoFit/>
          </a:bodyPr>
          <a:lstStyle/>
          <a:p>
            <a:pPr algn="l">
              <a:lnSpc>
                <a:spcPct val="115000"/>
              </a:lnSpc>
            </a:pPr>
            <a:r>
              <a:rPr sz="850" b="0">
                <a:solidFill>
                  <a:srgbClr val="556764"/>
                </a:solidFill>
                <a:latin typeface="Segoe UI"/>
              </a:rPr>
              <a:t>cheapest feasible mix under every constraint</a:t>
            </a:r>
          </a:p>
        </p:txBody>
      </p:sp>
      <p:sp>
        <p:nvSpPr>
          <p:cNvPr id="37" name="Rectangle 36"/>
          <p:cNvSpPr/>
          <p:nvPr/>
        </p:nvSpPr>
        <p:spPr>
          <a:xfrm>
            <a:off x="5522976" y="4672584"/>
            <a:ext cx="612647" cy="219456"/>
          </a:xfrm>
          <a:prstGeom prst="rect">
            <a:avLst/>
          </a:prstGeom>
          <a:solidFill>
            <a:srgbClr val="2E2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522976" y="4713732"/>
            <a:ext cx="612647" cy="182880"/>
          </a:xfrm>
          <a:prstGeom prst="rect">
            <a:avLst/>
          </a:prstGeom>
          <a:noFill/>
        </p:spPr>
        <p:txBody>
          <a:bodyPr wrap="square" lIns="0" rIns="0" tIns="0" bIns="0" anchor="t">
            <a:spAutoFit/>
          </a:bodyPr>
          <a:lstStyle/>
          <a:p>
            <a:pPr algn="ctr">
              <a:lnSpc>
                <a:spcPct val="115000"/>
              </a:lnSpc>
            </a:pPr>
            <a:r>
              <a:rPr sz="850" b="1" spc="120">
                <a:solidFill>
                  <a:srgbClr val="E0A33C"/>
                </a:solidFill>
                <a:latin typeface="Consolas"/>
              </a:rPr>
              <a:t>ENGINE</a:t>
            </a:r>
          </a:p>
        </p:txBody>
      </p:sp>
      <p:sp>
        <p:nvSpPr>
          <p:cNvPr id="39" name="Down Arrow 38"/>
          <p:cNvSpPr/>
          <p:nvPr/>
        </p:nvSpPr>
        <p:spPr>
          <a:xfrm>
            <a:off x="859536" y="5061204"/>
            <a:ext cx="91440" cy="118872"/>
          </a:xfrm>
          <a:prstGeom prst="downArrow">
            <a:avLst/>
          </a:prstGeom>
          <a:solidFill>
            <a:srgbClr val="2F8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6928" y="5138928"/>
            <a:ext cx="5806440" cy="502920"/>
          </a:xfrm>
          <a:prstGeom prst="rect">
            <a:avLst/>
          </a:prstGeom>
          <a:solidFill>
            <a:srgbClr val="182321"/>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9808" y="5221224"/>
            <a:ext cx="3291840" cy="201168"/>
          </a:xfrm>
          <a:prstGeom prst="rect">
            <a:avLst/>
          </a:prstGeom>
          <a:noFill/>
        </p:spPr>
        <p:txBody>
          <a:bodyPr wrap="square" lIns="0" rIns="0" tIns="0" bIns="0" anchor="t">
            <a:spAutoFit/>
          </a:bodyPr>
          <a:lstStyle/>
          <a:p>
            <a:pPr algn="l">
              <a:lnSpc>
                <a:spcPct val="115000"/>
              </a:lnSpc>
            </a:pPr>
            <a:r>
              <a:rPr sz="1000" b="1" spc="120">
                <a:solidFill>
                  <a:srgbClr val="A9BCB8"/>
                </a:solidFill>
                <a:latin typeface="Consolas"/>
              </a:rPr>
              <a:t>SETTLEMENT INSTRUCTION</a:t>
            </a:r>
          </a:p>
        </p:txBody>
      </p:sp>
      <p:sp>
        <p:nvSpPr>
          <p:cNvPr id="42" name="TextBox 41"/>
          <p:cNvSpPr txBox="1"/>
          <p:nvPr/>
        </p:nvSpPr>
        <p:spPr>
          <a:xfrm>
            <a:off x="749808" y="5422392"/>
            <a:ext cx="5120640" cy="182880"/>
          </a:xfrm>
          <a:prstGeom prst="rect">
            <a:avLst/>
          </a:prstGeom>
          <a:noFill/>
        </p:spPr>
        <p:txBody>
          <a:bodyPr wrap="square" lIns="0" rIns="0" tIns="0" bIns="0" anchor="t">
            <a:spAutoFit/>
          </a:bodyPr>
          <a:lstStyle/>
          <a:p>
            <a:pPr algn="l">
              <a:lnSpc>
                <a:spcPct val="115000"/>
              </a:lnSpc>
            </a:pPr>
            <a:r>
              <a:rPr sz="850" b="0">
                <a:solidFill>
                  <a:srgbClr val="556764"/>
                </a:solidFill>
                <a:latin typeface="Segoe UI"/>
              </a:rPr>
              <a:t>structured message, pending human approval</a:t>
            </a:r>
          </a:p>
        </p:txBody>
      </p:sp>
      <p:sp>
        <p:nvSpPr>
          <p:cNvPr id="43" name="Down Arrow 42"/>
          <p:cNvSpPr/>
          <p:nvPr/>
        </p:nvSpPr>
        <p:spPr>
          <a:xfrm>
            <a:off x="859536" y="5664708"/>
            <a:ext cx="91440" cy="118872"/>
          </a:xfrm>
          <a:prstGeom prst="downArrow">
            <a:avLst/>
          </a:prstGeom>
          <a:solidFill>
            <a:srgbClr val="2F8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66928" y="5742432"/>
            <a:ext cx="5806440" cy="502920"/>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49808" y="5824728"/>
            <a:ext cx="3291840" cy="201168"/>
          </a:xfrm>
          <a:prstGeom prst="rect">
            <a:avLst/>
          </a:prstGeom>
          <a:noFill/>
        </p:spPr>
        <p:txBody>
          <a:bodyPr wrap="square" lIns="0" rIns="0" tIns="0" bIns="0" anchor="t">
            <a:spAutoFit/>
          </a:bodyPr>
          <a:lstStyle/>
          <a:p>
            <a:pPr algn="l">
              <a:lnSpc>
                <a:spcPct val="115000"/>
              </a:lnSpc>
            </a:pPr>
            <a:r>
              <a:rPr sz="1000" b="1" spc="120">
                <a:solidFill>
                  <a:srgbClr val="4FC3AE"/>
                </a:solidFill>
                <a:latin typeface="Consolas"/>
              </a:rPr>
              <a:t>AUDIT RECORD</a:t>
            </a:r>
          </a:p>
        </p:txBody>
      </p:sp>
      <p:sp>
        <p:nvSpPr>
          <p:cNvPr id="46" name="TextBox 45"/>
          <p:cNvSpPr txBox="1"/>
          <p:nvPr/>
        </p:nvSpPr>
        <p:spPr>
          <a:xfrm>
            <a:off x="749808" y="6025896"/>
            <a:ext cx="5120640" cy="182880"/>
          </a:xfrm>
          <a:prstGeom prst="rect">
            <a:avLst/>
          </a:prstGeom>
          <a:noFill/>
        </p:spPr>
        <p:txBody>
          <a:bodyPr wrap="square" lIns="0" rIns="0" tIns="0" bIns="0" anchor="t">
            <a:spAutoFit/>
          </a:bodyPr>
          <a:lstStyle/>
          <a:p>
            <a:pPr algn="l">
              <a:lnSpc>
                <a:spcPct val="115000"/>
              </a:lnSpc>
            </a:pPr>
            <a:r>
              <a:rPr sz="850" b="0">
                <a:solidFill>
                  <a:srgbClr val="556764"/>
                </a:solidFill>
                <a:latin typeface="Segoe UI"/>
              </a:rPr>
              <a:t>who decided what, on what basis, in what order</a:t>
            </a:r>
          </a:p>
        </p:txBody>
      </p:sp>
      <p:sp>
        <p:nvSpPr>
          <p:cNvPr id="47" name="Rectangle 46"/>
          <p:cNvSpPr/>
          <p:nvPr/>
        </p:nvSpPr>
        <p:spPr>
          <a:xfrm>
            <a:off x="5522976" y="5879592"/>
            <a:ext cx="544068" cy="219456"/>
          </a:xfrm>
          <a:prstGeom prst="rect">
            <a:avLst/>
          </a:prstGeom>
          <a:solidFill>
            <a:srgbClr val="142B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522976" y="5920740"/>
            <a:ext cx="544068" cy="182880"/>
          </a:xfrm>
          <a:prstGeom prst="rect">
            <a:avLst/>
          </a:prstGeom>
          <a:noFill/>
        </p:spPr>
        <p:txBody>
          <a:bodyPr wrap="square" lIns="0" rIns="0" tIns="0" bIns="0" anchor="t">
            <a:spAutoFit/>
          </a:bodyPr>
          <a:lstStyle/>
          <a:p>
            <a:pPr algn="ctr">
              <a:lnSpc>
                <a:spcPct val="115000"/>
              </a:lnSpc>
            </a:pPr>
            <a:r>
              <a:rPr sz="850" b="1" spc="120">
                <a:solidFill>
                  <a:srgbClr val="4FC3AE"/>
                </a:solidFill>
                <a:latin typeface="Consolas"/>
              </a:rPr>
              <a:t>CHAIN</a:t>
            </a:r>
          </a:p>
        </p:txBody>
      </p:sp>
      <p:sp>
        <p:nvSpPr>
          <p:cNvPr id="49" name="Rectangle 48"/>
          <p:cNvSpPr/>
          <p:nvPr/>
        </p:nvSpPr>
        <p:spPr>
          <a:xfrm>
            <a:off x="6784848" y="1517904"/>
            <a:ext cx="4855464" cy="2103120"/>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784848" y="1517904"/>
            <a:ext cx="32004" cy="2103120"/>
          </a:xfrm>
          <a:prstGeom prst="rect">
            <a:avLst/>
          </a:prstGeom>
          <a:solidFill>
            <a:srgbClr val="4FC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040880" y="1700784"/>
            <a:ext cx="4297680" cy="256032"/>
          </a:xfrm>
          <a:prstGeom prst="rect">
            <a:avLst/>
          </a:prstGeom>
          <a:noFill/>
        </p:spPr>
        <p:txBody>
          <a:bodyPr wrap="square" lIns="0" rIns="0" tIns="0" bIns="0" anchor="t">
            <a:spAutoFit/>
          </a:bodyPr>
          <a:lstStyle/>
          <a:p>
            <a:pPr algn="l">
              <a:lnSpc>
                <a:spcPct val="115000"/>
              </a:lnSpc>
            </a:pPr>
            <a:r>
              <a:rPr sz="1300" b="1">
                <a:solidFill>
                  <a:srgbClr val="E6EDEB"/>
                </a:solidFill>
                <a:latin typeface="Segoe UI"/>
              </a:rPr>
              <a:t>The rule the pipeline is built on</a:t>
            </a:r>
          </a:p>
        </p:txBody>
      </p:sp>
      <p:sp>
        <p:nvSpPr>
          <p:cNvPr id="52" name="TextBox 51"/>
          <p:cNvSpPr txBox="1"/>
          <p:nvPr/>
        </p:nvSpPr>
        <p:spPr>
          <a:xfrm>
            <a:off x="7040880" y="2048256"/>
            <a:ext cx="4343400" cy="914400"/>
          </a:xfrm>
          <a:prstGeom prst="rect">
            <a:avLst/>
          </a:prstGeom>
          <a:noFill/>
        </p:spPr>
        <p:txBody>
          <a:bodyPr wrap="square" lIns="0" rIns="0" tIns="0" bIns="0" anchor="t">
            <a:spAutoFit/>
          </a:bodyPr>
          <a:lstStyle/>
          <a:p>
            <a:pPr algn="l">
              <a:lnSpc>
                <a:spcPct val="142000"/>
              </a:lnSpc>
            </a:pPr>
            <a:r>
              <a:rPr sz="1100" b="0">
                <a:solidFill>
                  <a:srgbClr val="A9BCB8"/>
                </a:solidFill>
                <a:latin typeface="Segoe UI"/>
              </a:rPr>
              <a:t>A contractual value crosses from the model into the engine exactly once — through a validated schema, carrying a quote from the source document, past a human when confidence is low.</a:t>
            </a:r>
          </a:p>
        </p:txBody>
      </p:sp>
      <p:sp>
        <p:nvSpPr>
          <p:cNvPr id="53" name="TextBox 52"/>
          <p:cNvSpPr txBox="1"/>
          <p:nvPr/>
        </p:nvSpPr>
        <p:spPr>
          <a:xfrm>
            <a:off x="7040880" y="3035808"/>
            <a:ext cx="4343400" cy="457200"/>
          </a:xfrm>
          <a:prstGeom prst="rect">
            <a:avLst/>
          </a:prstGeom>
          <a:noFill/>
        </p:spPr>
        <p:txBody>
          <a:bodyPr wrap="square" lIns="0" rIns="0" tIns="0" bIns="0" anchor="t">
            <a:spAutoFit/>
          </a:bodyPr>
          <a:lstStyle/>
          <a:p>
            <a:pPr algn="l">
              <a:lnSpc>
                <a:spcPct val="135000"/>
              </a:lnSpc>
            </a:pPr>
            <a:r>
              <a:rPr sz="1050" b="0">
                <a:solidFill>
                  <a:srgbClr val="4FC3AE"/>
                </a:solidFill>
                <a:latin typeface="Consolas"/>
              </a:rPr>
              <a:t>After that point, no language model touches a number.</a:t>
            </a:r>
          </a:p>
        </p:txBody>
      </p:sp>
      <p:sp>
        <p:nvSpPr>
          <p:cNvPr id="54" name="Rectangle 53"/>
          <p:cNvSpPr/>
          <p:nvPr/>
        </p:nvSpPr>
        <p:spPr>
          <a:xfrm>
            <a:off x="6784848" y="3749039"/>
            <a:ext cx="4855464" cy="2505456"/>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040880" y="3913632"/>
            <a:ext cx="4297680" cy="219456"/>
          </a:xfrm>
          <a:prstGeom prst="rect">
            <a:avLst/>
          </a:prstGeom>
          <a:noFill/>
        </p:spPr>
        <p:txBody>
          <a:bodyPr wrap="square" lIns="0" rIns="0" tIns="0" bIns="0" anchor="t">
            <a:spAutoFit/>
          </a:bodyPr>
          <a:lstStyle/>
          <a:p>
            <a:pPr algn="l">
              <a:lnSpc>
                <a:spcPct val="115000"/>
              </a:lnSpc>
            </a:pPr>
            <a:r>
              <a:rPr sz="900" b="0" spc="180">
                <a:solidFill>
                  <a:srgbClr val="556764"/>
                </a:solidFill>
                <a:latin typeface="Consolas"/>
              </a:rPr>
              <a:t>WHAT EACH STAGE LEAVES BEHIND</a:t>
            </a:r>
          </a:p>
        </p:txBody>
      </p:sp>
      <p:sp>
        <p:nvSpPr>
          <p:cNvPr id="56" name="TextBox 55"/>
          <p:cNvSpPr txBox="1"/>
          <p:nvPr/>
        </p:nvSpPr>
        <p:spPr>
          <a:xfrm>
            <a:off x="7040880" y="4224528"/>
            <a:ext cx="1417320" cy="182880"/>
          </a:xfrm>
          <a:prstGeom prst="rect">
            <a:avLst/>
          </a:prstGeom>
          <a:noFill/>
        </p:spPr>
        <p:txBody>
          <a:bodyPr wrap="square" lIns="0" rIns="0" tIns="0" bIns="0" anchor="t">
            <a:spAutoFit/>
          </a:bodyPr>
          <a:lstStyle/>
          <a:p>
            <a:pPr algn="l">
              <a:lnSpc>
                <a:spcPct val="115000"/>
              </a:lnSpc>
            </a:pPr>
            <a:r>
              <a:rPr sz="950" b="1">
                <a:solidFill>
                  <a:srgbClr val="4FC3AE"/>
                </a:solidFill>
                <a:latin typeface="Segoe UI"/>
              </a:rPr>
              <a:t>Extraction</a:t>
            </a:r>
          </a:p>
        </p:txBody>
      </p:sp>
      <p:sp>
        <p:nvSpPr>
          <p:cNvPr id="57" name="TextBox 56"/>
          <p:cNvSpPr txBox="1"/>
          <p:nvPr/>
        </p:nvSpPr>
        <p:spPr>
          <a:xfrm>
            <a:off x="8540496" y="4224528"/>
            <a:ext cx="2926080" cy="219456"/>
          </a:xfrm>
          <a:prstGeom prst="rect">
            <a:avLst/>
          </a:prstGeom>
          <a:noFill/>
        </p:spPr>
        <p:txBody>
          <a:bodyPr wrap="square" lIns="0" rIns="0" tIns="0" bIns="0" anchor="t">
            <a:spAutoFit/>
          </a:bodyPr>
          <a:lstStyle/>
          <a:p>
            <a:pPr algn="l">
              <a:lnSpc>
                <a:spcPct val="115000"/>
              </a:lnSpc>
            </a:pPr>
            <a:r>
              <a:rPr sz="850" b="0">
                <a:solidFill>
                  <a:srgbClr val="7B908C"/>
                </a:solidFill>
                <a:latin typeface="Segoe UI"/>
              </a:rPr>
              <a:t>model, prompt version, confidence, citations</a:t>
            </a:r>
          </a:p>
        </p:txBody>
      </p:sp>
      <p:sp>
        <p:nvSpPr>
          <p:cNvPr id="58" name="TextBox 57"/>
          <p:cNvSpPr txBox="1"/>
          <p:nvPr/>
        </p:nvSpPr>
        <p:spPr>
          <a:xfrm>
            <a:off x="7040880" y="4608576"/>
            <a:ext cx="1417320" cy="182880"/>
          </a:xfrm>
          <a:prstGeom prst="rect">
            <a:avLst/>
          </a:prstGeom>
          <a:noFill/>
        </p:spPr>
        <p:txBody>
          <a:bodyPr wrap="square" lIns="0" rIns="0" tIns="0" bIns="0" anchor="t">
            <a:spAutoFit/>
          </a:bodyPr>
          <a:lstStyle/>
          <a:p>
            <a:pPr algn="l">
              <a:lnSpc>
                <a:spcPct val="115000"/>
              </a:lnSpc>
            </a:pPr>
            <a:r>
              <a:rPr sz="950" b="1">
                <a:solidFill>
                  <a:srgbClr val="4FC3AE"/>
                </a:solidFill>
                <a:latin typeface="Segoe UI"/>
              </a:rPr>
              <a:t>Human review</a:t>
            </a:r>
          </a:p>
        </p:txBody>
      </p:sp>
      <p:sp>
        <p:nvSpPr>
          <p:cNvPr id="59" name="TextBox 58"/>
          <p:cNvSpPr txBox="1"/>
          <p:nvPr/>
        </p:nvSpPr>
        <p:spPr>
          <a:xfrm>
            <a:off x="8540496" y="4608576"/>
            <a:ext cx="2926080" cy="219456"/>
          </a:xfrm>
          <a:prstGeom prst="rect">
            <a:avLst/>
          </a:prstGeom>
          <a:noFill/>
        </p:spPr>
        <p:txBody>
          <a:bodyPr wrap="square" lIns="0" rIns="0" tIns="0" bIns="0" anchor="t">
            <a:spAutoFit/>
          </a:bodyPr>
          <a:lstStyle/>
          <a:p>
            <a:pPr algn="l">
              <a:lnSpc>
                <a:spcPct val="115000"/>
              </a:lnSpc>
            </a:pPr>
            <a:r>
              <a:rPr sz="850" b="0">
                <a:solidFill>
                  <a:srgbClr val="7B908C"/>
                </a:solidFill>
                <a:latin typeface="Segoe UI"/>
              </a:rPr>
              <a:t>reviewer identity, decision, written rationale</a:t>
            </a:r>
          </a:p>
        </p:txBody>
      </p:sp>
      <p:sp>
        <p:nvSpPr>
          <p:cNvPr id="60" name="TextBox 59"/>
          <p:cNvSpPr txBox="1"/>
          <p:nvPr/>
        </p:nvSpPr>
        <p:spPr>
          <a:xfrm>
            <a:off x="7040880" y="4992624"/>
            <a:ext cx="1417320" cy="182880"/>
          </a:xfrm>
          <a:prstGeom prst="rect">
            <a:avLst/>
          </a:prstGeom>
          <a:noFill/>
        </p:spPr>
        <p:txBody>
          <a:bodyPr wrap="square" lIns="0" rIns="0" tIns="0" bIns="0" anchor="t">
            <a:spAutoFit/>
          </a:bodyPr>
          <a:lstStyle/>
          <a:p>
            <a:pPr algn="l">
              <a:lnSpc>
                <a:spcPct val="115000"/>
              </a:lnSpc>
            </a:pPr>
            <a:r>
              <a:rPr sz="950" b="1">
                <a:solidFill>
                  <a:srgbClr val="4FC3AE"/>
                </a:solidFill>
                <a:latin typeface="Segoe UI"/>
              </a:rPr>
              <a:t>Terms freeze</a:t>
            </a:r>
          </a:p>
        </p:txBody>
      </p:sp>
      <p:sp>
        <p:nvSpPr>
          <p:cNvPr id="61" name="TextBox 60"/>
          <p:cNvSpPr txBox="1"/>
          <p:nvPr/>
        </p:nvSpPr>
        <p:spPr>
          <a:xfrm>
            <a:off x="8540496" y="4992624"/>
            <a:ext cx="2926080" cy="219456"/>
          </a:xfrm>
          <a:prstGeom prst="rect">
            <a:avLst/>
          </a:prstGeom>
          <a:noFill/>
        </p:spPr>
        <p:txBody>
          <a:bodyPr wrap="square" lIns="0" rIns="0" tIns="0" bIns="0" anchor="t">
            <a:spAutoFit/>
          </a:bodyPr>
          <a:lstStyle/>
          <a:p>
            <a:pPr algn="l">
              <a:lnSpc>
                <a:spcPct val="115000"/>
              </a:lnSpc>
            </a:pPr>
            <a:r>
              <a:rPr sz="850" b="0">
                <a:solidFill>
                  <a:srgbClr val="7B908C"/>
                </a:solidFill>
                <a:latin typeface="Segoe UI"/>
              </a:rPr>
              <a:t>version number, document content hash</a:t>
            </a:r>
          </a:p>
        </p:txBody>
      </p:sp>
      <p:sp>
        <p:nvSpPr>
          <p:cNvPr id="62" name="TextBox 61"/>
          <p:cNvSpPr txBox="1"/>
          <p:nvPr/>
        </p:nvSpPr>
        <p:spPr>
          <a:xfrm>
            <a:off x="7040880" y="5376672"/>
            <a:ext cx="1417320" cy="182880"/>
          </a:xfrm>
          <a:prstGeom prst="rect">
            <a:avLst/>
          </a:prstGeom>
          <a:noFill/>
        </p:spPr>
        <p:txBody>
          <a:bodyPr wrap="square" lIns="0" rIns="0" tIns="0" bIns="0" anchor="t">
            <a:spAutoFit/>
          </a:bodyPr>
          <a:lstStyle/>
          <a:p>
            <a:pPr algn="l">
              <a:lnSpc>
                <a:spcPct val="115000"/>
              </a:lnSpc>
            </a:pPr>
            <a:r>
              <a:rPr sz="950" b="1">
                <a:solidFill>
                  <a:srgbClr val="4FC3AE"/>
                </a:solidFill>
                <a:latin typeface="Segoe UI"/>
              </a:rPr>
              <a:t>Each engine call</a:t>
            </a:r>
          </a:p>
        </p:txBody>
      </p:sp>
      <p:sp>
        <p:nvSpPr>
          <p:cNvPr id="63" name="TextBox 62"/>
          <p:cNvSpPr txBox="1"/>
          <p:nvPr/>
        </p:nvSpPr>
        <p:spPr>
          <a:xfrm>
            <a:off x="8540496" y="5376672"/>
            <a:ext cx="2926080" cy="219456"/>
          </a:xfrm>
          <a:prstGeom prst="rect">
            <a:avLst/>
          </a:prstGeom>
          <a:noFill/>
        </p:spPr>
        <p:txBody>
          <a:bodyPr wrap="square" lIns="0" rIns="0" tIns="0" bIns="0" anchor="t">
            <a:spAutoFit/>
          </a:bodyPr>
          <a:lstStyle/>
          <a:p>
            <a:pPr algn="l">
              <a:lnSpc>
                <a:spcPct val="115000"/>
              </a:lnSpc>
            </a:pPr>
            <a:r>
              <a:rPr sz="850" b="0">
                <a:solidFill>
                  <a:srgbClr val="7B908C"/>
                </a:solidFill>
                <a:latin typeface="Segoe UI"/>
              </a:rPr>
              <a:t>inputs, outputs, engine version, snapshot</a:t>
            </a:r>
          </a:p>
        </p:txBody>
      </p:sp>
      <p:sp>
        <p:nvSpPr>
          <p:cNvPr id="64" name="TextBox 63"/>
          <p:cNvSpPr txBox="1"/>
          <p:nvPr/>
        </p:nvSpPr>
        <p:spPr>
          <a:xfrm>
            <a:off x="7040880" y="5760720"/>
            <a:ext cx="1417320" cy="182880"/>
          </a:xfrm>
          <a:prstGeom prst="rect">
            <a:avLst/>
          </a:prstGeom>
          <a:noFill/>
        </p:spPr>
        <p:txBody>
          <a:bodyPr wrap="square" lIns="0" rIns="0" tIns="0" bIns="0" anchor="t">
            <a:spAutoFit/>
          </a:bodyPr>
          <a:lstStyle/>
          <a:p>
            <a:pPr algn="l">
              <a:lnSpc>
                <a:spcPct val="115000"/>
              </a:lnSpc>
            </a:pPr>
            <a:r>
              <a:rPr sz="950" b="1">
                <a:solidFill>
                  <a:srgbClr val="4FC3AE"/>
                </a:solidFill>
                <a:latin typeface="Segoe UI"/>
              </a:rPr>
              <a:t>Decision</a:t>
            </a:r>
          </a:p>
        </p:txBody>
      </p:sp>
      <p:sp>
        <p:nvSpPr>
          <p:cNvPr id="65" name="TextBox 64"/>
          <p:cNvSpPr txBox="1"/>
          <p:nvPr/>
        </p:nvSpPr>
        <p:spPr>
          <a:xfrm>
            <a:off x="8540496" y="5760720"/>
            <a:ext cx="2926080" cy="219456"/>
          </a:xfrm>
          <a:prstGeom prst="rect">
            <a:avLst/>
          </a:prstGeom>
          <a:noFill/>
        </p:spPr>
        <p:txBody>
          <a:bodyPr wrap="square" lIns="0" rIns="0" tIns="0" bIns="0" anchor="t">
            <a:spAutoFit/>
          </a:bodyPr>
          <a:lstStyle/>
          <a:p>
            <a:pPr algn="l">
              <a:lnSpc>
                <a:spcPct val="115000"/>
              </a:lnSpc>
            </a:pPr>
            <a:r>
              <a:rPr sz="850" b="0">
                <a:solidFill>
                  <a:srgbClr val="7B908C"/>
                </a:solidFill>
                <a:latin typeface="Segoe UI"/>
              </a:rPr>
              <a:t>action, amount, and why it was taken</a:t>
            </a:r>
          </a:p>
        </p:txBody>
      </p:sp>
      <p:sp>
        <p:nvSpPr>
          <p:cNvPr id="66" name="TextBox 65"/>
          <p:cNvSpPr txBox="1"/>
          <p:nvPr/>
        </p:nvSpPr>
        <p:spPr>
          <a:xfrm>
            <a:off x="7040880" y="5961888"/>
            <a:ext cx="4343400" cy="219456"/>
          </a:xfrm>
          <a:prstGeom prst="rect">
            <a:avLst/>
          </a:prstGeom>
          <a:noFill/>
        </p:spPr>
        <p:txBody>
          <a:bodyPr wrap="square" lIns="0" rIns="0" tIns="0" bIns="0" anchor="t">
            <a:spAutoFit/>
          </a:bodyPr>
          <a:lstStyle/>
          <a:p>
            <a:pPr algn="l">
              <a:lnSpc>
                <a:spcPct val="115000"/>
              </a:lnSpc>
            </a:pPr>
            <a:r>
              <a:rPr sz="850" b="0">
                <a:solidFill>
                  <a:srgbClr val="556764"/>
                </a:solidFill>
                <a:latin typeface="Segoe UI"/>
              </a:rPr>
              <a:t>Chained by hash, so altering one record breaks every record after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201168"/>
          </a:xfrm>
          <a:prstGeom prst="rect">
            <a:avLst/>
          </a:prstGeom>
          <a:noFill/>
        </p:spPr>
        <p:txBody>
          <a:bodyPr wrap="square" lIns="0" rIns="0" tIns="0" bIns="0" anchor="t">
            <a:spAutoFit/>
          </a:bodyPr>
          <a:lstStyle/>
          <a:p>
            <a:pPr algn="l">
              <a:lnSpc>
                <a:spcPct val="115000"/>
              </a:lnSpc>
            </a:pPr>
            <a:r>
              <a:rPr sz="1050" b="1" spc="220">
                <a:solidFill>
                  <a:srgbClr val="556764"/>
                </a:solidFill>
                <a:latin typeface="Consolas"/>
              </a:rPr>
              <a:t>THE PRODUCT</a:t>
            </a:r>
          </a:p>
        </p:txBody>
      </p:sp>
      <p:sp>
        <p:nvSpPr>
          <p:cNvPr id="4" name="TextBox 3"/>
          <p:cNvSpPr txBox="1"/>
          <p:nvPr/>
        </p:nvSpPr>
        <p:spPr>
          <a:xfrm>
            <a:off x="566928" y="621792"/>
            <a:ext cx="11057839" cy="914400"/>
          </a:xfrm>
          <a:prstGeom prst="rect">
            <a:avLst/>
          </a:prstGeom>
          <a:noFill/>
        </p:spPr>
        <p:txBody>
          <a:bodyPr wrap="square" lIns="0" rIns="0" tIns="0" bIns="0" anchor="t">
            <a:spAutoFit/>
          </a:bodyPr>
          <a:lstStyle/>
          <a:p>
            <a:pPr algn="l">
              <a:lnSpc>
                <a:spcPct val="106000"/>
              </a:lnSpc>
            </a:pPr>
            <a:r>
              <a:rPr sz="2900" b="1">
                <a:solidFill>
                  <a:srgbClr val="E6EDEB"/>
                </a:solidFill>
                <a:latin typeface="Cambria"/>
              </a:rPr>
              <a:t>Four capabilities — and where each one stands today.</a:t>
            </a:r>
          </a:p>
        </p:txBody>
      </p:sp>
      <p:sp>
        <p:nvSpPr>
          <p:cNvPr id="5" name="Rectangle 4"/>
          <p:cNvSpPr/>
          <p:nvPr/>
        </p:nvSpPr>
        <p:spPr>
          <a:xfrm>
            <a:off x="566928" y="6336792"/>
            <a:ext cx="11057839"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28232"/>
            <a:ext cx="6400800" cy="219456"/>
          </a:xfrm>
          <a:prstGeom prst="rect">
            <a:avLst/>
          </a:prstGeom>
          <a:noFill/>
        </p:spPr>
        <p:txBody>
          <a:bodyPr wrap="square" lIns="0" rIns="0" tIns="0" bIns="0" anchor="t">
            <a:spAutoFit/>
          </a:bodyPr>
          <a:lstStyle/>
          <a:p>
            <a:pPr algn="l">
              <a:lnSpc>
                <a:spcPct val="115000"/>
              </a:lnSpc>
            </a:pPr>
            <a:r>
              <a:rPr sz="850" b="0" spc="200">
                <a:solidFill>
                  <a:srgbClr val="556764"/>
                </a:solidFill>
                <a:latin typeface="Consolas"/>
              </a:rPr>
              <a:t>AETHER-DERIVATIVES</a:t>
            </a:r>
          </a:p>
        </p:txBody>
      </p:sp>
      <p:sp>
        <p:nvSpPr>
          <p:cNvPr id="7" name="TextBox 6"/>
          <p:cNvSpPr txBox="1"/>
          <p:nvPr/>
        </p:nvSpPr>
        <p:spPr>
          <a:xfrm>
            <a:off x="11076127" y="6428232"/>
            <a:ext cx="548640" cy="219456"/>
          </a:xfrm>
          <a:prstGeom prst="rect">
            <a:avLst/>
          </a:prstGeom>
          <a:noFill/>
        </p:spPr>
        <p:txBody>
          <a:bodyPr wrap="square" lIns="0" rIns="0" tIns="0" bIns="0" anchor="t">
            <a:spAutoFit/>
          </a:bodyPr>
          <a:lstStyle/>
          <a:p>
            <a:pPr algn="r">
              <a:lnSpc>
                <a:spcPct val="115000"/>
              </a:lnSpc>
            </a:pPr>
            <a:r>
              <a:rPr sz="850" b="0">
                <a:solidFill>
                  <a:srgbClr val="556764"/>
                </a:solidFill>
                <a:latin typeface="Consolas"/>
              </a:rPr>
              <a:t>07</a:t>
            </a:r>
          </a:p>
        </p:txBody>
      </p:sp>
      <p:sp>
        <p:nvSpPr>
          <p:cNvPr id="8" name="Rectangle 7"/>
          <p:cNvSpPr/>
          <p:nvPr/>
        </p:nvSpPr>
        <p:spPr>
          <a:xfrm>
            <a:off x="566928" y="1517904"/>
            <a:ext cx="11057839" cy="987552"/>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517904"/>
            <a:ext cx="32004" cy="987552"/>
          </a:xfrm>
          <a:prstGeom prst="rect">
            <a:avLst/>
          </a:prstGeom>
          <a:solidFill>
            <a:srgbClr val="4FC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664207"/>
            <a:ext cx="548640" cy="274320"/>
          </a:xfrm>
          <a:prstGeom prst="rect">
            <a:avLst/>
          </a:prstGeom>
          <a:noFill/>
        </p:spPr>
        <p:txBody>
          <a:bodyPr wrap="square" lIns="0" rIns="0" tIns="0" bIns="0" anchor="t">
            <a:spAutoFit/>
          </a:bodyPr>
          <a:lstStyle/>
          <a:p>
            <a:pPr algn="l">
              <a:lnSpc>
                <a:spcPct val="115000"/>
              </a:lnSpc>
            </a:pPr>
            <a:r>
              <a:rPr sz="1400" b="1">
                <a:solidFill>
                  <a:srgbClr val="4FC3AE"/>
                </a:solidFill>
                <a:latin typeface="Consolas"/>
              </a:rPr>
              <a:t>01</a:t>
            </a:r>
          </a:p>
        </p:txBody>
      </p:sp>
      <p:sp>
        <p:nvSpPr>
          <p:cNvPr id="11" name="TextBox 10"/>
          <p:cNvSpPr txBox="1"/>
          <p:nvPr/>
        </p:nvSpPr>
        <p:spPr>
          <a:xfrm>
            <a:off x="1481328" y="1636776"/>
            <a:ext cx="4023360" cy="219456"/>
          </a:xfrm>
          <a:prstGeom prst="rect">
            <a:avLst/>
          </a:prstGeom>
          <a:noFill/>
        </p:spPr>
        <p:txBody>
          <a:bodyPr wrap="square" lIns="0" rIns="0" tIns="0" bIns="0" anchor="t">
            <a:spAutoFit/>
          </a:bodyPr>
          <a:lstStyle/>
          <a:p>
            <a:pPr algn="l">
              <a:lnSpc>
                <a:spcPct val="115000"/>
              </a:lnSpc>
            </a:pPr>
            <a:r>
              <a:rPr sz="1100" b="1">
                <a:solidFill>
                  <a:srgbClr val="E6EDEB"/>
                </a:solidFill>
                <a:latin typeface="Segoe UI"/>
              </a:rPr>
              <a:t>MULTI-MODAL LEGAL PARSER</a:t>
            </a:r>
          </a:p>
        </p:txBody>
      </p:sp>
      <p:sp>
        <p:nvSpPr>
          <p:cNvPr id="12" name="Rectangle 11"/>
          <p:cNvSpPr/>
          <p:nvPr/>
        </p:nvSpPr>
        <p:spPr>
          <a:xfrm>
            <a:off x="1481328" y="1911095"/>
            <a:ext cx="544068" cy="219456"/>
          </a:xfrm>
          <a:prstGeom prst="rect">
            <a:avLst/>
          </a:prstGeom>
          <a:solidFill>
            <a:srgbClr val="142B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81328" y="1952243"/>
            <a:ext cx="544068" cy="182880"/>
          </a:xfrm>
          <a:prstGeom prst="rect">
            <a:avLst/>
          </a:prstGeom>
          <a:noFill/>
        </p:spPr>
        <p:txBody>
          <a:bodyPr wrap="square" lIns="0" rIns="0" tIns="0" bIns="0" anchor="t">
            <a:spAutoFit/>
          </a:bodyPr>
          <a:lstStyle/>
          <a:p>
            <a:pPr algn="ctr">
              <a:lnSpc>
                <a:spcPct val="115000"/>
              </a:lnSpc>
            </a:pPr>
            <a:r>
              <a:rPr sz="850" b="1" spc="120">
                <a:solidFill>
                  <a:srgbClr val="4FC3AE"/>
                </a:solidFill>
                <a:latin typeface="Consolas"/>
              </a:rPr>
              <a:t>BUILT</a:t>
            </a:r>
          </a:p>
        </p:txBody>
      </p:sp>
      <p:sp>
        <p:nvSpPr>
          <p:cNvPr id="14" name="TextBox 13"/>
          <p:cNvSpPr txBox="1"/>
          <p:nvPr/>
        </p:nvSpPr>
        <p:spPr>
          <a:xfrm>
            <a:off x="5687568" y="1636776"/>
            <a:ext cx="5943600" cy="512064"/>
          </a:xfrm>
          <a:prstGeom prst="rect">
            <a:avLst/>
          </a:prstGeom>
          <a:noFill/>
        </p:spPr>
        <p:txBody>
          <a:bodyPr wrap="square" lIns="0" rIns="0" tIns="0" bIns="0" anchor="t">
            <a:spAutoFit/>
          </a:bodyPr>
          <a:lstStyle/>
          <a:p>
            <a:pPr algn="l">
              <a:lnSpc>
                <a:spcPct val="128000"/>
              </a:lnSpc>
            </a:pPr>
            <a:r>
              <a:rPr sz="900" b="0">
                <a:solidFill>
                  <a:srgbClr val="7B908C"/>
                </a:solidFill>
                <a:latin typeface="Segoe UI"/>
              </a:rPr>
              <a:t>Ingests the ISDA Master Agreement and Credit Support Annex and extracts threshold tiers, minimum transfer amounts and valuation percentages — every field cited to its source paragraph.</a:t>
            </a:r>
          </a:p>
        </p:txBody>
      </p:sp>
      <p:sp>
        <p:nvSpPr>
          <p:cNvPr id="15" name="Rectangle 14"/>
          <p:cNvSpPr/>
          <p:nvPr/>
        </p:nvSpPr>
        <p:spPr>
          <a:xfrm>
            <a:off x="5687568" y="2194560"/>
            <a:ext cx="5852160"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87568" y="2258568"/>
            <a:ext cx="5943600" cy="219456"/>
          </a:xfrm>
          <a:prstGeom prst="rect">
            <a:avLst/>
          </a:prstGeom>
          <a:noFill/>
        </p:spPr>
        <p:txBody>
          <a:bodyPr wrap="square" lIns="0" rIns="0" tIns="0" bIns="0" anchor="t">
            <a:spAutoFit/>
          </a:bodyPr>
          <a:lstStyle/>
          <a:p>
            <a:pPr algn="l">
              <a:lnSpc>
                <a:spcPct val="115000"/>
              </a:lnSpc>
            </a:pPr>
            <a:r>
              <a:rPr sz="850" b="0">
                <a:solidFill>
                  <a:srgbClr val="4FC3AE"/>
                </a:solidFill>
                <a:latin typeface="Segoe UI"/>
              </a:rPr>
              <a:t>Native PDF and markdown today. Scanned documents without a text layer are refused, not guessed.</a:t>
            </a:r>
          </a:p>
        </p:txBody>
      </p:sp>
      <p:sp>
        <p:nvSpPr>
          <p:cNvPr id="17" name="Rectangle 16"/>
          <p:cNvSpPr/>
          <p:nvPr/>
        </p:nvSpPr>
        <p:spPr>
          <a:xfrm>
            <a:off x="566928" y="2578608"/>
            <a:ext cx="11057839" cy="987552"/>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578608"/>
            <a:ext cx="32004" cy="987552"/>
          </a:xfrm>
          <a:prstGeom prst="rect">
            <a:avLst/>
          </a:prstGeom>
          <a:solidFill>
            <a:srgbClr val="4FC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2724912"/>
            <a:ext cx="548640" cy="274320"/>
          </a:xfrm>
          <a:prstGeom prst="rect">
            <a:avLst/>
          </a:prstGeom>
          <a:noFill/>
        </p:spPr>
        <p:txBody>
          <a:bodyPr wrap="square" lIns="0" rIns="0" tIns="0" bIns="0" anchor="t">
            <a:spAutoFit/>
          </a:bodyPr>
          <a:lstStyle/>
          <a:p>
            <a:pPr algn="l">
              <a:lnSpc>
                <a:spcPct val="115000"/>
              </a:lnSpc>
            </a:pPr>
            <a:r>
              <a:rPr sz="1400" b="1">
                <a:solidFill>
                  <a:srgbClr val="4FC3AE"/>
                </a:solidFill>
                <a:latin typeface="Consolas"/>
              </a:rPr>
              <a:t>02</a:t>
            </a:r>
          </a:p>
        </p:txBody>
      </p:sp>
      <p:sp>
        <p:nvSpPr>
          <p:cNvPr id="20" name="TextBox 19"/>
          <p:cNvSpPr txBox="1"/>
          <p:nvPr/>
        </p:nvSpPr>
        <p:spPr>
          <a:xfrm>
            <a:off x="1481328" y="2697479"/>
            <a:ext cx="4023360" cy="219456"/>
          </a:xfrm>
          <a:prstGeom prst="rect">
            <a:avLst/>
          </a:prstGeom>
          <a:noFill/>
        </p:spPr>
        <p:txBody>
          <a:bodyPr wrap="square" lIns="0" rIns="0" tIns="0" bIns="0" anchor="t">
            <a:spAutoFit/>
          </a:bodyPr>
          <a:lstStyle/>
          <a:p>
            <a:pPr algn="l">
              <a:lnSpc>
                <a:spcPct val="115000"/>
              </a:lnSpc>
            </a:pPr>
            <a:r>
              <a:rPr sz="1100" b="1">
                <a:solidFill>
                  <a:srgbClr val="E6EDEB"/>
                </a:solidFill>
                <a:latin typeface="Segoe UI"/>
              </a:rPr>
              <a:t>DETERMINISTIC RISK ENGINE</a:t>
            </a:r>
          </a:p>
        </p:txBody>
      </p:sp>
      <p:sp>
        <p:nvSpPr>
          <p:cNvPr id="21" name="Rectangle 20"/>
          <p:cNvSpPr/>
          <p:nvPr/>
        </p:nvSpPr>
        <p:spPr>
          <a:xfrm>
            <a:off x="1481328" y="2971800"/>
            <a:ext cx="544068" cy="219456"/>
          </a:xfrm>
          <a:prstGeom prst="rect">
            <a:avLst/>
          </a:prstGeom>
          <a:solidFill>
            <a:srgbClr val="142B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81328" y="3012948"/>
            <a:ext cx="544068" cy="182880"/>
          </a:xfrm>
          <a:prstGeom prst="rect">
            <a:avLst/>
          </a:prstGeom>
          <a:noFill/>
        </p:spPr>
        <p:txBody>
          <a:bodyPr wrap="square" lIns="0" rIns="0" tIns="0" bIns="0" anchor="t">
            <a:spAutoFit/>
          </a:bodyPr>
          <a:lstStyle/>
          <a:p>
            <a:pPr algn="ctr">
              <a:lnSpc>
                <a:spcPct val="115000"/>
              </a:lnSpc>
            </a:pPr>
            <a:r>
              <a:rPr sz="850" b="1" spc="120">
                <a:solidFill>
                  <a:srgbClr val="4FC3AE"/>
                </a:solidFill>
                <a:latin typeface="Consolas"/>
              </a:rPr>
              <a:t>BUILT</a:t>
            </a:r>
          </a:p>
        </p:txBody>
      </p:sp>
      <p:sp>
        <p:nvSpPr>
          <p:cNvPr id="23" name="TextBox 22"/>
          <p:cNvSpPr txBox="1"/>
          <p:nvPr/>
        </p:nvSpPr>
        <p:spPr>
          <a:xfrm>
            <a:off x="5687568" y="2697479"/>
            <a:ext cx="5943600" cy="512064"/>
          </a:xfrm>
          <a:prstGeom prst="rect">
            <a:avLst/>
          </a:prstGeom>
          <a:noFill/>
        </p:spPr>
        <p:txBody>
          <a:bodyPr wrap="square" lIns="0" rIns="0" tIns="0" bIns="0" anchor="t">
            <a:spAutoFit/>
          </a:bodyPr>
          <a:lstStyle/>
          <a:p>
            <a:pPr algn="l">
              <a:lnSpc>
                <a:spcPct val="128000"/>
              </a:lnSpc>
            </a:pPr>
            <a:r>
              <a:rPr sz="900" b="0">
                <a:solidFill>
                  <a:srgbClr val="7B908C"/>
                </a:solidFill>
                <a:latin typeface="Segoe UI"/>
              </a:rPr>
              <a:t>Turns a netting set and a pinned market snapshot into a margin requirement: exposure, credit support amount, minimum transfer gate, directional rounding — plus initial margin alongside.</a:t>
            </a:r>
          </a:p>
        </p:txBody>
      </p:sp>
      <p:sp>
        <p:nvSpPr>
          <p:cNvPr id="24" name="Rectangle 23"/>
          <p:cNvSpPr/>
          <p:nvPr/>
        </p:nvSpPr>
        <p:spPr>
          <a:xfrm>
            <a:off x="5687568" y="3255263"/>
            <a:ext cx="5852160"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87568" y="3319272"/>
            <a:ext cx="5943600" cy="219456"/>
          </a:xfrm>
          <a:prstGeom prst="rect">
            <a:avLst/>
          </a:prstGeom>
          <a:noFill/>
        </p:spPr>
        <p:txBody>
          <a:bodyPr wrap="square" lIns="0" rIns="0" tIns="0" bIns="0" anchor="t">
            <a:spAutoFit/>
          </a:bodyPr>
          <a:lstStyle/>
          <a:p>
            <a:pPr algn="l">
              <a:lnSpc>
                <a:spcPct val="115000"/>
              </a:lnSpc>
            </a:pPr>
            <a:r>
              <a:rPr sz="850" b="0">
                <a:solidFill>
                  <a:srgbClr val="4FC3AE"/>
                </a:solidFill>
                <a:latin typeface="Segoe UI"/>
              </a:rPr>
              <a:t>Two initial margin methods. Neither is ISDA SIMM: the weights are ours, uncertified, and documented as such.</a:t>
            </a:r>
          </a:p>
        </p:txBody>
      </p:sp>
      <p:sp>
        <p:nvSpPr>
          <p:cNvPr id="26" name="Rectangle 25"/>
          <p:cNvSpPr/>
          <p:nvPr/>
        </p:nvSpPr>
        <p:spPr>
          <a:xfrm>
            <a:off x="566928" y="3639311"/>
            <a:ext cx="11057839" cy="987552"/>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3639311"/>
            <a:ext cx="32004" cy="987552"/>
          </a:xfrm>
          <a:prstGeom prst="rect">
            <a:avLst/>
          </a:prstGeom>
          <a:solidFill>
            <a:srgbClr val="4FC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3785615"/>
            <a:ext cx="548640" cy="274320"/>
          </a:xfrm>
          <a:prstGeom prst="rect">
            <a:avLst/>
          </a:prstGeom>
          <a:noFill/>
        </p:spPr>
        <p:txBody>
          <a:bodyPr wrap="square" lIns="0" rIns="0" tIns="0" bIns="0" anchor="t">
            <a:spAutoFit/>
          </a:bodyPr>
          <a:lstStyle/>
          <a:p>
            <a:pPr algn="l">
              <a:lnSpc>
                <a:spcPct val="115000"/>
              </a:lnSpc>
            </a:pPr>
            <a:r>
              <a:rPr sz="1400" b="1">
                <a:solidFill>
                  <a:srgbClr val="4FC3AE"/>
                </a:solidFill>
                <a:latin typeface="Consolas"/>
              </a:rPr>
              <a:t>03</a:t>
            </a:r>
          </a:p>
        </p:txBody>
      </p:sp>
      <p:sp>
        <p:nvSpPr>
          <p:cNvPr id="29" name="TextBox 28"/>
          <p:cNvSpPr txBox="1"/>
          <p:nvPr/>
        </p:nvSpPr>
        <p:spPr>
          <a:xfrm>
            <a:off x="1481328" y="3758183"/>
            <a:ext cx="4023360" cy="219456"/>
          </a:xfrm>
          <a:prstGeom prst="rect">
            <a:avLst/>
          </a:prstGeom>
          <a:noFill/>
        </p:spPr>
        <p:txBody>
          <a:bodyPr wrap="square" lIns="0" rIns="0" tIns="0" bIns="0" anchor="t">
            <a:spAutoFit/>
          </a:bodyPr>
          <a:lstStyle/>
          <a:p>
            <a:pPr algn="l">
              <a:lnSpc>
                <a:spcPct val="115000"/>
              </a:lnSpc>
            </a:pPr>
            <a:r>
              <a:rPr sz="1100" b="1">
                <a:solidFill>
                  <a:srgbClr val="E6EDEB"/>
                </a:solidFill>
                <a:latin typeface="Segoe UI"/>
              </a:rPr>
              <a:t>COLLATERAL OPTIMISATION</a:t>
            </a:r>
          </a:p>
        </p:txBody>
      </p:sp>
      <p:sp>
        <p:nvSpPr>
          <p:cNvPr id="30" name="Rectangle 29"/>
          <p:cNvSpPr/>
          <p:nvPr/>
        </p:nvSpPr>
        <p:spPr>
          <a:xfrm>
            <a:off x="1481328" y="4032503"/>
            <a:ext cx="544068" cy="219456"/>
          </a:xfrm>
          <a:prstGeom prst="rect">
            <a:avLst/>
          </a:prstGeom>
          <a:solidFill>
            <a:srgbClr val="142B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481328" y="4073651"/>
            <a:ext cx="544068" cy="182880"/>
          </a:xfrm>
          <a:prstGeom prst="rect">
            <a:avLst/>
          </a:prstGeom>
          <a:noFill/>
        </p:spPr>
        <p:txBody>
          <a:bodyPr wrap="square" lIns="0" rIns="0" tIns="0" bIns="0" anchor="t">
            <a:spAutoFit/>
          </a:bodyPr>
          <a:lstStyle/>
          <a:p>
            <a:pPr algn="ctr">
              <a:lnSpc>
                <a:spcPct val="115000"/>
              </a:lnSpc>
            </a:pPr>
            <a:r>
              <a:rPr sz="850" b="1" spc="120">
                <a:solidFill>
                  <a:srgbClr val="4FC3AE"/>
                </a:solidFill>
                <a:latin typeface="Consolas"/>
              </a:rPr>
              <a:t>BUILT</a:t>
            </a:r>
          </a:p>
        </p:txBody>
      </p:sp>
      <p:sp>
        <p:nvSpPr>
          <p:cNvPr id="32" name="TextBox 31"/>
          <p:cNvSpPr txBox="1"/>
          <p:nvPr/>
        </p:nvSpPr>
        <p:spPr>
          <a:xfrm>
            <a:off x="5687568" y="3758183"/>
            <a:ext cx="5943600" cy="512064"/>
          </a:xfrm>
          <a:prstGeom prst="rect">
            <a:avLst/>
          </a:prstGeom>
          <a:noFill/>
        </p:spPr>
        <p:txBody>
          <a:bodyPr wrap="square" lIns="0" rIns="0" tIns="0" bIns="0" anchor="t">
            <a:spAutoFit/>
          </a:bodyPr>
          <a:lstStyle/>
          <a:p>
            <a:pPr algn="l">
              <a:lnSpc>
                <a:spcPct val="128000"/>
              </a:lnSpc>
            </a:pPr>
            <a:r>
              <a:rPr sz="900" b="0">
                <a:solidFill>
                  <a:srgbClr val="7B908C"/>
                </a:solidFill>
                <a:latin typeface="Segoe UI"/>
              </a:rPr>
              <a:t>Evaluates the whole inventory — cash, sovereigns, corporate paper, gold — against haircut, eligibility, concentration and FX, and solves for the cheapest mix that satisfies every constraint.</a:t>
            </a:r>
          </a:p>
        </p:txBody>
      </p:sp>
      <p:sp>
        <p:nvSpPr>
          <p:cNvPr id="33" name="Rectangle 32"/>
          <p:cNvSpPr/>
          <p:nvPr/>
        </p:nvSpPr>
        <p:spPr>
          <a:xfrm>
            <a:off x="5687568" y="4315968"/>
            <a:ext cx="5852160"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87568" y="4379975"/>
            <a:ext cx="5943600" cy="219456"/>
          </a:xfrm>
          <a:prstGeom prst="rect">
            <a:avLst/>
          </a:prstGeom>
          <a:noFill/>
        </p:spPr>
        <p:txBody>
          <a:bodyPr wrap="square" lIns="0" rIns="0" tIns="0" bIns="0" anchor="t">
            <a:spAutoFit/>
          </a:bodyPr>
          <a:lstStyle/>
          <a:p>
            <a:pPr algn="l">
              <a:lnSpc>
                <a:spcPct val="115000"/>
              </a:lnSpc>
            </a:pPr>
            <a:r>
              <a:rPr sz="850" b="0">
                <a:solidFill>
                  <a:srgbClr val="4FC3AE"/>
                </a:solidFill>
                <a:latin typeface="Segoe UI"/>
              </a:rPr>
              <a:t>A linear program, with the shadow price of every binding constraint returned alongside the allocation.</a:t>
            </a:r>
          </a:p>
        </p:txBody>
      </p:sp>
      <p:sp>
        <p:nvSpPr>
          <p:cNvPr id="35" name="Rectangle 34"/>
          <p:cNvSpPr/>
          <p:nvPr/>
        </p:nvSpPr>
        <p:spPr>
          <a:xfrm>
            <a:off x="566928" y="4700016"/>
            <a:ext cx="11057839" cy="987552"/>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4700016"/>
            <a:ext cx="32004" cy="987552"/>
          </a:xfrm>
          <a:prstGeom prst="rect">
            <a:avLst/>
          </a:prstGeom>
          <a:solidFill>
            <a:srgbClr val="E0A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4846320"/>
            <a:ext cx="548640" cy="274320"/>
          </a:xfrm>
          <a:prstGeom prst="rect">
            <a:avLst/>
          </a:prstGeom>
          <a:noFill/>
        </p:spPr>
        <p:txBody>
          <a:bodyPr wrap="square" lIns="0" rIns="0" tIns="0" bIns="0" anchor="t">
            <a:spAutoFit/>
          </a:bodyPr>
          <a:lstStyle/>
          <a:p>
            <a:pPr algn="l">
              <a:lnSpc>
                <a:spcPct val="115000"/>
              </a:lnSpc>
            </a:pPr>
            <a:r>
              <a:rPr sz="1400" b="1">
                <a:solidFill>
                  <a:srgbClr val="E0A33C"/>
                </a:solidFill>
                <a:latin typeface="Consolas"/>
              </a:rPr>
              <a:t>04</a:t>
            </a:r>
          </a:p>
        </p:txBody>
      </p:sp>
      <p:sp>
        <p:nvSpPr>
          <p:cNvPr id="38" name="TextBox 37"/>
          <p:cNvSpPr txBox="1"/>
          <p:nvPr/>
        </p:nvSpPr>
        <p:spPr>
          <a:xfrm>
            <a:off x="1481328" y="4818888"/>
            <a:ext cx="4023360" cy="219456"/>
          </a:xfrm>
          <a:prstGeom prst="rect">
            <a:avLst/>
          </a:prstGeom>
          <a:noFill/>
        </p:spPr>
        <p:txBody>
          <a:bodyPr wrap="square" lIns="0" rIns="0" tIns="0" bIns="0" anchor="t">
            <a:spAutoFit/>
          </a:bodyPr>
          <a:lstStyle/>
          <a:p>
            <a:pPr algn="l">
              <a:lnSpc>
                <a:spcPct val="115000"/>
              </a:lnSpc>
            </a:pPr>
            <a:r>
              <a:rPr sz="1100" b="1">
                <a:solidFill>
                  <a:srgbClr val="E6EDEB"/>
                </a:solidFill>
                <a:latin typeface="Segoe UI"/>
              </a:rPr>
              <a:t>SETTLEMENT MESSAGE GENERATION</a:t>
            </a:r>
          </a:p>
        </p:txBody>
      </p:sp>
      <p:sp>
        <p:nvSpPr>
          <p:cNvPr id="39" name="Rectangle 38"/>
          <p:cNvSpPr/>
          <p:nvPr/>
        </p:nvSpPr>
        <p:spPr>
          <a:xfrm>
            <a:off x="1481328" y="5093207"/>
            <a:ext cx="681228" cy="219456"/>
          </a:xfrm>
          <a:prstGeom prst="rect">
            <a:avLst/>
          </a:prstGeom>
          <a:solidFill>
            <a:srgbClr val="2E25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481328" y="5134355"/>
            <a:ext cx="681228" cy="182880"/>
          </a:xfrm>
          <a:prstGeom prst="rect">
            <a:avLst/>
          </a:prstGeom>
          <a:noFill/>
        </p:spPr>
        <p:txBody>
          <a:bodyPr wrap="square" lIns="0" rIns="0" tIns="0" bIns="0" anchor="t">
            <a:spAutoFit/>
          </a:bodyPr>
          <a:lstStyle/>
          <a:p>
            <a:pPr algn="ctr">
              <a:lnSpc>
                <a:spcPct val="115000"/>
              </a:lnSpc>
            </a:pPr>
            <a:r>
              <a:rPr sz="850" b="1" spc="120">
                <a:solidFill>
                  <a:srgbClr val="E0A33C"/>
                </a:solidFill>
                <a:latin typeface="Consolas"/>
              </a:rPr>
              <a:t>PARTIAL</a:t>
            </a:r>
          </a:p>
        </p:txBody>
      </p:sp>
      <p:sp>
        <p:nvSpPr>
          <p:cNvPr id="41" name="TextBox 40"/>
          <p:cNvSpPr txBox="1"/>
          <p:nvPr/>
        </p:nvSpPr>
        <p:spPr>
          <a:xfrm>
            <a:off x="5687568" y="4818888"/>
            <a:ext cx="5943600" cy="512064"/>
          </a:xfrm>
          <a:prstGeom prst="rect">
            <a:avLst/>
          </a:prstGeom>
          <a:noFill/>
        </p:spPr>
        <p:txBody>
          <a:bodyPr wrap="square" lIns="0" rIns="0" tIns="0" bIns="0" anchor="t">
            <a:spAutoFit/>
          </a:bodyPr>
          <a:lstStyle/>
          <a:p>
            <a:pPr algn="l">
              <a:lnSpc>
                <a:spcPct val="128000"/>
              </a:lnSpc>
            </a:pPr>
            <a:r>
              <a:rPr sz="900" b="0">
                <a:solidFill>
                  <a:srgbClr val="7B908C"/>
                </a:solidFill>
                <a:latin typeface="Segoe UI"/>
              </a:rPr>
              <a:t>Renders the approved allocation as the structured collateral messages a margin call actually uses, reconciled line by line to the delivery amount.</a:t>
            </a:r>
          </a:p>
        </p:txBody>
      </p:sp>
      <p:sp>
        <p:nvSpPr>
          <p:cNvPr id="42" name="Rectangle 41"/>
          <p:cNvSpPr/>
          <p:nvPr/>
        </p:nvSpPr>
        <p:spPr>
          <a:xfrm>
            <a:off x="5687568" y="5376672"/>
            <a:ext cx="5852160"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687568" y="5440679"/>
            <a:ext cx="5943600" cy="219456"/>
          </a:xfrm>
          <a:prstGeom prst="rect">
            <a:avLst/>
          </a:prstGeom>
          <a:noFill/>
        </p:spPr>
        <p:txBody>
          <a:bodyPr wrap="square" lIns="0" rIns="0" tIns="0" bIns="0" anchor="t">
            <a:spAutoFit/>
          </a:bodyPr>
          <a:lstStyle/>
          <a:p>
            <a:pPr algn="l">
              <a:lnSpc>
                <a:spcPct val="115000"/>
              </a:lnSpc>
            </a:pPr>
            <a:r>
              <a:rPr sz="850" b="0">
                <a:solidFill>
                  <a:srgbClr val="E0A33C"/>
                </a:solidFill>
                <a:latin typeface="Segoe UI"/>
              </a:rPr>
              <a:t>ISO 20022 and MT527 message SHAPE only. Nothing is transmitted — no network, no membership. Connectivity is roadmap.</a:t>
            </a:r>
          </a:p>
        </p:txBody>
      </p:sp>
      <p:sp>
        <p:nvSpPr>
          <p:cNvPr id="44" name="Rectangle 43"/>
          <p:cNvSpPr/>
          <p:nvPr/>
        </p:nvSpPr>
        <p:spPr>
          <a:xfrm>
            <a:off x="566928" y="5779008"/>
            <a:ext cx="11057839" cy="438912"/>
          </a:xfrm>
          <a:prstGeom prst="rect">
            <a:avLst/>
          </a:prstGeom>
          <a:solidFill>
            <a:srgbClr val="182321"/>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6384" y="5870448"/>
            <a:ext cx="10881360" cy="256032"/>
          </a:xfrm>
          <a:prstGeom prst="rect">
            <a:avLst/>
          </a:prstGeom>
          <a:noFill/>
        </p:spPr>
        <p:txBody>
          <a:bodyPr wrap="square" lIns="0" rIns="0" tIns="0" bIns="0" anchor="t">
            <a:spAutoFit/>
          </a:bodyPr>
          <a:lstStyle/>
          <a:p>
            <a:pPr algn="l">
              <a:lnSpc>
                <a:spcPct val="115000"/>
              </a:lnSpc>
            </a:pPr>
            <a:r>
              <a:rPr sz="1000" b="0">
                <a:solidFill>
                  <a:srgbClr val="A9BCB8"/>
                </a:solidFill>
                <a:latin typeface="Segoe UI"/>
              </a:rPr>
              <a:t>Status is stated per capability rather than implied. What is built is demonstrable in the next two slides; what is not is named as roadmap.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201168"/>
          </a:xfrm>
          <a:prstGeom prst="rect">
            <a:avLst/>
          </a:prstGeom>
          <a:noFill/>
        </p:spPr>
        <p:txBody>
          <a:bodyPr wrap="square" lIns="0" rIns="0" tIns="0" bIns="0" anchor="t">
            <a:spAutoFit/>
          </a:bodyPr>
          <a:lstStyle/>
          <a:p>
            <a:pPr algn="l">
              <a:lnSpc>
                <a:spcPct val="115000"/>
              </a:lnSpc>
            </a:pPr>
            <a:r>
              <a:rPr sz="1050" b="1" spc="220">
                <a:solidFill>
                  <a:srgbClr val="556764"/>
                </a:solidFill>
                <a:latin typeface="Consolas"/>
              </a:rPr>
              <a:t>THE COMMERCIAL THESIS</a:t>
            </a:r>
          </a:p>
        </p:txBody>
      </p:sp>
      <p:sp>
        <p:nvSpPr>
          <p:cNvPr id="4" name="TextBox 3"/>
          <p:cNvSpPr txBox="1"/>
          <p:nvPr/>
        </p:nvSpPr>
        <p:spPr>
          <a:xfrm>
            <a:off x="566928" y="621792"/>
            <a:ext cx="11057839" cy="914400"/>
          </a:xfrm>
          <a:prstGeom prst="rect">
            <a:avLst/>
          </a:prstGeom>
          <a:noFill/>
        </p:spPr>
        <p:txBody>
          <a:bodyPr wrap="square" lIns="0" rIns="0" tIns="0" bIns="0" anchor="t">
            <a:spAutoFit/>
          </a:bodyPr>
          <a:lstStyle/>
          <a:p>
            <a:pPr algn="l">
              <a:lnSpc>
                <a:spcPct val="106000"/>
              </a:lnSpc>
            </a:pPr>
            <a:r>
              <a:rPr sz="2900" b="1">
                <a:solidFill>
                  <a:srgbClr val="E6EDEB"/>
                </a:solidFill>
                <a:latin typeface="Cambria"/>
              </a:rPr>
              <a:t>The expensive part of a margin call is what you deliver.</a:t>
            </a:r>
          </a:p>
        </p:txBody>
      </p:sp>
      <p:sp>
        <p:nvSpPr>
          <p:cNvPr id="5" name="Rectangle 4"/>
          <p:cNvSpPr/>
          <p:nvPr/>
        </p:nvSpPr>
        <p:spPr>
          <a:xfrm>
            <a:off x="566928" y="6336792"/>
            <a:ext cx="11057839"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28232"/>
            <a:ext cx="6400800" cy="219456"/>
          </a:xfrm>
          <a:prstGeom prst="rect">
            <a:avLst/>
          </a:prstGeom>
          <a:noFill/>
        </p:spPr>
        <p:txBody>
          <a:bodyPr wrap="square" lIns="0" rIns="0" tIns="0" bIns="0" anchor="t">
            <a:spAutoFit/>
          </a:bodyPr>
          <a:lstStyle/>
          <a:p>
            <a:pPr algn="l">
              <a:lnSpc>
                <a:spcPct val="115000"/>
              </a:lnSpc>
            </a:pPr>
            <a:r>
              <a:rPr sz="850" b="0" spc="200">
                <a:solidFill>
                  <a:srgbClr val="556764"/>
                </a:solidFill>
                <a:latin typeface="Consolas"/>
              </a:rPr>
              <a:t>AETHER-DERIVATIVES</a:t>
            </a:r>
          </a:p>
        </p:txBody>
      </p:sp>
      <p:sp>
        <p:nvSpPr>
          <p:cNvPr id="7" name="TextBox 6"/>
          <p:cNvSpPr txBox="1"/>
          <p:nvPr/>
        </p:nvSpPr>
        <p:spPr>
          <a:xfrm>
            <a:off x="11076127" y="6428232"/>
            <a:ext cx="548640" cy="219456"/>
          </a:xfrm>
          <a:prstGeom prst="rect">
            <a:avLst/>
          </a:prstGeom>
          <a:noFill/>
        </p:spPr>
        <p:txBody>
          <a:bodyPr wrap="square" lIns="0" rIns="0" tIns="0" bIns="0" anchor="t">
            <a:spAutoFit/>
          </a:bodyPr>
          <a:lstStyle/>
          <a:p>
            <a:pPr algn="r">
              <a:lnSpc>
                <a:spcPct val="115000"/>
              </a:lnSpc>
            </a:pPr>
            <a:r>
              <a:rPr sz="850" b="0">
                <a:solidFill>
                  <a:srgbClr val="556764"/>
                </a:solidFill>
                <a:latin typeface="Consolas"/>
              </a:rPr>
              <a:t>08</a:t>
            </a:r>
          </a:p>
        </p:txBody>
      </p:sp>
      <p:sp>
        <p:nvSpPr>
          <p:cNvPr id="8" name="TextBox 7"/>
          <p:cNvSpPr txBox="1"/>
          <p:nvPr/>
        </p:nvSpPr>
        <p:spPr>
          <a:xfrm>
            <a:off x="566928" y="1481328"/>
            <a:ext cx="7315200" cy="274320"/>
          </a:xfrm>
          <a:prstGeom prst="rect">
            <a:avLst/>
          </a:prstGeom>
          <a:noFill/>
        </p:spPr>
        <p:txBody>
          <a:bodyPr wrap="square" lIns="0" rIns="0" tIns="0" bIns="0" anchor="t">
            <a:spAutoFit/>
          </a:bodyPr>
          <a:lstStyle/>
          <a:p>
            <a:pPr algn="l">
              <a:lnSpc>
                <a:spcPct val="115000"/>
              </a:lnSpc>
            </a:pPr>
            <a:r>
              <a:rPr sz="1250" b="0">
                <a:solidFill>
                  <a:srgbClr val="A9BCB8"/>
                </a:solidFill>
                <a:latin typeface="Segoe UI"/>
              </a:rPr>
              <a:t>Two assets can satisfy the same call and cost very different amounts to give up.</a:t>
            </a:r>
          </a:p>
        </p:txBody>
      </p:sp>
      <p:sp>
        <p:nvSpPr>
          <p:cNvPr id="9" name="Rectangle 8"/>
          <p:cNvSpPr/>
          <p:nvPr/>
        </p:nvSpPr>
        <p:spPr>
          <a:xfrm>
            <a:off x="566928" y="1901952"/>
            <a:ext cx="6903720" cy="1188720"/>
          </a:xfrm>
          <a:prstGeom prst="rect">
            <a:avLst/>
          </a:prstGeom>
          <a:solidFill>
            <a:srgbClr val="182321"/>
          </a:solidFill>
          <a:ln w="15240">
            <a:solidFill>
              <a:srgbClr val="2F8B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048256"/>
            <a:ext cx="6400800" cy="219456"/>
          </a:xfrm>
          <a:prstGeom prst="rect">
            <a:avLst/>
          </a:prstGeom>
          <a:noFill/>
        </p:spPr>
        <p:txBody>
          <a:bodyPr wrap="square" lIns="0" rIns="0" tIns="0" bIns="0" anchor="t">
            <a:spAutoFit/>
          </a:bodyPr>
          <a:lstStyle/>
          <a:p>
            <a:pPr algn="l">
              <a:lnSpc>
                <a:spcPct val="115000"/>
              </a:lnSpc>
            </a:pPr>
            <a:r>
              <a:rPr sz="900" b="0" spc="180">
                <a:solidFill>
                  <a:srgbClr val="556764"/>
                </a:solidFill>
                <a:latin typeface="Consolas"/>
              </a:rPr>
              <a:t>THE RANKING THAT DECIDES THE ALLOCATION</a:t>
            </a:r>
          </a:p>
        </p:txBody>
      </p:sp>
      <p:sp>
        <p:nvSpPr>
          <p:cNvPr id="11" name="TextBox 10"/>
          <p:cNvSpPr txBox="1"/>
          <p:nvPr/>
        </p:nvSpPr>
        <p:spPr>
          <a:xfrm>
            <a:off x="804672" y="2322576"/>
            <a:ext cx="6537960" cy="274320"/>
          </a:xfrm>
          <a:prstGeom prst="rect">
            <a:avLst/>
          </a:prstGeom>
          <a:noFill/>
        </p:spPr>
        <p:txBody>
          <a:bodyPr wrap="square" lIns="0" rIns="0" tIns="0" bIns="0" anchor="t">
            <a:spAutoFit/>
          </a:bodyPr>
          <a:lstStyle/>
          <a:p>
            <a:pPr algn="l">
              <a:lnSpc>
                <a:spcPct val="115000"/>
              </a:lnSpc>
            </a:pPr>
            <a:r>
              <a:rPr sz="1150" b="1">
                <a:solidFill>
                  <a:srgbClr val="4FC3AE"/>
                </a:solidFill>
                <a:latin typeface="Consolas"/>
              </a:rPr>
              <a:t>cost / effective unit  =  funding spread  ÷  effective valuation %</a:t>
            </a:r>
          </a:p>
        </p:txBody>
      </p:sp>
      <p:sp>
        <p:nvSpPr>
          <p:cNvPr id="12" name="TextBox 11"/>
          <p:cNvSpPr txBox="1"/>
          <p:nvPr/>
        </p:nvSpPr>
        <p:spPr>
          <a:xfrm>
            <a:off x="804672" y="2706624"/>
            <a:ext cx="6492240" cy="274320"/>
          </a:xfrm>
          <a:prstGeom prst="rect">
            <a:avLst/>
          </a:prstGeom>
          <a:noFill/>
        </p:spPr>
        <p:txBody>
          <a:bodyPr wrap="square" lIns="0" rIns="0" tIns="0" bIns="0" anchor="t">
            <a:spAutoFit/>
          </a:bodyPr>
          <a:lstStyle/>
          <a:p>
            <a:pPr algn="l">
              <a:lnSpc>
                <a:spcPct val="115000"/>
              </a:lnSpc>
            </a:pPr>
            <a:r>
              <a:rPr sz="950" b="0">
                <a:solidFill>
                  <a:srgbClr val="7B908C"/>
                </a:solidFill>
                <a:latin typeface="Segoe UI"/>
              </a:rPr>
              <a:t>An asset with a low headline spread and a heavy haircut delivers less collateral per unit encumbered.</a:t>
            </a:r>
          </a:p>
        </p:txBody>
      </p:sp>
      <p:sp>
        <p:nvSpPr>
          <p:cNvPr id="13" name="TextBox 12"/>
          <p:cNvSpPr txBox="1"/>
          <p:nvPr/>
        </p:nvSpPr>
        <p:spPr>
          <a:xfrm>
            <a:off x="566928" y="3273552"/>
            <a:ext cx="6903720" cy="219456"/>
          </a:xfrm>
          <a:prstGeom prst="rect">
            <a:avLst/>
          </a:prstGeom>
          <a:noFill/>
        </p:spPr>
        <p:txBody>
          <a:bodyPr wrap="square" lIns="0" rIns="0" tIns="0" bIns="0" anchor="t">
            <a:spAutoFit/>
          </a:bodyPr>
          <a:lstStyle/>
          <a:p>
            <a:pPr algn="l">
              <a:lnSpc>
                <a:spcPct val="115000"/>
              </a:lnSpc>
            </a:pPr>
            <a:r>
              <a:rPr sz="900" b="0" spc="180">
                <a:solidFill>
                  <a:srgbClr val="556764"/>
                </a:solidFill>
                <a:latin typeface="Consolas"/>
              </a:rPr>
              <a:t>THE CONSTRAINTS IT MUST SATISFY SIMULTANEOUSLY</a:t>
            </a:r>
          </a:p>
        </p:txBody>
      </p:sp>
      <p:sp>
        <p:nvSpPr>
          <p:cNvPr id="14" name="Rectangle 13"/>
          <p:cNvSpPr/>
          <p:nvPr/>
        </p:nvSpPr>
        <p:spPr>
          <a:xfrm>
            <a:off x="566928" y="3547872"/>
            <a:ext cx="3378708" cy="566928"/>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3639312"/>
            <a:ext cx="3104388" cy="182880"/>
          </a:xfrm>
          <a:prstGeom prst="rect">
            <a:avLst/>
          </a:prstGeom>
          <a:noFill/>
        </p:spPr>
        <p:txBody>
          <a:bodyPr wrap="square" lIns="0" rIns="0" tIns="0" bIns="0" anchor="t">
            <a:spAutoFit/>
          </a:bodyPr>
          <a:lstStyle/>
          <a:p>
            <a:pPr algn="l">
              <a:lnSpc>
                <a:spcPct val="115000"/>
              </a:lnSpc>
            </a:pPr>
            <a:r>
              <a:rPr sz="1000" b="1">
                <a:solidFill>
                  <a:srgbClr val="E6EDEB"/>
                </a:solidFill>
                <a:latin typeface="Segoe UI"/>
              </a:rPr>
              <a:t>Eligibility</a:t>
            </a:r>
          </a:p>
        </p:txBody>
      </p:sp>
      <p:sp>
        <p:nvSpPr>
          <p:cNvPr id="16" name="TextBox 15"/>
          <p:cNvSpPr txBox="1"/>
          <p:nvPr/>
        </p:nvSpPr>
        <p:spPr>
          <a:xfrm>
            <a:off x="713232" y="3840480"/>
            <a:ext cx="3086100" cy="219456"/>
          </a:xfrm>
          <a:prstGeom prst="rect">
            <a:avLst/>
          </a:prstGeom>
          <a:noFill/>
        </p:spPr>
        <p:txBody>
          <a:bodyPr wrap="square" lIns="0" rIns="0" tIns="0" bIns="0" anchor="t">
            <a:spAutoFit/>
          </a:bodyPr>
          <a:lstStyle/>
          <a:p>
            <a:pPr algn="l">
              <a:lnSpc>
                <a:spcPct val="115000"/>
              </a:lnSpc>
            </a:pPr>
            <a:r>
              <a:rPr sz="850" b="0">
                <a:solidFill>
                  <a:srgbClr val="556764"/>
                </a:solidFill>
                <a:latin typeface="Segoe UI"/>
              </a:rPr>
              <a:t>does the annex's schedule admit this asset at all?</a:t>
            </a:r>
          </a:p>
        </p:txBody>
      </p:sp>
      <p:sp>
        <p:nvSpPr>
          <p:cNvPr id="17" name="Rectangle 16"/>
          <p:cNvSpPr/>
          <p:nvPr/>
        </p:nvSpPr>
        <p:spPr>
          <a:xfrm>
            <a:off x="566928" y="4187952"/>
            <a:ext cx="3378708" cy="566928"/>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4279392"/>
            <a:ext cx="3104388" cy="182880"/>
          </a:xfrm>
          <a:prstGeom prst="rect">
            <a:avLst/>
          </a:prstGeom>
          <a:noFill/>
        </p:spPr>
        <p:txBody>
          <a:bodyPr wrap="square" lIns="0" rIns="0" tIns="0" bIns="0" anchor="t">
            <a:spAutoFit/>
          </a:bodyPr>
          <a:lstStyle/>
          <a:p>
            <a:pPr algn="l">
              <a:lnSpc>
                <a:spcPct val="115000"/>
              </a:lnSpc>
            </a:pPr>
            <a:r>
              <a:rPr sz="1000" b="1">
                <a:solidFill>
                  <a:srgbClr val="E6EDEB"/>
                </a:solidFill>
                <a:latin typeface="Segoe UI"/>
              </a:rPr>
              <a:t>Haircut</a:t>
            </a:r>
          </a:p>
        </p:txBody>
      </p:sp>
      <p:sp>
        <p:nvSpPr>
          <p:cNvPr id="19" name="TextBox 18"/>
          <p:cNvSpPr txBox="1"/>
          <p:nvPr/>
        </p:nvSpPr>
        <p:spPr>
          <a:xfrm>
            <a:off x="713232" y="4480560"/>
            <a:ext cx="3086100" cy="219456"/>
          </a:xfrm>
          <a:prstGeom prst="rect">
            <a:avLst/>
          </a:prstGeom>
          <a:noFill/>
        </p:spPr>
        <p:txBody>
          <a:bodyPr wrap="square" lIns="0" rIns="0" tIns="0" bIns="0" anchor="t">
            <a:spAutoFit/>
          </a:bodyPr>
          <a:lstStyle/>
          <a:p>
            <a:pPr algn="l">
              <a:lnSpc>
                <a:spcPct val="115000"/>
              </a:lnSpc>
            </a:pPr>
            <a:r>
              <a:rPr sz="850" b="0">
                <a:solidFill>
                  <a:srgbClr val="556764"/>
                </a:solidFill>
                <a:latin typeface="Segoe UI"/>
              </a:rPr>
              <a:t>what percentage of market value actually counts?</a:t>
            </a:r>
          </a:p>
        </p:txBody>
      </p:sp>
      <p:sp>
        <p:nvSpPr>
          <p:cNvPr id="20" name="Rectangle 19"/>
          <p:cNvSpPr/>
          <p:nvPr/>
        </p:nvSpPr>
        <p:spPr>
          <a:xfrm>
            <a:off x="566928" y="4828032"/>
            <a:ext cx="3378708" cy="566928"/>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4919472"/>
            <a:ext cx="3104388" cy="182880"/>
          </a:xfrm>
          <a:prstGeom prst="rect">
            <a:avLst/>
          </a:prstGeom>
          <a:noFill/>
        </p:spPr>
        <p:txBody>
          <a:bodyPr wrap="square" lIns="0" rIns="0" tIns="0" bIns="0" anchor="t">
            <a:spAutoFit/>
          </a:bodyPr>
          <a:lstStyle/>
          <a:p>
            <a:pPr algn="l">
              <a:lnSpc>
                <a:spcPct val="115000"/>
              </a:lnSpc>
            </a:pPr>
            <a:r>
              <a:rPr sz="1000" b="1">
                <a:solidFill>
                  <a:srgbClr val="E6EDEB"/>
                </a:solidFill>
                <a:latin typeface="Segoe UI"/>
              </a:rPr>
              <a:t>Concentration</a:t>
            </a:r>
          </a:p>
        </p:txBody>
      </p:sp>
      <p:sp>
        <p:nvSpPr>
          <p:cNvPr id="22" name="TextBox 21"/>
          <p:cNvSpPr txBox="1"/>
          <p:nvPr/>
        </p:nvSpPr>
        <p:spPr>
          <a:xfrm>
            <a:off x="713232" y="5120640"/>
            <a:ext cx="3086100" cy="219456"/>
          </a:xfrm>
          <a:prstGeom prst="rect">
            <a:avLst/>
          </a:prstGeom>
          <a:noFill/>
        </p:spPr>
        <p:txBody>
          <a:bodyPr wrap="square" lIns="0" rIns="0" tIns="0" bIns="0" anchor="t">
            <a:spAutoFit/>
          </a:bodyPr>
          <a:lstStyle/>
          <a:p>
            <a:pPr algn="l">
              <a:lnSpc>
                <a:spcPct val="115000"/>
              </a:lnSpc>
            </a:pPr>
            <a:r>
              <a:rPr sz="850" b="0">
                <a:solidFill>
                  <a:srgbClr val="556764"/>
                </a:solidFill>
                <a:latin typeface="Segoe UI"/>
              </a:rPr>
              <a:t>issuer, asset class and sector ceilings</a:t>
            </a:r>
          </a:p>
        </p:txBody>
      </p:sp>
      <p:sp>
        <p:nvSpPr>
          <p:cNvPr id="23" name="Rectangle 22"/>
          <p:cNvSpPr/>
          <p:nvPr/>
        </p:nvSpPr>
        <p:spPr>
          <a:xfrm>
            <a:off x="4091939" y="3547872"/>
            <a:ext cx="3378708" cy="566928"/>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38244" y="3639312"/>
            <a:ext cx="3104388" cy="182880"/>
          </a:xfrm>
          <a:prstGeom prst="rect">
            <a:avLst/>
          </a:prstGeom>
          <a:noFill/>
        </p:spPr>
        <p:txBody>
          <a:bodyPr wrap="square" lIns="0" rIns="0" tIns="0" bIns="0" anchor="t">
            <a:spAutoFit/>
          </a:bodyPr>
          <a:lstStyle/>
          <a:p>
            <a:pPr algn="l">
              <a:lnSpc>
                <a:spcPct val="115000"/>
              </a:lnSpc>
            </a:pPr>
            <a:r>
              <a:rPr sz="1000" b="1">
                <a:solidFill>
                  <a:srgbClr val="E6EDEB"/>
                </a:solidFill>
                <a:latin typeface="Segoe UI"/>
              </a:rPr>
              <a:t>Wrong-way risk</a:t>
            </a:r>
          </a:p>
        </p:txBody>
      </p:sp>
      <p:sp>
        <p:nvSpPr>
          <p:cNvPr id="25" name="TextBox 24"/>
          <p:cNvSpPr txBox="1"/>
          <p:nvPr/>
        </p:nvSpPr>
        <p:spPr>
          <a:xfrm>
            <a:off x="4238244" y="3840480"/>
            <a:ext cx="3086100" cy="219456"/>
          </a:xfrm>
          <a:prstGeom prst="rect">
            <a:avLst/>
          </a:prstGeom>
          <a:noFill/>
        </p:spPr>
        <p:txBody>
          <a:bodyPr wrap="square" lIns="0" rIns="0" tIns="0" bIns="0" anchor="t">
            <a:spAutoFit/>
          </a:bodyPr>
          <a:lstStyle/>
          <a:p>
            <a:pPr algn="l">
              <a:lnSpc>
                <a:spcPct val="115000"/>
              </a:lnSpc>
            </a:pPr>
            <a:r>
              <a:rPr sz="850" b="0">
                <a:solidFill>
                  <a:srgbClr val="556764"/>
                </a:solidFill>
                <a:latin typeface="Segoe UI"/>
              </a:rPr>
              <a:t>never the counterparty's own paper</a:t>
            </a:r>
          </a:p>
        </p:txBody>
      </p:sp>
      <p:sp>
        <p:nvSpPr>
          <p:cNvPr id="26" name="Rectangle 25"/>
          <p:cNvSpPr/>
          <p:nvPr/>
        </p:nvSpPr>
        <p:spPr>
          <a:xfrm>
            <a:off x="4091939" y="4187952"/>
            <a:ext cx="3378708" cy="566928"/>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38244" y="4279392"/>
            <a:ext cx="3104388" cy="182880"/>
          </a:xfrm>
          <a:prstGeom prst="rect">
            <a:avLst/>
          </a:prstGeom>
          <a:noFill/>
        </p:spPr>
        <p:txBody>
          <a:bodyPr wrap="square" lIns="0" rIns="0" tIns="0" bIns="0" anchor="t">
            <a:spAutoFit/>
          </a:bodyPr>
          <a:lstStyle/>
          <a:p>
            <a:pPr algn="l">
              <a:lnSpc>
                <a:spcPct val="115000"/>
              </a:lnSpc>
            </a:pPr>
            <a:r>
              <a:rPr sz="1000" b="1">
                <a:solidFill>
                  <a:srgbClr val="E6EDEB"/>
                </a:solidFill>
                <a:latin typeface="Segoe UI"/>
              </a:rPr>
              <a:t>Inventory</a:t>
            </a:r>
          </a:p>
        </p:txBody>
      </p:sp>
      <p:sp>
        <p:nvSpPr>
          <p:cNvPr id="28" name="TextBox 27"/>
          <p:cNvSpPr txBox="1"/>
          <p:nvPr/>
        </p:nvSpPr>
        <p:spPr>
          <a:xfrm>
            <a:off x="4238244" y="4480560"/>
            <a:ext cx="3086100" cy="219456"/>
          </a:xfrm>
          <a:prstGeom prst="rect">
            <a:avLst/>
          </a:prstGeom>
          <a:noFill/>
        </p:spPr>
        <p:txBody>
          <a:bodyPr wrap="square" lIns="0" rIns="0" tIns="0" bIns="0" anchor="t">
            <a:spAutoFit/>
          </a:bodyPr>
          <a:lstStyle/>
          <a:p>
            <a:pPr algn="l">
              <a:lnSpc>
                <a:spcPct val="115000"/>
              </a:lnSpc>
            </a:pPr>
            <a:r>
              <a:rPr sz="850" b="0">
                <a:solidFill>
                  <a:srgbClr val="556764"/>
                </a:solidFill>
                <a:latin typeface="Segoe UI"/>
              </a:rPr>
              <a:t>what is genuinely available to encumber</a:t>
            </a:r>
          </a:p>
        </p:txBody>
      </p:sp>
      <p:sp>
        <p:nvSpPr>
          <p:cNvPr id="29" name="Rectangle 28"/>
          <p:cNvSpPr/>
          <p:nvPr/>
        </p:nvSpPr>
        <p:spPr>
          <a:xfrm>
            <a:off x="4091939" y="4828032"/>
            <a:ext cx="3378708" cy="566928"/>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38244" y="4919472"/>
            <a:ext cx="3104388" cy="182880"/>
          </a:xfrm>
          <a:prstGeom prst="rect">
            <a:avLst/>
          </a:prstGeom>
          <a:noFill/>
        </p:spPr>
        <p:txBody>
          <a:bodyPr wrap="square" lIns="0" rIns="0" tIns="0" bIns="0" anchor="t">
            <a:spAutoFit/>
          </a:bodyPr>
          <a:lstStyle/>
          <a:p>
            <a:pPr algn="l">
              <a:lnSpc>
                <a:spcPct val="115000"/>
              </a:lnSpc>
            </a:pPr>
            <a:r>
              <a:rPr sz="1000" b="1">
                <a:solidFill>
                  <a:srgbClr val="E6EDEB"/>
                </a:solidFill>
                <a:latin typeface="Segoe UI"/>
              </a:rPr>
              <a:t>FX</a:t>
            </a:r>
          </a:p>
        </p:txBody>
      </p:sp>
      <p:sp>
        <p:nvSpPr>
          <p:cNvPr id="31" name="TextBox 30"/>
          <p:cNvSpPr txBox="1"/>
          <p:nvPr/>
        </p:nvSpPr>
        <p:spPr>
          <a:xfrm>
            <a:off x="4238244" y="5120640"/>
            <a:ext cx="3086100" cy="219456"/>
          </a:xfrm>
          <a:prstGeom prst="rect">
            <a:avLst/>
          </a:prstGeom>
          <a:noFill/>
        </p:spPr>
        <p:txBody>
          <a:bodyPr wrap="square" lIns="0" rIns="0" tIns="0" bIns="0" anchor="t">
            <a:spAutoFit/>
          </a:bodyPr>
          <a:lstStyle/>
          <a:p>
            <a:pPr algn="l">
              <a:lnSpc>
                <a:spcPct val="115000"/>
              </a:lnSpc>
            </a:pPr>
            <a:r>
              <a:rPr sz="850" b="0">
                <a:solidFill>
                  <a:srgbClr val="556764"/>
                </a:solidFill>
                <a:latin typeface="Segoe UI"/>
              </a:rPr>
              <a:t>non-base currency takes a further haircut</a:t>
            </a:r>
          </a:p>
        </p:txBody>
      </p:sp>
      <p:sp>
        <p:nvSpPr>
          <p:cNvPr id="32" name="Rectangle 31"/>
          <p:cNvSpPr/>
          <p:nvPr/>
        </p:nvSpPr>
        <p:spPr>
          <a:xfrm>
            <a:off x="7699248" y="1901952"/>
            <a:ext cx="3941063" cy="2395728"/>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18704" y="2048256"/>
            <a:ext cx="3566160" cy="219456"/>
          </a:xfrm>
          <a:prstGeom prst="rect">
            <a:avLst/>
          </a:prstGeom>
          <a:noFill/>
        </p:spPr>
        <p:txBody>
          <a:bodyPr wrap="square" lIns="0" rIns="0" tIns="0" bIns="0" anchor="t">
            <a:spAutoFit/>
          </a:bodyPr>
          <a:lstStyle/>
          <a:p>
            <a:pPr algn="l">
              <a:lnSpc>
                <a:spcPct val="115000"/>
              </a:lnSpc>
            </a:pPr>
            <a:r>
              <a:rPr sz="900" b="0" spc="180">
                <a:solidFill>
                  <a:srgbClr val="556764"/>
                </a:solidFill>
                <a:latin typeface="Consolas"/>
              </a:rPr>
              <a:t>ON ONE VERIFIED RUN</a:t>
            </a:r>
          </a:p>
        </p:txBody>
      </p:sp>
      <p:sp>
        <p:nvSpPr>
          <p:cNvPr id="34" name="TextBox 33"/>
          <p:cNvSpPr txBox="1"/>
          <p:nvPr/>
        </p:nvSpPr>
        <p:spPr>
          <a:xfrm>
            <a:off x="7918704" y="2340864"/>
            <a:ext cx="3566160" cy="182880"/>
          </a:xfrm>
          <a:prstGeom prst="rect">
            <a:avLst/>
          </a:prstGeom>
          <a:noFill/>
        </p:spPr>
        <p:txBody>
          <a:bodyPr wrap="square" lIns="0" rIns="0" tIns="0" bIns="0" anchor="t">
            <a:spAutoFit/>
          </a:bodyPr>
          <a:lstStyle/>
          <a:p>
            <a:pPr algn="l">
              <a:lnSpc>
                <a:spcPct val="115000"/>
              </a:lnSpc>
            </a:pPr>
            <a:r>
              <a:rPr sz="900" b="0">
                <a:solidFill>
                  <a:srgbClr val="556764"/>
                </a:solidFill>
                <a:latin typeface="Segoe UI"/>
              </a:rPr>
              <a:t>Cash-first, as most desks post</a:t>
            </a:r>
          </a:p>
        </p:txBody>
      </p:sp>
      <p:sp>
        <p:nvSpPr>
          <p:cNvPr id="35" name="TextBox 34"/>
          <p:cNvSpPr txBox="1"/>
          <p:nvPr/>
        </p:nvSpPr>
        <p:spPr>
          <a:xfrm>
            <a:off x="7918704" y="2523744"/>
            <a:ext cx="3566160" cy="292608"/>
          </a:xfrm>
          <a:prstGeom prst="rect">
            <a:avLst/>
          </a:prstGeom>
          <a:noFill/>
        </p:spPr>
        <p:txBody>
          <a:bodyPr wrap="square" lIns="0" rIns="0" tIns="0" bIns="0" anchor="t">
            <a:spAutoFit/>
          </a:bodyPr>
          <a:lstStyle/>
          <a:p>
            <a:pPr algn="l">
              <a:lnSpc>
                <a:spcPct val="115000"/>
              </a:lnSpc>
            </a:pPr>
            <a:r>
              <a:rPr sz="1700" b="1">
                <a:solidFill>
                  <a:srgbClr val="A9BCB8"/>
                </a:solidFill>
                <a:latin typeface="Consolas"/>
              </a:rPr>
              <a:t>USD 23,002.41</a:t>
            </a:r>
          </a:p>
        </p:txBody>
      </p:sp>
      <p:sp>
        <p:nvSpPr>
          <p:cNvPr id="36" name="TextBox 35"/>
          <p:cNvSpPr txBox="1"/>
          <p:nvPr/>
        </p:nvSpPr>
        <p:spPr>
          <a:xfrm>
            <a:off x="7918704" y="2944368"/>
            <a:ext cx="3566160" cy="182880"/>
          </a:xfrm>
          <a:prstGeom prst="rect">
            <a:avLst/>
          </a:prstGeom>
          <a:noFill/>
        </p:spPr>
        <p:txBody>
          <a:bodyPr wrap="square" lIns="0" rIns="0" tIns="0" bIns="0" anchor="t">
            <a:spAutoFit/>
          </a:bodyPr>
          <a:lstStyle/>
          <a:p>
            <a:pPr algn="l">
              <a:lnSpc>
                <a:spcPct val="115000"/>
              </a:lnSpc>
            </a:pPr>
            <a:r>
              <a:rPr sz="900" b="0">
                <a:solidFill>
                  <a:srgbClr val="556764"/>
                </a:solidFill>
                <a:latin typeface="Segoe UI"/>
              </a:rPr>
              <a:t>Optimised allocation</a:t>
            </a:r>
          </a:p>
        </p:txBody>
      </p:sp>
      <p:sp>
        <p:nvSpPr>
          <p:cNvPr id="37" name="TextBox 36"/>
          <p:cNvSpPr txBox="1"/>
          <p:nvPr/>
        </p:nvSpPr>
        <p:spPr>
          <a:xfrm>
            <a:off x="7918704" y="3127248"/>
            <a:ext cx="3566160" cy="292608"/>
          </a:xfrm>
          <a:prstGeom prst="rect">
            <a:avLst/>
          </a:prstGeom>
          <a:noFill/>
        </p:spPr>
        <p:txBody>
          <a:bodyPr wrap="square" lIns="0" rIns="0" tIns="0" bIns="0" anchor="t">
            <a:spAutoFit/>
          </a:bodyPr>
          <a:lstStyle/>
          <a:p>
            <a:pPr algn="l">
              <a:lnSpc>
                <a:spcPct val="115000"/>
              </a:lnSpc>
            </a:pPr>
            <a:r>
              <a:rPr sz="1700" b="1">
                <a:solidFill>
                  <a:srgbClr val="4FC3AE"/>
                </a:solidFill>
                <a:latin typeface="Consolas"/>
              </a:rPr>
              <a:t>USD 5,496.52</a:t>
            </a:r>
          </a:p>
        </p:txBody>
      </p:sp>
      <p:sp>
        <p:nvSpPr>
          <p:cNvPr id="38" name="Rectangle 37"/>
          <p:cNvSpPr/>
          <p:nvPr/>
        </p:nvSpPr>
        <p:spPr>
          <a:xfrm>
            <a:off x="7918704" y="3566160"/>
            <a:ext cx="3520440"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918704" y="3675887"/>
            <a:ext cx="3566160" cy="182880"/>
          </a:xfrm>
          <a:prstGeom prst="rect">
            <a:avLst/>
          </a:prstGeom>
          <a:noFill/>
        </p:spPr>
        <p:txBody>
          <a:bodyPr wrap="square" lIns="0" rIns="0" tIns="0" bIns="0" anchor="t">
            <a:spAutoFit/>
          </a:bodyPr>
          <a:lstStyle/>
          <a:p>
            <a:pPr algn="l">
              <a:lnSpc>
                <a:spcPct val="115000"/>
              </a:lnSpc>
            </a:pPr>
            <a:r>
              <a:rPr sz="900" b="0" spc="180">
                <a:solidFill>
                  <a:srgbClr val="556764"/>
                </a:solidFill>
                <a:latin typeface="Consolas"/>
              </a:rPr>
              <a:t>MODELLED REDUCTION</a:t>
            </a:r>
          </a:p>
        </p:txBody>
      </p:sp>
      <p:sp>
        <p:nvSpPr>
          <p:cNvPr id="40" name="TextBox 39"/>
          <p:cNvSpPr txBox="1"/>
          <p:nvPr/>
        </p:nvSpPr>
        <p:spPr>
          <a:xfrm>
            <a:off x="7918704" y="3858768"/>
            <a:ext cx="2011680" cy="329184"/>
          </a:xfrm>
          <a:prstGeom prst="rect">
            <a:avLst/>
          </a:prstGeom>
          <a:noFill/>
        </p:spPr>
        <p:txBody>
          <a:bodyPr wrap="square" lIns="0" rIns="0" tIns="0" bIns="0" anchor="t">
            <a:spAutoFit/>
          </a:bodyPr>
          <a:lstStyle/>
          <a:p>
            <a:pPr algn="l">
              <a:lnSpc>
                <a:spcPct val="115000"/>
              </a:lnSpc>
            </a:pPr>
            <a:r>
              <a:rPr sz="2600" b="1">
                <a:solidFill>
                  <a:srgbClr val="4FC3AE"/>
                </a:solidFill>
                <a:latin typeface="Consolas"/>
              </a:rPr>
              <a:t>76.10%</a:t>
            </a:r>
          </a:p>
        </p:txBody>
      </p:sp>
      <p:sp>
        <p:nvSpPr>
          <p:cNvPr id="41" name="TextBox 40"/>
          <p:cNvSpPr txBox="1"/>
          <p:nvPr/>
        </p:nvSpPr>
        <p:spPr>
          <a:xfrm>
            <a:off x="9802367" y="3931920"/>
            <a:ext cx="1691640" cy="274320"/>
          </a:xfrm>
          <a:prstGeom prst="rect">
            <a:avLst/>
          </a:prstGeom>
          <a:noFill/>
        </p:spPr>
        <p:txBody>
          <a:bodyPr wrap="square" lIns="0" rIns="0" tIns="0" bIns="0" anchor="t">
            <a:spAutoFit/>
          </a:bodyPr>
          <a:lstStyle/>
          <a:p>
            <a:pPr algn="l">
              <a:lnSpc>
                <a:spcPct val="130000"/>
              </a:lnSpc>
            </a:pPr>
            <a:r>
              <a:rPr sz="850" b="0">
                <a:solidFill>
                  <a:srgbClr val="7B908C"/>
                </a:solidFill>
                <a:latin typeface="Segoe UI"/>
              </a:rPr>
              <a:t>USD 17,505.89</a:t>
            </a:r>
          </a:p>
          <a:p>
            <a:pPr algn="l">
              <a:lnSpc>
                <a:spcPct val="130000"/>
              </a:lnSpc>
            </a:pPr>
            <a:r>
              <a:rPr sz="850" b="0">
                <a:solidFill>
                  <a:srgbClr val="7B908C"/>
                </a:solidFill>
                <a:latin typeface="Segoe UI"/>
              </a:rPr>
              <a:t>on this one call</a:t>
            </a:r>
          </a:p>
        </p:txBody>
      </p:sp>
      <p:sp>
        <p:nvSpPr>
          <p:cNvPr id="42" name="Rectangle 41"/>
          <p:cNvSpPr/>
          <p:nvPr/>
        </p:nvSpPr>
        <p:spPr>
          <a:xfrm>
            <a:off x="7699248" y="4443984"/>
            <a:ext cx="3941063" cy="1627632"/>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918704" y="4590288"/>
            <a:ext cx="3566160" cy="219456"/>
          </a:xfrm>
          <a:prstGeom prst="rect">
            <a:avLst/>
          </a:prstGeom>
          <a:noFill/>
        </p:spPr>
        <p:txBody>
          <a:bodyPr wrap="square" lIns="0" rIns="0" tIns="0" bIns="0" anchor="t">
            <a:spAutoFit/>
          </a:bodyPr>
          <a:lstStyle/>
          <a:p>
            <a:pPr algn="l">
              <a:lnSpc>
                <a:spcPct val="115000"/>
              </a:lnSpc>
            </a:pPr>
            <a:r>
              <a:rPr sz="900" b="0" spc="160">
                <a:solidFill>
                  <a:srgbClr val="556764"/>
                </a:solidFill>
                <a:latin typeface="Consolas"/>
              </a:rPr>
              <a:t>WHAT THE SOLVER ALSO RETURNS</a:t>
            </a:r>
          </a:p>
        </p:txBody>
      </p:sp>
      <p:sp>
        <p:nvSpPr>
          <p:cNvPr id="44" name="TextBox 43"/>
          <p:cNvSpPr txBox="1"/>
          <p:nvPr/>
        </p:nvSpPr>
        <p:spPr>
          <a:xfrm>
            <a:off x="7918704" y="4828032"/>
            <a:ext cx="3611880" cy="365760"/>
          </a:xfrm>
          <a:prstGeom prst="rect">
            <a:avLst/>
          </a:prstGeom>
          <a:noFill/>
        </p:spPr>
        <p:txBody>
          <a:bodyPr wrap="square" lIns="0" rIns="0" tIns="0" bIns="0" anchor="t">
            <a:spAutoFit/>
          </a:bodyPr>
          <a:lstStyle/>
          <a:p>
            <a:pPr algn="l">
              <a:lnSpc>
                <a:spcPct val="125000"/>
              </a:lnSpc>
            </a:pPr>
            <a:r>
              <a:rPr sz="850" b="0">
                <a:solidFill>
                  <a:srgbClr val="7B908C"/>
                </a:solidFill>
                <a:latin typeface="Segoe UI"/>
              </a:rPr>
              <a:t>The shadow price of every binding constraint — what relaxing it by one unit would save:</a:t>
            </a:r>
          </a:p>
        </p:txBody>
      </p:sp>
      <p:sp>
        <p:nvSpPr>
          <p:cNvPr id="45" name="TextBox 44"/>
          <p:cNvSpPr txBox="1"/>
          <p:nvPr/>
        </p:nvSpPr>
        <p:spPr>
          <a:xfrm>
            <a:off x="7918704" y="5285232"/>
            <a:ext cx="1143000" cy="182880"/>
          </a:xfrm>
          <a:prstGeom prst="rect">
            <a:avLst/>
          </a:prstGeom>
          <a:noFill/>
        </p:spPr>
        <p:txBody>
          <a:bodyPr wrap="square" lIns="0" rIns="0" tIns="0" bIns="0" anchor="t">
            <a:spAutoFit/>
          </a:bodyPr>
          <a:lstStyle/>
          <a:p>
            <a:pPr algn="l">
              <a:lnSpc>
                <a:spcPct val="115000"/>
              </a:lnSpc>
            </a:pPr>
            <a:r>
              <a:rPr sz="850" b="0">
                <a:solidFill>
                  <a:srgbClr val="A9BCB8"/>
                </a:solidFill>
                <a:latin typeface="Segoe UI"/>
              </a:rPr>
              <a:t>Coverage</a:t>
            </a:r>
          </a:p>
        </p:txBody>
      </p:sp>
      <p:sp>
        <p:nvSpPr>
          <p:cNvPr id="46" name="TextBox 45"/>
          <p:cNvSpPr txBox="1"/>
          <p:nvPr/>
        </p:nvSpPr>
        <p:spPr>
          <a:xfrm>
            <a:off x="9015984" y="5285232"/>
            <a:ext cx="685800" cy="182880"/>
          </a:xfrm>
          <a:prstGeom prst="rect">
            <a:avLst/>
          </a:prstGeom>
          <a:noFill/>
        </p:spPr>
        <p:txBody>
          <a:bodyPr wrap="square" lIns="0" rIns="0" tIns="0" bIns="0" anchor="t">
            <a:spAutoFit/>
          </a:bodyPr>
          <a:lstStyle/>
          <a:p>
            <a:pPr algn="r">
              <a:lnSpc>
                <a:spcPct val="115000"/>
              </a:lnSpc>
            </a:pPr>
            <a:r>
              <a:rPr sz="850" b="1">
                <a:solidFill>
                  <a:srgbClr val="4FC3AE"/>
                </a:solidFill>
                <a:latin typeface="Consolas"/>
              </a:rPr>
              <a:t>6.80bp</a:t>
            </a:r>
          </a:p>
        </p:txBody>
      </p:sp>
      <p:sp>
        <p:nvSpPr>
          <p:cNvPr id="47" name="TextBox 46"/>
          <p:cNvSpPr txBox="1"/>
          <p:nvPr/>
        </p:nvSpPr>
        <p:spPr>
          <a:xfrm>
            <a:off x="9747504" y="5285232"/>
            <a:ext cx="1143000" cy="182880"/>
          </a:xfrm>
          <a:prstGeom prst="rect">
            <a:avLst/>
          </a:prstGeom>
          <a:noFill/>
        </p:spPr>
        <p:txBody>
          <a:bodyPr wrap="square" lIns="0" rIns="0" tIns="0" bIns="0" anchor="t">
            <a:spAutoFit/>
          </a:bodyPr>
          <a:lstStyle/>
          <a:p>
            <a:pPr algn="l">
              <a:lnSpc>
                <a:spcPct val="115000"/>
              </a:lnSpc>
            </a:pPr>
            <a:r>
              <a:rPr sz="850" b="0">
                <a:solidFill>
                  <a:srgbClr val="A9BCB8"/>
                </a:solidFill>
                <a:latin typeface="Segoe UI"/>
              </a:rPr>
              <a:t>Corporate cap</a:t>
            </a:r>
          </a:p>
        </p:txBody>
      </p:sp>
      <p:sp>
        <p:nvSpPr>
          <p:cNvPr id="48" name="TextBox 47"/>
          <p:cNvSpPr txBox="1"/>
          <p:nvPr/>
        </p:nvSpPr>
        <p:spPr>
          <a:xfrm>
            <a:off x="10844784" y="5285232"/>
            <a:ext cx="685800" cy="182880"/>
          </a:xfrm>
          <a:prstGeom prst="rect">
            <a:avLst/>
          </a:prstGeom>
          <a:noFill/>
        </p:spPr>
        <p:txBody>
          <a:bodyPr wrap="square" lIns="0" rIns="0" tIns="0" bIns="0" anchor="t">
            <a:spAutoFit/>
          </a:bodyPr>
          <a:lstStyle/>
          <a:p>
            <a:pPr algn="r">
              <a:lnSpc>
                <a:spcPct val="115000"/>
              </a:lnSpc>
            </a:pPr>
            <a:r>
              <a:rPr sz="850" b="1">
                <a:solidFill>
                  <a:srgbClr val="4FC3AE"/>
                </a:solidFill>
                <a:latin typeface="Consolas"/>
              </a:rPr>
              <a:t>2.61bp</a:t>
            </a:r>
          </a:p>
        </p:txBody>
      </p:sp>
      <p:sp>
        <p:nvSpPr>
          <p:cNvPr id="49" name="TextBox 48"/>
          <p:cNvSpPr txBox="1"/>
          <p:nvPr/>
        </p:nvSpPr>
        <p:spPr>
          <a:xfrm>
            <a:off x="7918704" y="5559552"/>
            <a:ext cx="1143000" cy="182880"/>
          </a:xfrm>
          <a:prstGeom prst="rect">
            <a:avLst/>
          </a:prstGeom>
          <a:noFill/>
        </p:spPr>
        <p:txBody>
          <a:bodyPr wrap="square" lIns="0" rIns="0" tIns="0" bIns="0" anchor="t">
            <a:spAutoFit/>
          </a:bodyPr>
          <a:lstStyle/>
          <a:p>
            <a:pPr algn="l">
              <a:lnSpc>
                <a:spcPct val="115000"/>
              </a:lnSpc>
            </a:pPr>
            <a:r>
              <a:rPr sz="850" b="0">
                <a:solidFill>
                  <a:srgbClr val="A9BCB8"/>
                </a:solidFill>
                <a:latin typeface="Segoe UI"/>
              </a:rPr>
              <a:t>Gold cap</a:t>
            </a:r>
          </a:p>
        </p:txBody>
      </p:sp>
      <p:sp>
        <p:nvSpPr>
          <p:cNvPr id="50" name="TextBox 49"/>
          <p:cNvSpPr txBox="1"/>
          <p:nvPr/>
        </p:nvSpPr>
        <p:spPr>
          <a:xfrm>
            <a:off x="9015984" y="5559552"/>
            <a:ext cx="685800" cy="182880"/>
          </a:xfrm>
          <a:prstGeom prst="rect">
            <a:avLst/>
          </a:prstGeom>
          <a:noFill/>
        </p:spPr>
        <p:txBody>
          <a:bodyPr wrap="square" lIns="0" rIns="0" tIns="0" bIns="0" anchor="t">
            <a:spAutoFit/>
          </a:bodyPr>
          <a:lstStyle/>
          <a:p>
            <a:pPr algn="r">
              <a:lnSpc>
                <a:spcPct val="115000"/>
              </a:lnSpc>
            </a:pPr>
            <a:r>
              <a:rPr sz="850" b="1">
                <a:solidFill>
                  <a:srgbClr val="4FC3AE"/>
                </a:solidFill>
                <a:latin typeface="Consolas"/>
              </a:rPr>
              <a:t>1.22bp</a:t>
            </a:r>
          </a:p>
        </p:txBody>
      </p:sp>
      <p:sp>
        <p:nvSpPr>
          <p:cNvPr id="51" name="TextBox 50"/>
          <p:cNvSpPr txBox="1"/>
          <p:nvPr/>
        </p:nvSpPr>
        <p:spPr>
          <a:xfrm>
            <a:off x="9747504" y="5559552"/>
            <a:ext cx="1143000" cy="182880"/>
          </a:xfrm>
          <a:prstGeom prst="rect">
            <a:avLst/>
          </a:prstGeom>
          <a:noFill/>
        </p:spPr>
        <p:txBody>
          <a:bodyPr wrap="square" lIns="0" rIns="0" tIns="0" bIns="0" anchor="t">
            <a:spAutoFit/>
          </a:bodyPr>
          <a:lstStyle/>
          <a:p>
            <a:pPr algn="l">
              <a:lnSpc>
                <a:spcPct val="115000"/>
              </a:lnSpc>
            </a:pPr>
            <a:r>
              <a:rPr sz="850" b="0">
                <a:solidFill>
                  <a:srgbClr val="A9BCB8"/>
                </a:solidFill>
                <a:latin typeface="Segoe UI"/>
              </a:rPr>
              <a:t>Single-issuer cap</a:t>
            </a:r>
          </a:p>
        </p:txBody>
      </p:sp>
      <p:sp>
        <p:nvSpPr>
          <p:cNvPr id="52" name="TextBox 51"/>
          <p:cNvSpPr txBox="1"/>
          <p:nvPr/>
        </p:nvSpPr>
        <p:spPr>
          <a:xfrm>
            <a:off x="10844784" y="5559552"/>
            <a:ext cx="685800" cy="182880"/>
          </a:xfrm>
          <a:prstGeom prst="rect">
            <a:avLst/>
          </a:prstGeom>
          <a:noFill/>
        </p:spPr>
        <p:txBody>
          <a:bodyPr wrap="square" lIns="0" rIns="0" tIns="0" bIns="0" anchor="t">
            <a:spAutoFit/>
          </a:bodyPr>
          <a:lstStyle/>
          <a:p>
            <a:pPr algn="r">
              <a:lnSpc>
                <a:spcPct val="115000"/>
              </a:lnSpc>
            </a:pPr>
            <a:r>
              <a:rPr sz="850" b="1">
                <a:solidFill>
                  <a:srgbClr val="4FC3AE"/>
                </a:solidFill>
                <a:latin typeface="Consolas"/>
              </a:rPr>
              <a:t>1.09bp</a:t>
            </a:r>
          </a:p>
        </p:txBody>
      </p:sp>
      <p:sp>
        <p:nvSpPr>
          <p:cNvPr id="53" name="Rectangle 52"/>
          <p:cNvSpPr/>
          <p:nvPr/>
        </p:nvSpPr>
        <p:spPr>
          <a:xfrm>
            <a:off x="566928" y="5870448"/>
            <a:ext cx="6903720" cy="384048"/>
          </a:xfrm>
          <a:prstGeom prst="rect">
            <a:avLst/>
          </a:prstGeom>
          <a:solidFill>
            <a:srgbClr val="182321"/>
          </a:solidFill>
          <a:ln w="12700">
            <a:solidFill>
              <a:srgbClr val="E0A3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31520" y="5943600"/>
            <a:ext cx="6583680" cy="237744"/>
          </a:xfrm>
          <a:prstGeom prst="rect">
            <a:avLst/>
          </a:prstGeom>
          <a:noFill/>
        </p:spPr>
        <p:txBody>
          <a:bodyPr wrap="square" lIns="0" rIns="0" tIns="0" bIns="0" anchor="t">
            <a:spAutoFit/>
          </a:bodyPr>
          <a:lstStyle/>
          <a:p>
            <a:pPr algn="l">
              <a:lnSpc>
                <a:spcPct val="115000"/>
              </a:lnSpc>
            </a:pPr>
            <a:r>
              <a:rPr sz="850" b="0">
                <a:solidFill>
                  <a:srgbClr val="E0A33C"/>
                </a:solidFill>
                <a:latin typeface="Segoe UI"/>
              </a:rPr>
              <a:t>MODELLED reduction vs a cash-first baseline in one synthetic scenario. Not a guarantee, not annualised.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201168"/>
          </a:xfrm>
          <a:prstGeom prst="rect">
            <a:avLst/>
          </a:prstGeom>
          <a:noFill/>
        </p:spPr>
        <p:txBody>
          <a:bodyPr wrap="square" lIns="0" rIns="0" tIns="0" bIns="0" anchor="t">
            <a:spAutoFit/>
          </a:bodyPr>
          <a:lstStyle/>
          <a:p>
            <a:pPr algn="l">
              <a:lnSpc>
                <a:spcPct val="115000"/>
              </a:lnSpc>
            </a:pPr>
            <a:r>
              <a:rPr sz="1050" b="1" spc="220">
                <a:solidFill>
                  <a:srgbClr val="556764"/>
                </a:solidFill>
                <a:latin typeface="Consolas"/>
              </a:rPr>
              <a:t>GIFT CITY · IFSC</a:t>
            </a:r>
          </a:p>
        </p:txBody>
      </p:sp>
      <p:sp>
        <p:nvSpPr>
          <p:cNvPr id="4" name="TextBox 3"/>
          <p:cNvSpPr txBox="1"/>
          <p:nvPr/>
        </p:nvSpPr>
        <p:spPr>
          <a:xfrm>
            <a:off x="566928" y="621792"/>
            <a:ext cx="11057839" cy="914400"/>
          </a:xfrm>
          <a:prstGeom prst="rect">
            <a:avLst/>
          </a:prstGeom>
          <a:noFill/>
        </p:spPr>
        <p:txBody>
          <a:bodyPr wrap="square" lIns="0" rIns="0" tIns="0" bIns="0" anchor="t">
            <a:spAutoFit/>
          </a:bodyPr>
          <a:lstStyle/>
          <a:p>
            <a:pPr algn="l">
              <a:lnSpc>
                <a:spcPct val="106000"/>
              </a:lnSpc>
            </a:pPr>
            <a:r>
              <a:rPr sz="2900" b="1">
                <a:solidFill>
                  <a:srgbClr val="E6EDEB"/>
                </a:solidFill>
                <a:latin typeface="Cambria"/>
              </a:rPr>
              <a:t>Cross-border collateral has to be priced, not assumed.</a:t>
            </a:r>
          </a:p>
        </p:txBody>
      </p:sp>
      <p:sp>
        <p:nvSpPr>
          <p:cNvPr id="5" name="Rectangle 4"/>
          <p:cNvSpPr/>
          <p:nvPr/>
        </p:nvSpPr>
        <p:spPr>
          <a:xfrm>
            <a:off x="566928" y="6336792"/>
            <a:ext cx="11057839"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28232"/>
            <a:ext cx="6400800" cy="219456"/>
          </a:xfrm>
          <a:prstGeom prst="rect">
            <a:avLst/>
          </a:prstGeom>
          <a:noFill/>
        </p:spPr>
        <p:txBody>
          <a:bodyPr wrap="square" lIns="0" rIns="0" tIns="0" bIns="0" anchor="t">
            <a:spAutoFit/>
          </a:bodyPr>
          <a:lstStyle/>
          <a:p>
            <a:pPr algn="l">
              <a:lnSpc>
                <a:spcPct val="115000"/>
              </a:lnSpc>
            </a:pPr>
            <a:r>
              <a:rPr sz="850" b="0" spc="200">
                <a:solidFill>
                  <a:srgbClr val="556764"/>
                </a:solidFill>
                <a:latin typeface="Consolas"/>
              </a:rPr>
              <a:t>AETHER-DERIVATIVES</a:t>
            </a:r>
          </a:p>
        </p:txBody>
      </p:sp>
      <p:sp>
        <p:nvSpPr>
          <p:cNvPr id="7" name="TextBox 6"/>
          <p:cNvSpPr txBox="1"/>
          <p:nvPr/>
        </p:nvSpPr>
        <p:spPr>
          <a:xfrm>
            <a:off x="11076127" y="6428232"/>
            <a:ext cx="548640" cy="219456"/>
          </a:xfrm>
          <a:prstGeom prst="rect">
            <a:avLst/>
          </a:prstGeom>
          <a:noFill/>
        </p:spPr>
        <p:txBody>
          <a:bodyPr wrap="square" lIns="0" rIns="0" tIns="0" bIns="0" anchor="t">
            <a:spAutoFit/>
          </a:bodyPr>
          <a:lstStyle/>
          <a:p>
            <a:pPr algn="r">
              <a:lnSpc>
                <a:spcPct val="115000"/>
              </a:lnSpc>
            </a:pPr>
            <a:r>
              <a:rPr sz="850" b="0">
                <a:solidFill>
                  <a:srgbClr val="556764"/>
                </a:solidFill>
                <a:latin typeface="Consolas"/>
              </a:rPr>
              <a:t>09</a:t>
            </a:r>
          </a:p>
        </p:txBody>
      </p:sp>
      <p:sp>
        <p:nvSpPr>
          <p:cNvPr id="8" name="TextBox 7"/>
          <p:cNvSpPr txBox="1"/>
          <p:nvPr/>
        </p:nvSpPr>
        <p:spPr>
          <a:xfrm>
            <a:off x="566928" y="1481328"/>
            <a:ext cx="10972800" cy="274320"/>
          </a:xfrm>
          <a:prstGeom prst="rect">
            <a:avLst/>
          </a:prstGeom>
          <a:noFill/>
        </p:spPr>
        <p:txBody>
          <a:bodyPr wrap="square" lIns="0" rIns="0" tIns="0" bIns="0" anchor="t">
            <a:spAutoFit/>
          </a:bodyPr>
          <a:lstStyle/>
          <a:p>
            <a:pPr algn="l">
              <a:lnSpc>
                <a:spcPct val="115000"/>
              </a:lnSpc>
            </a:pPr>
            <a:r>
              <a:rPr sz="1200" b="0">
                <a:solidFill>
                  <a:srgbClr val="A9BCB8"/>
                </a:solidFill>
                <a:latin typeface="Segoe UI"/>
              </a:rPr>
              <a:t>An IFSC banking unit trades a USD-based agreement while funding rupee assets at home. Those two facts pull in opposite directions.</a:t>
            </a:r>
          </a:p>
        </p:txBody>
      </p:sp>
      <p:sp>
        <p:nvSpPr>
          <p:cNvPr id="9" name="Rectangle 8"/>
          <p:cNvSpPr/>
          <p:nvPr/>
        </p:nvSpPr>
        <p:spPr>
          <a:xfrm>
            <a:off x="566928" y="1901952"/>
            <a:ext cx="5349240" cy="1005840"/>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901952"/>
            <a:ext cx="27432" cy="1005840"/>
          </a:xfrm>
          <a:prstGeom prst="rect">
            <a:avLst/>
          </a:prstGeom>
          <a:solidFill>
            <a:srgbClr val="4FC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048256"/>
            <a:ext cx="4937760" cy="219456"/>
          </a:xfrm>
          <a:prstGeom prst="rect">
            <a:avLst/>
          </a:prstGeom>
          <a:noFill/>
        </p:spPr>
        <p:txBody>
          <a:bodyPr wrap="square" lIns="0" rIns="0" tIns="0" bIns="0" anchor="t">
            <a:spAutoFit/>
          </a:bodyPr>
          <a:lstStyle/>
          <a:p>
            <a:pPr algn="l">
              <a:lnSpc>
                <a:spcPct val="115000"/>
              </a:lnSpc>
            </a:pPr>
            <a:r>
              <a:rPr sz="900" b="0" spc="180">
                <a:solidFill>
                  <a:srgbClr val="4FC3AE"/>
                </a:solidFill>
                <a:latin typeface="Consolas"/>
              </a:rPr>
              <a:t>THE ADVANTAGE</a:t>
            </a:r>
          </a:p>
        </p:txBody>
      </p:sp>
      <p:sp>
        <p:nvSpPr>
          <p:cNvPr id="12" name="TextBox 11"/>
          <p:cNvSpPr txBox="1"/>
          <p:nvPr/>
        </p:nvSpPr>
        <p:spPr>
          <a:xfrm>
            <a:off x="768096" y="2286000"/>
            <a:ext cx="4983480" cy="457200"/>
          </a:xfrm>
          <a:prstGeom prst="rect">
            <a:avLst/>
          </a:prstGeom>
          <a:noFill/>
        </p:spPr>
        <p:txBody>
          <a:bodyPr wrap="square" lIns="0" rIns="0" tIns="0" bIns="0" anchor="t">
            <a:spAutoFit/>
          </a:bodyPr>
          <a:lstStyle/>
          <a:p>
            <a:pPr algn="l">
              <a:lnSpc>
                <a:spcPct val="130000"/>
              </a:lnSpc>
            </a:pPr>
            <a:r>
              <a:rPr sz="1000" b="0">
                <a:solidFill>
                  <a:srgbClr val="7B908C"/>
                </a:solidFill>
                <a:latin typeface="Segoe UI"/>
              </a:rPr>
              <a:t>Local paper is cheaper to fund at home. On headline spread it beats the alternative.</a:t>
            </a:r>
          </a:p>
        </p:txBody>
      </p:sp>
      <p:sp>
        <p:nvSpPr>
          <p:cNvPr id="13" name="Rectangle 12"/>
          <p:cNvSpPr/>
          <p:nvPr/>
        </p:nvSpPr>
        <p:spPr>
          <a:xfrm>
            <a:off x="6291072" y="1901952"/>
            <a:ext cx="5349240" cy="1005840"/>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91072" y="1901952"/>
            <a:ext cx="27432" cy="1005840"/>
          </a:xfrm>
          <a:prstGeom prst="rect">
            <a:avLst/>
          </a:prstGeom>
          <a:solidFill>
            <a:srgbClr val="E0A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2048256"/>
            <a:ext cx="4937760" cy="219456"/>
          </a:xfrm>
          <a:prstGeom prst="rect">
            <a:avLst/>
          </a:prstGeom>
          <a:noFill/>
        </p:spPr>
        <p:txBody>
          <a:bodyPr wrap="square" lIns="0" rIns="0" tIns="0" bIns="0" anchor="t">
            <a:spAutoFit/>
          </a:bodyPr>
          <a:lstStyle/>
          <a:p>
            <a:pPr algn="l">
              <a:lnSpc>
                <a:spcPct val="115000"/>
              </a:lnSpc>
            </a:pPr>
            <a:r>
              <a:rPr sz="900" b="0" spc="180">
                <a:solidFill>
                  <a:srgbClr val="E0A33C"/>
                </a:solidFill>
                <a:latin typeface="Consolas"/>
              </a:rPr>
              <a:t>THE COST</a:t>
            </a:r>
          </a:p>
        </p:txBody>
      </p:sp>
      <p:sp>
        <p:nvSpPr>
          <p:cNvPr id="16" name="TextBox 15"/>
          <p:cNvSpPr txBox="1"/>
          <p:nvPr/>
        </p:nvSpPr>
        <p:spPr>
          <a:xfrm>
            <a:off x="6492240" y="2286000"/>
            <a:ext cx="4983480" cy="457200"/>
          </a:xfrm>
          <a:prstGeom prst="rect">
            <a:avLst/>
          </a:prstGeom>
          <a:noFill/>
        </p:spPr>
        <p:txBody>
          <a:bodyPr wrap="square" lIns="0" rIns="0" tIns="0" bIns="0" anchor="t">
            <a:spAutoFit/>
          </a:bodyPr>
          <a:lstStyle/>
          <a:p>
            <a:pPr algn="l">
              <a:lnSpc>
                <a:spcPct val="130000"/>
              </a:lnSpc>
            </a:pPr>
            <a:r>
              <a:rPr sz="1000" b="0">
                <a:solidFill>
                  <a:srgbClr val="7B908C"/>
                </a:solidFill>
                <a:latin typeface="Segoe UI"/>
              </a:rPr>
              <a:t>It is not in the agreement's base currency, so the annex takes a further FX haircut on top of the schedule valuation.</a:t>
            </a:r>
          </a:p>
        </p:txBody>
      </p:sp>
      <p:sp>
        <p:nvSpPr>
          <p:cNvPr id="17" name="TextBox 16"/>
          <p:cNvSpPr txBox="1"/>
          <p:nvPr/>
        </p:nvSpPr>
        <p:spPr>
          <a:xfrm>
            <a:off x="566928" y="3072384"/>
            <a:ext cx="11057839" cy="237744"/>
          </a:xfrm>
          <a:prstGeom prst="rect">
            <a:avLst/>
          </a:prstGeom>
          <a:noFill/>
        </p:spPr>
        <p:txBody>
          <a:bodyPr wrap="square" lIns="0" rIns="0" tIns="0" bIns="0" anchor="t">
            <a:spAutoFit/>
          </a:bodyPr>
          <a:lstStyle/>
          <a:p>
            <a:pPr algn="l">
              <a:lnSpc>
                <a:spcPct val="115000"/>
              </a:lnSpc>
            </a:pPr>
            <a:r>
              <a:rPr sz="1150" b="1">
                <a:solidFill>
                  <a:srgbClr val="E6EDEB"/>
                </a:solidFill>
                <a:latin typeface="Segoe UI"/>
              </a:rPr>
              <a:t>AETHER resolves the tension by pricing it. On the verified run:</a:t>
            </a:r>
          </a:p>
        </p:txBody>
      </p:sp>
      <p:sp>
        <p:nvSpPr>
          <p:cNvPr id="18" name="Rectangle 17"/>
          <p:cNvSpPr/>
          <p:nvPr/>
        </p:nvSpPr>
        <p:spPr>
          <a:xfrm>
            <a:off x="566928" y="3438144"/>
            <a:ext cx="1751533" cy="1024128"/>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 y="3566160"/>
            <a:ext cx="1532077" cy="292608"/>
          </a:xfrm>
          <a:prstGeom prst="rect">
            <a:avLst/>
          </a:prstGeom>
          <a:noFill/>
        </p:spPr>
        <p:txBody>
          <a:bodyPr wrap="square" lIns="0" rIns="0" tIns="0" bIns="0" anchor="t">
            <a:spAutoFit/>
          </a:bodyPr>
          <a:lstStyle/>
          <a:p>
            <a:pPr algn="l">
              <a:lnSpc>
                <a:spcPct val="120000"/>
              </a:lnSpc>
            </a:pPr>
            <a:r>
              <a:rPr sz="800" b="0" spc="100">
                <a:solidFill>
                  <a:srgbClr val="556764"/>
                </a:solidFill>
                <a:latin typeface="Consolas"/>
              </a:rPr>
              <a:t>Headline funding spread</a:t>
            </a:r>
          </a:p>
        </p:txBody>
      </p:sp>
      <p:sp>
        <p:nvSpPr>
          <p:cNvPr id="20" name="TextBox 19"/>
          <p:cNvSpPr txBox="1"/>
          <p:nvPr/>
        </p:nvSpPr>
        <p:spPr>
          <a:xfrm>
            <a:off x="676656" y="3913632"/>
            <a:ext cx="1532077" cy="292608"/>
          </a:xfrm>
          <a:prstGeom prst="rect">
            <a:avLst/>
          </a:prstGeom>
          <a:noFill/>
        </p:spPr>
        <p:txBody>
          <a:bodyPr wrap="square" lIns="0" rIns="0" tIns="0" bIns="0" anchor="t">
            <a:spAutoFit/>
          </a:bodyPr>
          <a:lstStyle/>
          <a:p>
            <a:pPr algn="l">
              <a:lnSpc>
                <a:spcPct val="115000"/>
              </a:lnSpc>
            </a:pPr>
            <a:r>
              <a:rPr sz="1500" b="1">
                <a:solidFill>
                  <a:srgbClr val="A9BCB8"/>
                </a:solidFill>
                <a:latin typeface="Consolas"/>
              </a:rPr>
              <a:t>9 bp</a:t>
            </a:r>
          </a:p>
        </p:txBody>
      </p:sp>
      <p:sp>
        <p:nvSpPr>
          <p:cNvPr id="21" name="TextBox 20"/>
          <p:cNvSpPr txBox="1"/>
          <p:nvPr/>
        </p:nvSpPr>
        <p:spPr>
          <a:xfrm>
            <a:off x="676656" y="4224528"/>
            <a:ext cx="1532077" cy="219456"/>
          </a:xfrm>
          <a:prstGeom prst="rect">
            <a:avLst/>
          </a:prstGeom>
          <a:noFill/>
        </p:spPr>
        <p:txBody>
          <a:bodyPr wrap="square" lIns="0" rIns="0" tIns="0" bIns="0" anchor="t">
            <a:spAutoFit/>
          </a:bodyPr>
          <a:lstStyle/>
          <a:p>
            <a:pPr algn="l">
              <a:lnSpc>
                <a:spcPct val="115000"/>
              </a:lnSpc>
            </a:pPr>
            <a:r>
              <a:rPr sz="750" b="0">
                <a:solidFill>
                  <a:srgbClr val="556764"/>
                </a:solidFill>
                <a:latin typeface="Segoe UI"/>
              </a:rPr>
              <a:t>cheaper than the 8 bp alternative</a:t>
            </a:r>
          </a:p>
        </p:txBody>
      </p:sp>
      <p:sp>
        <p:nvSpPr>
          <p:cNvPr id="22" name="Right Arrow 21"/>
          <p:cNvSpPr/>
          <p:nvPr/>
        </p:nvSpPr>
        <p:spPr>
          <a:xfrm>
            <a:off x="2325776" y="3913632"/>
            <a:ext cx="91440" cy="82296"/>
          </a:xfrm>
          <a:prstGeom prst="rightArrow">
            <a:avLst/>
          </a:prstGeom>
          <a:solidFill>
            <a:srgbClr val="2F8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428189" y="3438144"/>
            <a:ext cx="1751533" cy="1024128"/>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37917" y="3566160"/>
            <a:ext cx="1532077" cy="292608"/>
          </a:xfrm>
          <a:prstGeom prst="rect">
            <a:avLst/>
          </a:prstGeom>
          <a:noFill/>
        </p:spPr>
        <p:txBody>
          <a:bodyPr wrap="square" lIns="0" rIns="0" tIns="0" bIns="0" anchor="t">
            <a:spAutoFit/>
          </a:bodyPr>
          <a:lstStyle/>
          <a:p>
            <a:pPr algn="l">
              <a:lnSpc>
                <a:spcPct val="120000"/>
              </a:lnSpc>
            </a:pPr>
            <a:r>
              <a:rPr sz="800" b="0" spc="100">
                <a:solidFill>
                  <a:srgbClr val="556764"/>
                </a:solidFill>
                <a:latin typeface="Consolas"/>
              </a:rPr>
              <a:t>Schedule valuation</a:t>
            </a:r>
          </a:p>
        </p:txBody>
      </p:sp>
      <p:sp>
        <p:nvSpPr>
          <p:cNvPr id="25" name="TextBox 24"/>
          <p:cNvSpPr txBox="1"/>
          <p:nvPr/>
        </p:nvSpPr>
        <p:spPr>
          <a:xfrm>
            <a:off x="2537917" y="3913632"/>
            <a:ext cx="1532077" cy="292608"/>
          </a:xfrm>
          <a:prstGeom prst="rect">
            <a:avLst/>
          </a:prstGeom>
          <a:noFill/>
        </p:spPr>
        <p:txBody>
          <a:bodyPr wrap="square" lIns="0" rIns="0" tIns="0" bIns="0" anchor="t">
            <a:spAutoFit/>
          </a:bodyPr>
          <a:lstStyle/>
          <a:p>
            <a:pPr algn="l">
              <a:lnSpc>
                <a:spcPct val="115000"/>
              </a:lnSpc>
            </a:pPr>
            <a:r>
              <a:rPr sz="1500" b="1">
                <a:solidFill>
                  <a:srgbClr val="A9BCB8"/>
                </a:solidFill>
                <a:latin typeface="Consolas"/>
              </a:rPr>
              <a:t>94.00%</a:t>
            </a:r>
          </a:p>
        </p:txBody>
      </p:sp>
      <p:sp>
        <p:nvSpPr>
          <p:cNvPr id="26" name="TextBox 25"/>
          <p:cNvSpPr txBox="1"/>
          <p:nvPr/>
        </p:nvSpPr>
        <p:spPr>
          <a:xfrm>
            <a:off x="2537917" y="4224528"/>
            <a:ext cx="1532077" cy="219456"/>
          </a:xfrm>
          <a:prstGeom prst="rect">
            <a:avLst/>
          </a:prstGeom>
          <a:noFill/>
        </p:spPr>
        <p:txBody>
          <a:bodyPr wrap="square" lIns="0" rIns="0" tIns="0" bIns="0" anchor="t">
            <a:spAutoFit/>
          </a:bodyPr>
          <a:lstStyle/>
          <a:p>
            <a:pPr algn="l">
              <a:lnSpc>
                <a:spcPct val="115000"/>
              </a:lnSpc>
            </a:pPr>
            <a:r>
              <a:rPr sz="750" b="0">
                <a:solidFill>
                  <a:srgbClr val="556764"/>
                </a:solidFill>
                <a:latin typeface="Segoe UI"/>
              </a:rPr>
              <a:t>eligible collateral schedule</a:t>
            </a:r>
          </a:p>
        </p:txBody>
      </p:sp>
      <p:sp>
        <p:nvSpPr>
          <p:cNvPr id="27" name="Right Arrow 26"/>
          <p:cNvSpPr/>
          <p:nvPr/>
        </p:nvSpPr>
        <p:spPr>
          <a:xfrm>
            <a:off x="4187037" y="3913632"/>
            <a:ext cx="91440" cy="82296"/>
          </a:xfrm>
          <a:prstGeom prst="rightArrow">
            <a:avLst/>
          </a:prstGeom>
          <a:solidFill>
            <a:srgbClr val="2F8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89450" y="3438144"/>
            <a:ext cx="1751533" cy="1024128"/>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99178" y="3566160"/>
            <a:ext cx="1532077" cy="292608"/>
          </a:xfrm>
          <a:prstGeom prst="rect">
            <a:avLst/>
          </a:prstGeom>
          <a:noFill/>
        </p:spPr>
        <p:txBody>
          <a:bodyPr wrap="square" lIns="0" rIns="0" tIns="0" bIns="0" anchor="t">
            <a:spAutoFit/>
          </a:bodyPr>
          <a:lstStyle/>
          <a:p>
            <a:pPr algn="l">
              <a:lnSpc>
                <a:spcPct val="120000"/>
              </a:lnSpc>
            </a:pPr>
            <a:r>
              <a:rPr sz="800" b="0" spc="100">
                <a:solidFill>
                  <a:srgbClr val="556764"/>
                </a:solidFill>
                <a:latin typeface="Consolas"/>
              </a:rPr>
              <a:t>FX haircut on top</a:t>
            </a:r>
          </a:p>
        </p:txBody>
      </p:sp>
      <p:sp>
        <p:nvSpPr>
          <p:cNvPr id="30" name="TextBox 29"/>
          <p:cNvSpPr txBox="1"/>
          <p:nvPr/>
        </p:nvSpPr>
        <p:spPr>
          <a:xfrm>
            <a:off x="4399178" y="3913632"/>
            <a:ext cx="1532077" cy="292608"/>
          </a:xfrm>
          <a:prstGeom prst="rect">
            <a:avLst/>
          </a:prstGeom>
          <a:noFill/>
        </p:spPr>
        <p:txBody>
          <a:bodyPr wrap="square" lIns="0" rIns="0" tIns="0" bIns="0" anchor="t">
            <a:spAutoFit/>
          </a:bodyPr>
          <a:lstStyle/>
          <a:p>
            <a:pPr algn="l">
              <a:lnSpc>
                <a:spcPct val="115000"/>
              </a:lnSpc>
            </a:pPr>
            <a:r>
              <a:rPr sz="1500" b="1">
                <a:solidFill>
                  <a:srgbClr val="E0A33C"/>
                </a:solidFill>
                <a:latin typeface="Consolas"/>
              </a:rPr>
              <a:t>× 92%</a:t>
            </a:r>
          </a:p>
        </p:txBody>
      </p:sp>
      <p:sp>
        <p:nvSpPr>
          <p:cNvPr id="31" name="TextBox 30"/>
          <p:cNvSpPr txBox="1"/>
          <p:nvPr/>
        </p:nvSpPr>
        <p:spPr>
          <a:xfrm>
            <a:off x="4399178" y="4224528"/>
            <a:ext cx="1532077" cy="219456"/>
          </a:xfrm>
          <a:prstGeom prst="rect">
            <a:avLst/>
          </a:prstGeom>
          <a:noFill/>
        </p:spPr>
        <p:txBody>
          <a:bodyPr wrap="square" lIns="0" rIns="0" tIns="0" bIns="0" anchor="t">
            <a:spAutoFit/>
          </a:bodyPr>
          <a:lstStyle/>
          <a:p>
            <a:pPr algn="l">
              <a:lnSpc>
                <a:spcPct val="115000"/>
              </a:lnSpc>
            </a:pPr>
            <a:r>
              <a:rPr sz="750" b="0">
                <a:solidFill>
                  <a:srgbClr val="556764"/>
                </a:solidFill>
                <a:latin typeface="Segoe UI"/>
              </a:rPr>
              <a:t>non-base currency provision</a:t>
            </a:r>
          </a:p>
        </p:txBody>
      </p:sp>
      <p:sp>
        <p:nvSpPr>
          <p:cNvPr id="32" name="Right Arrow 31"/>
          <p:cNvSpPr/>
          <p:nvPr/>
        </p:nvSpPr>
        <p:spPr>
          <a:xfrm>
            <a:off x="6048298" y="3913632"/>
            <a:ext cx="91440" cy="82296"/>
          </a:xfrm>
          <a:prstGeom prst="rightArrow">
            <a:avLst/>
          </a:prstGeom>
          <a:solidFill>
            <a:srgbClr val="2F8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50711" y="3438144"/>
            <a:ext cx="1751533" cy="1024128"/>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60439" y="3566160"/>
            <a:ext cx="1532077" cy="292608"/>
          </a:xfrm>
          <a:prstGeom prst="rect">
            <a:avLst/>
          </a:prstGeom>
          <a:noFill/>
        </p:spPr>
        <p:txBody>
          <a:bodyPr wrap="square" lIns="0" rIns="0" tIns="0" bIns="0" anchor="t">
            <a:spAutoFit/>
          </a:bodyPr>
          <a:lstStyle/>
          <a:p>
            <a:pPr algn="l">
              <a:lnSpc>
                <a:spcPct val="120000"/>
              </a:lnSpc>
            </a:pPr>
            <a:r>
              <a:rPr sz="800" b="0" spc="100">
                <a:solidFill>
                  <a:srgbClr val="556764"/>
                </a:solidFill>
                <a:latin typeface="Consolas"/>
              </a:rPr>
              <a:t>Effective valuation</a:t>
            </a:r>
          </a:p>
        </p:txBody>
      </p:sp>
      <p:sp>
        <p:nvSpPr>
          <p:cNvPr id="35" name="TextBox 34"/>
          <p:cNvSpPr txBox="1"/>
          <p:nvPr/>
        </p:nvSpPr>
        <p:spPr>
          <a:xfrm>
            <a:off x="6260439" y="3913632"/>
            <a:ext cx="1532077" cy="292608"/>
          </a:xfrm>
          <a:prstGeom prst="rect">
            <a:avLst/>
          </a:prstGeom>
          <a:noFill/>
        </p:spPr>
        <p:txBody>
          <a:bodyPr wrap="square" lIns="0" rIns="0" tIns="0" bIns="0" anchor="t">
            <a:spAutoFit/>
          </a:bodyPr>
          <a:lstStyle/>
          <a:p>
            <a:pPr algn="l">
              <a:lnSpc>
                <a:spcPct val="115000"/>
              </a:lnSpc>
            </a:pPr>
            <a:r>
              <a:rPr sz="1500" b="1">
                <a:solidFill>
                  <a:srgbClr val="E0A33C"/>
                </a:solidFill>
                <a:latin typeface="Consolas"/>
              </a:rPr>
              <a:t>86.48%</a:t>
            </a:r>
          </a:p>
        </p:txBody>
      </p:sp>
      <p:sp>
        <p:nvSpPr>
          <p:cNvPr id="36" name="TextBox 35"/>
          <p:cNvSpPr txBox="1"/>
          <p:nvPr/>
        </p:nvSpPr>
        <p:spPr>
          <a:xfrm>
            <a:off x="6260439" y="4224528"/>
            <a:ext cx="1532077" cy="219456"/>
          </a:xfrm>
          <a:prstGeom prst="rect">
            <a:avLst/>
          </a:prstGeom>
          <a:noFill/>
        </p:spPr>
        <p:txBody>
          <a:bodyPr wrap="square" lIns="0" rIns="0" tIns="0" bIns="0" anchor="t">
            <a:spAutoFit/>
          </a:bodyPr>
          <a:lstStyle/>
          <a:p>
            <a:pPr algn="l">
              <a:lnSpc>
                <a:spcPct val="115000"/>
              </a:lnSpc>
            </a:pPr>
            <a:r>
              <a:rPr sz="750" b="0">
                <a:solidFill>
                  <a:srgbClr val="556764"/>
                </a:solidFill>
                <a:latin typeface="Segoe UI"/>
              </a:rPr>
              <a:t>94% × 92%</a:t>
            </a:r>
          </a:p>
        </p:txBody>
      </p:sp>
      <p:sp>
        <p:nvSpPr>
          <p:cNvPr id="37" name="Right Arrow 36"/>
          <p:cNvSpPr/>
          <p:nvPr/>
        </p:nvSpPr>
        <p:spPr>
          <a:xfrm>
            <a:off x="7909559" y="3913632"/>
            <a:ext cx="91440" cy="82296"/>
          </a:xfrm>
          <a:prstGeom prst="rightArrow">
            <a:avLst/>
          </a:prstGeom>
          <a:solidFill>
            <a:srgbClr val="2F8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011972" y="3438144"/>
            <a:ext cx="1751533" cy="1024128"/>
          </a:xfrm>
          <a:prstGeom prst="rect">
            <a:avLst/>
          </a:prstGeom>
          <a:solidFill>
            <a:srgbClr val="121A19"/>
          </a:solidFill>
          <a:ln w="15240">
            <a:solidFill>
              <a:srgbClr val="E0A3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21700" y="3566160"/>
            <a:ext cx="1532077" cy="292608"/>
          </a:xfrm>
          <a:prstGeom prst="rect">
            <a:avLst/>
          </a:prstGeom>
          <a:noFill/>
        </p:spPr>
        <p:txBody>
          <a:bodyPr wrap="square" lIns="0" rIns="0" tIns="0" bIns="0" anchor="t">
            <a:spAutoFit/>
          </a:bodyPr>
          <a:lstStyle/>
          <a:p>
            <a:pPr algn="l">
              <a:lnSpc>
                <a:spcPct val="120000"/>
              </a:lnSpc>
            </a:pPr>
            <a:r>
              <a:rPr sz="800" b="0" spc="100">
                <a:solidFill>
                  <a:srgbClr val="556764"/>
                </a:solidFill>
                <a:latin typeface="Consolas"/>
              </a:rPr>
              <a:t>Delivered cost</a:t>
            </a:r>
          </a:p>
        </p:txBody>
      </p:sp>
      <p:sp>
        <p:nvSpPr>
          <p:cNvPr id="40" name="TextBox 39"/>
          <p:cNvSpPr txBox="1"/>
          <p:nvPr/>
        </p:nvSpPr>
        <p:spPr>
          <a:xfrm>
            <a:off x="8121700" y="3913632"/>
            <a:ext cx="1532077" cy="292608"/>
          </a:xfrm>
          <a:prstGeom prst="rect">
            <a:avLst/>
          </a:prstGeom>
          <a:noFill/>
        </p:spPr>
        <p:txBody>
          <a:bodyPr wrap="square" lIns="0" rIns="0" tIns="0" bIns="0" anchor="t">
            <a:spAutoFit/>
          </a:bodyPr>
          <a:lstStyle/>
          <a:p>
            <a:pPr algn="l">
              <a:lnSpc>
                <a:spcPct val="115000"/>
              </a:lnSpc>
            </a:pPr>
            <a:r>
              <a:rPr sz="1500" b="1">
                <a:solidFill>
                  <a:srgbClr val="E0A33C"/>
                </a:solidFill>
                <a:latin typeface="Consolas"/>
              </a:rPr>
              <a:t>10.41 bp</a:t>
            </a:r>
          </a:p>
        </p:txBody>
      </p:sp>
      <p:sp>
        <p:nvSpPr>
          <p:cNvPr id="41" name="TextBox 40"/>
          <p:cNvSpPr txBox="1"/>
          <p:nvPr/>
        </p:nvSpPr>
        <p:spPr>
          <a:xfrm>
            <a:off x="8121700" y="4224528"/>
            <a:ext cx="1532077" cy="219456"/>
          </a:xfrm>
          <a:prstGeom prst="rect">
            <a:avLst/>
          </a:prstGeom>
          <a:noFill/>
        </p:spPr>
        <p:txBody>
          <a:bodyPr wrap="square" lIns="0" rIns="0" tIns="0" bIns="0" anchor="t">
            <a:spAutoFit/>
          </a:bodyPr>
          <a:lstStyle/>
          <a:p>
            <a:pPr algn="l">
              <a:lnSpc>
                <a:spcPct val="115000"/>
              </a:lnSpc>
            </a:pPr>
            <a:r>
              <a:rPr sz="750" b="0">
                <a:solidFill>
                  <a:srgbClr val="556764"/>
                </a:solidFill>
                <a:latin typeface="Segoe UI"/>
              </a:rPr>
              <a:t>cost per unit actually delivered</a:t>
            </a:r>
          </a:p>
        </p:txBody>
      </p:sp>
      <p:sp>
        <p:nvSpPr>
          <p:cNvPr id="42" name="Right Arrow 41"/>
          <p:cNvSpPr/>
          <p:nvPr/>
        </p:nvSpPr>
        <p:spPr>
          <a:xfrm>
            <a:off x="9770821" y="3913632"/>
            <a:ext cx="91440" cy="82296"/>
          </a:xfrm>
          <a:prstGeom prst="rightArrow">
            <a:avLst/>
          </a:prstGeom>
          <a:solidFill>
            <a:srgbClr val="2F8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873234" y="3438144"/>
            <a:ext cx="1751533" cy="1024128"/>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982961" y="3566160"/>
            <a:ext cx="1532077" cy="292608"/>
          </a:xfrm>
          <a:prstGeom prst="rect">
            <a:avLst/>
          </a:prstGeom>
          <a:noFill/>
        </p:spPr>
        <p:txBody>
          <a:bodyPr wrap="square" lIns="0" rIns="0" tIns="0" bIns="0" anchor="t">
            <a:spAutoFit/>
          </a:bodyPr>
          <a:lstStyle/>
          <a:p>
            <a:pPr algn="l">
              <a:lnSpc>
                <a:spcPct val="120000"/>
              </a:lnSpc>
            </a:pPr>
            <a:r>
              <a:rPr sz="800" b="0" spc="100">
                <a:solidFill>
                  <a:srgbClr val="556764"/>
                </a:solidFill>
                <a:latin typeface="Consolas"/>
              </a:rPr>
              <a:t>Cheapest alternative</a:t>
            </a:r>
          </a:p>
        </p:txBody>
      </p:sp>
      <p:sp>
        <p:nvSpPr>
          <p:cNvPr id="45" name="TextBox 44"/>
          <p:cNvSpPr txBox="1"/>
          <p:nvPr/>
        </p:nvSpPr>
        <p:spPr>
          <a:xfrm>
            <a:off x="9982961" y="3913632"/>
            <a:ext cx="1532077" cy="292608"/>
          </a:xfrm>
          <a:prstGeom prst="rect">
            <a:avLst/>
          </a:prstGeom>
          <a:noFill/>
        </p:spPr>
        <p:txBody>
          <a:bodyPr wrap="square" lIns="0" rIns="0" tIns="0" bIns="0" anchor="t">
            <a:spAutoFit/>
          </a:bodyPr>
          <a:lstStyle/>
          <a:p>
            <a:pPr algn="l">
              <a:lnSpc>
                <a:spcPct val="115000"/>
              </a:lnSpc>
            </a:pPr>
            <a:r>
              <a:rPr sz="1500" b="1">
                <a:solidFill>
                  <a:srgbClr val="4FC3AE"/>
                </a:solidFill>
                <a:latin typeface="Consolas"/>
              </a:rPr>
              <a:t>8.04 bp</a:t>
            </a:r>
          </a:p>
        </p:txBody>
      </p:sp>
      <p:sp>
        <p:nvSpPr>
          <p:cNvPr id="46" name="TextBox 45"/>
          <p:cNvSpPr txBox="1"/>
          <p:nvPr/>
        </p:nvSpPr>
        <p:spPr>
          <a:xfrm>
            <a:off x="9982961" y="4224528"/>
            <a:ext cx="1532077" cy="219456"/>
          </a:xfrm>
          <a:prstGeom prst="rect">
            <a:avLst/>
          </a:prstGeom>
          <a:noFill/>
        </p:spPr>
        <p:txBody>
          <a:bodyPr wrap="square" lIns="0" rIns="0" tIns="0" bIns="0" anchor="t">
            <a:spAutoFit/>
          </a:bodyPr>
          <a:lstStyle/>
          <a:p>
            <a:pPr algn="l">
              <a:lnSpc>
                <a:spcPct val="115000"/>
              </a:lnSpc>
            </a:pPr>
            <a:r>
              <a:rPr sz="750" b="0">
                <a:solidFill>
                  <a:srgbClr val="556764"/>
                </a:solidFill>
                <a:latin typeface="Segoe UI"/>
              </a:rPr>
              <a:t>US Treasury bill</a:t>
            </a:r>
          </a:p>
        </p:txBody>
      </p:sp>
      <p:sp>
        <p:nvSpPr>
          <p:cNvPr id="47" name="Rectangle 46"/>
          <p:cNvSpPr/>
          <p:nvPr/>
        </p:nvSpPr>
        <p:spPr>
          <a:xfrm>
            <a:off x="566928" y="4590288"/>
            <a:ext cx="5349240" cy="1170432"/>
          </a:xfrm>
          <a:prstGeom prst="rect">
            <a:avLst/>
          </a:prstGeom>
          <a:solidFill>
            <a:srgbClr val="121A19"/>
          </a:solidFill>
          <a:ln w="15240">
            <a:solidFill>
              <a:srgbClr val="E268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8096" y="4718304"/>
            <a:ext cx="4937760" cy="219456"/>
          </a:xfrm>
          <a:prstGeom prst="rect">
            <a:avLst/>
          </a:prstGeom>
          <a:noFill/>
        </p:spPr>
        <p:txBody>
          <a:bodyPr wrap="square" lIns="0" rIns="0" tIns="0" bIns="0" anchor="t">
            <a:spAutoFit/>
          </a:bodyPr>
          <a:lstStyle/>
          <a:p>
            <a:pPr algn="l">
              <a:lnSpc>
                <a:spcPct val="115000"/>
              </a:lnSpc>
            </a:pPr>
            <a:r>
              <a:rPr sz="900" b="0" spc="180">
                <a:solidFill>
                  <a:srgbClr val="556764"/>
                </a:solidFill>
                <a:latin typeface="Consolas"/>
              </a:rPr>
              <a:t>THE OPTIMISER'S DECISION</a:t>
            </a:r>
          </a:p>
        </p:txBody>
      </p:sp>
      <p:sp>
        <p:nvSpPr>
          <p:cNvPr id="49" name="TextBox 48"/>
          <p:cNvSpPr txBox="1"/>
          <p:nvPr/>
        </p:nvSpPr>
        <p:spPr>
          <a:xfrm>
            <a:off x="768096" y="4937760"/>
            <a:ext cx="2743200" cy="310896"/>
          </a:xfrm>
          <a:prstGeom prst="rect">
            <a:avLst/>
          </a:prstGeom>
          <a:noFill/>
        </p:spPr>
        <p:txBody>
          <a:bodyPr wrap="square" lIns="0" rIns="0" tIns="0" bIns="0" anchor="t">
            <a:spAutoFit/>
          </a:bodyPr>
          <a:lstStyle/>
          <a:p>
            <a:pPr algn="l">
              <a:lnSpc>
                <a:spcPct val="115000"/>
              </a:lnSpc>
            </a:pPr>
            <a:r>
              <a:rPr sz="1800" b="1">
                <a:solidFill>
                  <a:srgbClr val="E2687F"/>
                </a:solidFill>
                <a:latin typeface="Consolas"/>
              </a:rPr>
              <a:t>NOT SELECTED</a:t>
            </a:r>
          </a:p>
        </p:txBody>
      </p:sp>
      <p:sp>
        <p:nvSpPr>
          <p:cNvPr id="50" name="TextBox 49"/>
          <p:cNvSpPr txBox="1"/>
          <p:nvPr/>
        </p:nvSpPr>
        <p:spPr>
          <a:xfrm>
            <a:off x="768096" y="5303520"/>
            <a:ext cx="4983480" cy="384048"/>
          </a:xfrm>
          <a:prstGeom prst="rect">
            <a:avLst/>
          </a:prstGeom>
          <a:noFill/>
        </p:spPr>
        <p:txBody>
          <a:bodyPr wrap="square" lIns="0" rIns="0" tIns="0" bIns="0" anchor="t">
            <a:spAutoFit/>
          </a:bodyPr>
          <a:lstStyle/>
          <a:p>
            <a:pPr algn="l">
              <a:lnSpc>
                <a:spcPct val="128000"/>
              </a:lnSpc>
            </a:pPr>
            <a:r>
              <a:rPr sz="900" b="0">
                <a:solidFill>
                  <a:srgbClr val="7B908C"/>
                </a:solidFill>
                <a:latin typeface="Segoe UI"/>
              </a:rPr>
              <a:t>The rupee asset was evaluated, priced, and declined — the Treasury bill delivered the same coverage for less.</a:t>
            </a:r>
          </a:p>
        </p:txBody>
      </p:sp>
      <p:sp>
        <p:nvSpPr>
          <p:cNvPr id="51" name="Rectangle 50"/>
          <p:cNvSpPr/>
          <p:nvPr/>
        </p:nvSpPr>
        <p:spPr>
          <a:xfrm>
            <a:off x="6291072" y="4590288"/>
            <a:ext cx="5349240" cy="1170432"/>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92240" y="4718304"/>
            <a:ext cx="4937760" cy="219456"/>
          </a:xfrm>
          <a:prstGeom prst="rect">
            <a:avLst/>
          </a:prstGeom>
          <a:noFill/>
        </p:spPr>
        <p:txBody>
          <a:bodyPr wrap="square" lIns="0" rIns="0" tIns="0" bIns="0" anchor="t">
            <a:spAutoFit/>
          </a:bodyPr>
          <a:lstStyle/>
          <a:p>
            <a:pPr algn="l">
              <a:lnSpc>
                <a:spcPct val="115000"/>
              </a:lnSpc>
            </a:pPr>
            <a:r>
              <a:rPr sz="900" b="0" spc="180">
                <a:solidFill>
                  <a:srgbClr val="556764"/>
                </a:solidFill>
                <a:latin typeface="Consolas"/>
              </a:rPr>
              <a:t>OF WHICH, THE FX DRAG ALONE</a:t>
            </a:r>
          </a:p>
        </p:txBody>
      </p:sp>
      <p:sp>
        <p:nvSpPr>
          <p:cNvPr id="53" name="TextBox 52"/>
          <p:cNvSpPr txBox="1"/>
          <p:nvPr/>
        </p:nvSpPr>
        <p:spPr>
          <a:xfrm>
            <a:off x="6492240" y="4937760"/>
            <a:ext cx="2011680" cy="310896"/>
          </a:xfrm>
          <a:prstGeom prst="rect">
            <a:avLst/>
          </a:prstGeom>
          <a:noFill/>
        </p:spPr>
        <p:txBody>
          <a:bodyPr wrap="square" lIns="0" rIns="0" tIns="0" bIns="0" anchor="t">
            <a:spAutoFit/>
          </a:bodyPr>
          <a:lstStyle/>
          <a:p>
            <a:pPr algn="l">
              <a:lnSpc>
                <a:spcPct val="115000"/>
              </a:lnSpc>
            </a:pPr>
            <a:r>
              <a:rPr sz="1800" b="1">
                <a:solidFill>
                  <a:srgbClr val="E0A33C"/>
                </a:solidFill>
                <a:latin typeface="Consolas"/>
              </a:rPr>
              <a:t>0.83 bp</a:t>
            </a:r>
          </a:p>
        </p:txBody>
      </p:sp>
      <p:sp>
        <p:nvSpPr>
          <p:cNvPr id="54" name="TextBox 53"/>
          <p:cNvSpPr txBox="1"/>
          <p:nvPr/>
        </p:nvSpPr>
        <p:spPr>
          <a:xfrm>
            <a:off x="8503920" y="4974336"/>
            <a:ext cx="3017520" cy="384048"/>
          </a:xfrm>
          <a:prstGeom prst="rect">
            <a:avLst/>
          </a:prstGeom>
          <a:noFill/>
        </p:spPr>
        <p:txBody>
          <a:bodyPr wrap="square" lIns="0" rIns="0" tIns="0" bIns="0" anchor="t">
            <a:spAutoFit/>
          </a:bodyPr>
          <a:lstStyle/>
          <a:p>
            <a:pPr algn="l">
              <a:lnSpc>
                <a:spcPct val="125000"/>
              </a:lnSpc>
            </a:pPr>
            <a:r>
              <a:rPr sz="850" b="0">
                <a:solidFill>
                  <a:srgbClr val="7B908C"/>
                </a:solidFill>
                <a:latin typeface="Segoe UI"/>
              </a:rPr>
              <a:t>the price of posting cross-border, isolated from the schedule haircut</a:t>
            </a:r>
          </a:p>
        </p:txBody>
      </p:sp>
      <p:sp>
        <p:nvSpPr>
          <p:cNvPr id="55" name="TextBox 54"/>
          <p:cNvSpPr txBox="1"/>
          <p:nvPr/>
        </p:nvSpPr>
        <p:spPr>
          <a:xfrm>
            <a:off x="6492240" y="5358384"/>
            <a:ext cx="4983480" cy="329184"/>
          </a:xfrm>
          <a:prstGeom prst="rect">
            <a:avLst/>
          </a:prstGeom>
          <a:noFill/>
        </p:spPr>
        <p:txBody>
          <a:bodyPr wrap="square" lIns="0" rIns="0" tIns="0" bIns="0" anchor="t">
            <a:spAutoFit/>
          </a:bodyPr>
          <a:lstStyle/>
          <a:p>
            <a:pPr algn="l">
              <a:lnSpc>
                <a:spcPct val="128000"/>
              </a:lnSpc>
            </a:pPr>
            <a:r>
              <a:rPr sz="900" b="0">
                <a:solidFill>
                  <a:srgbClr val="7B908C"/>
                </a:solidFill>
                <a:latin typeface="Segoe UI"/>
              </a:rPr>
              <a:t>Elsewhere in the same inventory EUR cash is 28 bp on paper and 30.43 bp delivered — dearer than 30 bp USD cash.</a:t>
            </a:r>
          </a:p>
        </p:txBody>
      </p:sp>
      <p:sp>
        <p:nvSpPr>
          <p:cNvPr id="56" name="Rectangle 55"/>
          <p:cNvSpPr/>
          <p:nvPr/>
        </p:nvSpPr>
        <p:spPr>
          <a:xfrm>
            <a:off x="566928" y="5870448"/>
            <a:ext cx="11057839" cy="402336"/>
          </a:xfrm>
          <a:prstGeom prst="rect">
            <a:avLst/>
          </a:prstGeom>
          <a:solidFill>
            <a:srgbClr val="182321"/>
          </a:solidFill>
          <a:ln w="13970">
            <a:solidFill>
              <a:srgbClr val="2F8B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66928" y="5870448"/>
            <a:ext cx="11057839" cy="402336"/>
          </a:xfrm>
          <a:prstGeom prst="rect">
            <a:avLst/>
          </a:prstGeom>
          <a:noFill/>
        </p:spPr>
        <p:txBody>
          <a:bodyPr wrap="square" lIns="0" rIns="0" tIns="0" bIns="0" anchor="ctr">
            <a:spAutoFit/>
          </a:bodyPr>
          <a:lstStyle/>
          <a:p>
            <a:pPr algn="ctr">
              <a:lnSpc>
                <a:spcPct val="115000"/>
              </a:lnSpc>
            </a:pPr>
            <a:r>
              <a:rPr sz="1100" b="1">
                <a:solidFill>
                  <a:srgbClr val="4FC3AE"/>
                </a:solidFill>
                <a:latin typeface="Segoe UI"/>
              </a:rPr>
              <a:t>The GIFT City case is that cross-border collateral is priced on delivered economics — not favoured because it is local.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201168"/>
          </a:xfrm>
          <a:prstGeom prst="rect">
            <a:avLst/>
          </a:prstGeom>
          <a:noFill/>
        </p:spPr>
        <p:txBody>
          <a:bodyPr wrap="square" lIns="0" rIns="0" tIns="0" bIns="0" anchor="t">
            <a:spAutoFit/>
          </a:bodyPr>
          <a:lstStyle/>
          <a:p>
            <a:pPr algn="l">
              <a:lnSpc>
                <a:spcPct val="115000"/>
              </a:lnSpc>
            </a:pPr>
            <a:r>
              <a:rPr sz="1050" b="1" spc="220">
                <a:solidFill>
                  <a:srgbClr val="556764"/>
                </a:solidFill>
                <a:latin typeface="Consolas"/>
              </a:rPr>
              <a:t>WHY THIS CAN BE TRUSTED</a:t>
            </a:r>
          </a:p>
        </p:txBody>
      </p:sp>
      <p:sp>
        <p:nvSpPr>
          <p:cNvPr id="4" name="TextBox 3"/>
          <p:cNvSpPr txBox="1"/>
          <p:nvPr/>
        </p:nvSpPr>
        <p:spPr>
          <a:xfrm>
            <a:off x="566928" y="621792"/>
            <a:ext cx="11057839" cy="914400"/>
          </a:xfrm>
          <a:prstGeom prst="rect">
            <a:avLst/>
          </a:prstGeom>
          <a:noFill/>
        </p:spPr>
        <p:txBody>
          <a:bodyPr wrap="square" lIns="0" rIns="0" tIns="0" bIns="0" anchor="t">
            <a:spAutoFit/>
          </a:bodyPr>
          <a:lstStyle/>
          <a:p>
            <a:pPr algn="l">
              <a:lnSpc>
                <a:spcPct val="106000"/>
              </a:lnSpc>
            </a:pPr>
            <a:r>
              <a:rPr sz="2900" b="1">
                <a:solidFill>
                  <a:srgbClr val="E6EDEB"/>
                </a:solidFill>
                <a:latin typeface="Cambria"/>
              </a:rPr>
              <a:t>Financial AI earns trust by refusing to guess.</a:t>
            </a:r>
          </a:p>
        </p:txBody>
      </p:sp>
      <p:sp>
        <p:nvSpPr>
          <p:cNvPr id="5" name="Rectangle 4"/>
          <p:cNvSpPr/>
          <p:nvPr/>
        </p:nvSpPr>
        <p:spPr>
          <a:xfrm>
            <a:off x="566928" y="6336792"/>
            <a:ext cx="11057839"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28232"/>
            <a:ext cx="6400800" cy="219456"/>
          </a:xfrm>
          <a:prstGeom prst="rect">
            <a:avLst/>
          </a:prstGeom>
          <a:noFill/>
        </p:spPr>
        <p:txBody>
          <a:bodyPr wrap="square" lIns="0" rIns="0" tIns="0" bIns="0" anchor="t">
            <a:spAutoFit/>
          </a:bodyPr>
          <a:lstStyle/>
          <a:p>
            <a:pPr algn="l">
              <a:lnSpc>
                <a:spcPct val="115000"/>
              </a:lnSpc>
            </a:pPr>
            <a:r>
              <a:rPr sz="850" b="0" spc="200">
                <a:solidFill>
                  <a:srgbClr val="556764"/>
                </a:solidFill>
                <a:latin typeface="Consolas"/>
              </a:rPr>
              <a:t>AETHER-DERIVATIVES</a:t>
            </a:r>
          </a:p>
        </p:txBody>
      </p:sp>
      <p:sp>
        <p:nvSpPr>
          <p:cNvPr id="7" name="TextBox 6"/>
          <p:cNvSpPr txBox="1"/>
          <p:nvPr/>
        </p:nvSpPr>
        <p:spPr>
          <a:xfrm>
            <a:off x="11076127" y="6428232"/>
            <a:ext cx="548640" cy="219456"/>
          </a:xfrm>
          <a:prstGeom prst="rect">
            <a:avLst/>
          </a:prstGeom>
          <a:noFill/>
        </p:spPr>
        <p:txBody>
          <a:bodyPr wrap="square" lIns="0" rIns="0" tIns="0" bIns="0" anchor="t">
            <a:spAutoFit/>
          </a:bodyPr>
          <a:lstStyle/>
          <a:p>
            <a:pPr algn="r">
              <a:lnSpc>
                <a:spcPct val="115000"/>
              </a:lnSpc>
            </a:pPr>
            <a:r>
              <a:rPr sz="850" b="0">
                <a:solidFill>
                  <a:srgbClr val="556764"/>
                </a:solidFill>
                <a:latin typeface="Consolas"/>
              </a:rPr>
              <a:t>10</a:t>
            </a:r>
          </a:p>
        </p:txBody>
      </p:sp>
      <p:sp>
        <p:nvSpPr>
          <p:cNvPr id="8" name="Rectangle 7"/>
          <p:cNvSpPr/>
          <p:nvPr/>
        </p:nvSpPr>
        <p:spPr>
          <a:xfrm>
            <a:off x="566928" y="1517904"/>
            <a:ext cx="3551834" cy="2103120"/>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517904"/>
            <a:ext cx="3551834" cy="45720"/>
          </a:xfrm>
          <a:prstGeom prst="rect">
            <a:avLst/>
          </a:prstGeom>
          <a:solidFill>
            <a:srgbClr val="4FC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1719072"/>
            <a:ext cx="3149498" cy="219456"/>
          </a:xfrm>
          <a:prstGeom prst="rect">
            <a:avLst/>
          </a:prstGeom>
          <a:noFill/>
        </p:spPr>
        <p:txBody>
          <a:bodyPr wrap="square" lIns="0" rIns="0" tIns="0" bIns="0" anchor="t">
            <a:spAutoFit/>
          </a:bodyPr>
          <a:lstStyle/>
          <a:p>
            <a:pPr algn="l">
              <a:lnSpc>
                <a:spcPct val="115000"/>
              </a:lnSpc>
            </a:pPr>
            <a:r>
              <a:rPr sz="1000" b="1" spc="100">
                <a:solidFill>
                  <a:srgbClr val="4FC3AE"/>
                </a:solidFill>
                <a:latin typeface="Consolas"/>
              </a:rPr>
              <a:t>DETERMINISTIC BY CONSTRUCTION</a:t>
            </a:r>
          </a:p>
        </p:txBody>
      </p:sp>
      <p:sp>
        <p:nvSpPr>
          <p:cNvPr id="11" name="TextBox 10"/>
          <p:cNvSpPr txBox="1"/>
          <p:nvPr/>
        </p:nvSpPr>
        <p:spPr>
          <a:xfrm>
            <a:off x="768096" y="2029968"/>
            <a:ext cx="3131210" cy="822960"/>
          </a:xfrm>
          <a:prstGeom prst="rect">
            <a:avLst/>
          </a:prstGeom>
          <a:noFill/>
        </p:spPr>
        <p:txBody>
          <a:bodyPr wrap="square" lIns="0" rIns="0" tIns="0" bIns="0" anchor="t">
            <a:spAutoFit/>
          </a:bodyPr>
          <a:lstStyle/>
          <a:p>
            <a:pPr algn="l">
              <a:lnSpc>
                <a:spcPct val="135000"/>
              </a:lnSpc>
            </a:pPr>
            <a:r>
              <a:rPr sz="950" b="0">
                <a:solidFill>
                  <a:srgbClr val="7B908C"/>
                </a:solidFill>
                <a:latin typeface="Segoe UI"/>
              </a:rPr>
              <a:t>Every figure comes from a pure function of contract terms and a pinned market snapshot. No clock, no live feed, no randomness inside a calculation.</a:t>
            </a:r>
          </a:p>
        </p:txBody>
      </p:sp>
      <p:sp>
        <p:nvSpPr>
          <p:cNvPr id="12" name="Rectangle 11"/>
          <p:cNvSpPr/>
          <p:nvPr/>
        </p:nvSpPr>
        <p:spPr>
          <a:xfrm>
            <a:off x="768096" y="2980944"/>
            <a:ext cx="3149498"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3127248"/>
            <a:ext cx="3131210" cy="384048"/>
          </a:xfrm>
          <a:prstGeom prst="rect">
            <a:avLst/>
          </a:prstGeom>
          <a:noFill/>
        </p:spPr>
        <p:txBody>
          <a:bodyPr wrap="square" lIns="0" rIns="0" tIns="0" bIns="0" anchor="t">
            <a:spAutoFit/>
          </a:bodyPr>
          <a:lstStyle/>
          <a:p>
            <a:pPr algn="l">
              <a:lnSpc>
                <a:spcPct val="130000"/>
              </a:lnSpc>
            </a:pPr>
            <a:r>
              <a:rPr sz="900" b="0">
                <a:solidFill>
                  <a:srgbClr val="A9BCB8"/>
                </a:solidFill>
                <a:latin typeface="Segoe UI"/>
              </a:rPr>
              <a:t>The same inputs produce byte-identical results, every time.</a:t>
            </a:r>
          </a:p>
        </p:txBody>
      </p:sp>
      <p:sp>
        <p:nvSpPr>
          <p:cNvPr id="14" name="Rectangle 13"/>
          <p:cNvSpPr/>
          <p:nvPr/>
        </p:nvSpPr>
        <p:spPr>
          <a:xfrm>
            <a:off x="4319930" y="1517904"/>
            <a:ext cx="3551834" cy="2103120"/>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9930" y="1517904"/>
            <a:ext cx="3551834" cy="45720"/>
          </a:xfrm>
          <a:prstGeom prst="rect">
            <a:avLst/>
          </a:prstGeom>
          <a:solidFill>
            <a:srgbClr val="E26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1098" y="1719072"/>
            <a:ext cx="3149498" cy="219456"/>
          </a:xfrm>
          <a:prstGeom prst="rect">
            <a:avLst/>
          </a:prstGeom>
          <a:noFill/>
        </p:spPr>
        <p:txBody>
          <a:bodyPr wrap="square" lIns="0" rIns="0" tIns="0" bIns="0" anchor="t">
            <a:spAutoFit/>
          </a:bodyPr>
          <a:lstStyle/>
          <a:p>
            <a:pPr algn="l">
              <a:lnSpc>
                <a:spcPct val="115000"/>
              </a:lnSpc>
            </a:pPr>
            <a:r>
              <a:rPr sz="1000" b="1" spc="100">
                <a:solidFill>
                  <a:srgbClr val="E2687F"/>
                </a:solidFill>
                <a:latin typeface="Consolas"/>
              </a:rPr>
              <a:t>HUMAN AT THE AMBIGUITY</a:t>
            </a:r>
          </a:p>
        </p:txBody>
      </p:sp>
      <p:sp>
        <p:nvSpPr>
          <p:cNvPr id="17" name="TextBox 16"/>
          <p:cNvSpPr txBox="1"/>
          <p:nvPr/>
        </p:nvSpPr>
        <p:spPr>
          <a:xfrm>
            <a:off x="4521098" y="2029968"/>
            <a:ext cx="3131210" cy="822960"/>
          </a:xfrm>
          <a:prstGeom prst="rect">
            <a:avLst/>
          </a:prstGeom>
          <a:noFill/>
        </p:spPr>
        <p:txBody>
          <a:bodyPr wrap="square" lIns="0" rIns="0" tIns="0" bIns="0" anchor="t">
            <a:spAutoFit/>
          </a:bodyPr>
          <a:lstStyle/>
          <a:p>
            <a:pPr algn="l">
              <a:lnSpc>
                <a:spcPct val="135000"/>
              </a:lnSpc>
            </a:pPr>
            <a:r>
              <a:rPr sz="950" b="0">
                <a:solidFill>
                  <a:srgbClr val="7B908C"/>
                </a:solidFill>
                <a:latin typeface="Segoe UI"/>
              </a:rPr>
              <a:t>Where a clause is conditional — a threshold qualified by a ratings trigger the document cannot resolve — the pipeline stops and asks.</a:t>
            </a:r>
          </a:p>
        </p:txBody>
      </p:sp>
      <p:sp>
        <p:nvSpPr>
          <p:cNvPr id="18" name="Rectangle 17"/>
          <p:cNvSpPr/>
          <p:nvPr/>
        </p:nvSpPr>
        <p:spPr>
          <a:xfrm>
            <a:off x="4521098" y="2980944"/>
            <a:ext cx="3149498"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21098" y="3127248"/>
            <a:ext cx="3131210" cy="384048"/>
          </a:xfrm>
          <a:prstGeom prst="rect">
            <a:avLst/>
          </a:prstGeom>
          <a:noFill/>
        </p:spPr>
        <p:txBody>
          <a:bodyPr wrap="square" lIns="0" rIns="0" tIns="0" bIns="0" anchor="t">
            <a:spAutoFit/>
          </a:bodyPr>
          <a:lstStyle/>
          <a:p>
            <a:pPr algn="l">
              <a:lnSpc>
                <a:spcPct val="130000"/>
              </a:lnSpc>
            </a:pPr>
            <a:r>
              <a:rPr sz="900" b="0">
                <a:solidFill>
                  <a:srgbClr val="A9BCB8"/>
                </a:solidFill>
                <a:latin typeface="Segoe UI"/>
              </a:rPr>
              <a:t>Freezing is refused server-side while any field awaits a decision.</a:t>
            </a:r>
          </a:p>
        </p:txBody>
      </p:sp>
      <p:sp>
        <p:nvSpPr>
          <p:cNvPr id="20" name="Rectangle 19"/>
          <p:cNvSpPr/>
          <p:nvPr/>
        </p:nvSpPr>
        <p:spPr>
          <a:xfrm>
            <a:off x="8072932" y="1517904"/>
            <a:ext cx="3551834" cy="2103120"/>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72932" y="1517904"/>
            <a:ext cx="3551834" cy="45720"/>
          </a:xfrm>
          <a:prstGeom prst="rect">
            <a:avLst/>
          </a:prstGeom>
          <a:solidFill>
            <a:srgbClr val="E0A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74100" y="1719072"/>
            <a:ext cx="3149498" cy="219456"/>
          </a:xfrm>
          <a:prstGeom prst="rect">
            <a:avLst/>
          </a:prstGeom>
          <a:noFill/>
        </p:spPr>
        <p:txBody>
          <a:bodyPr wrap="square" lIns="0" rIns="0" tIns="0" bIns="0" anchor="t">
            <a:spAutoFit/>
          </a:bodyPr>
          <a:lstStyle/>
          <a:p>
            <a:pPr algn="l">
              <a:lnSpc>
                <a:spcPct val="115000"/>
              </a:lnSpc>
            </a:pPr>
            <a:r>
              <a:rPr sz="1000" b="1" spc="100">
                <a:solidFill>
                  <a:srgbClr val="E0A33C"/>
                </a:solidFill>
                <a:latin typeface="Consolas"/>
              </a:rPr>
              <a:t>EVIDENCE FOR EVERY STEP</a:t>
            </a:r>
          </a:p>
        </p:txBody>
      </p:sp>
      <p:sp>
        <p:nvSpPr>
          <p:cNvPr id="23" name="TextBox 22"/>
          <p:cNvSpPr txBox="1"/>
          <p:nvPr/>
        </p:nvSpPr>
        <p:spPr>
          <a:xfrm>
            <a:off x="8274100" y="2029968"/>
            <a:ext cx="3131210" cy="822960"/>
          </a:xfrm>
          <a:prstGeom prst="rect">
            <a:avLst/>
          </a:prstGeom>
          <a:noFill/>
        </p:spPr>
        <p:txBody>
          <a:bodyPr wrap="square" lIns="0" rIns="0" tIns="0" bIns="0" anchor="t">
            <a:spAutoFit/>
          </a:bodyPr>
          <a:lstStyle/>
          <a:p>
            <a:pPr algn="l">
              <a:lnSpc>
                <a:spcPct val="135000"/>
              </a:lnSpc>
            </a:pPr>
            <a:r>
              <a:rPr sz="950" b="0">
                <a:solidFill>
                  <a:srgbClr val="7B908C"/>
                </a:solidFill>
                <a:latin typeface="Segoe UI"/>
              </a:rPr>
              <a:t>Extraction, human confirmation, each engine call and the final decision are recorded in order and chained by hash.</a:t>
            </a:r>
          </a:p>
        </p:txBody>
      </p:sp>
      <p:sp>
        <p:nvSpPr>
          <p:cNvPr id="24" name="Rectangle 23"/>
          <p:cNvSpPr/>
          <p:nvPr/>
        </p:nvSpPr>
        <p:spPr>
          <a:xfrm>
            <a:off x="8274100" y="2980944"/>
            <a:ext cx="3149498"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74100" y="3127248"/>
            <a:ext cx="3131210" cy="384048"/>
          </a:xfrm>
          <a:prstGeom prst="rect">
            <a:avLst/>
          </a:prstGeom>
          <a:noFill/>
        </p:spPr>
        <p:txBody>
          <a:bodyPr wrap="square" lIns="0" rIns="0" tIns="0" bIns="0" anchor="t">
            <a:spAutoFit/>
          </a:bodyPr>
          <a:lstStyle/>
          <a:p>
            <a:pPr algn="l">
              <a:lnSpc>
                <a:spcPct val="130000"/>
              </a:lnSpc>
            </a:pPr>
            <a:r>
              <a:rPr sz="900" b="0">
                <a:solidFill>
                  <a:srgbClr val="A9BCB8"/>
                </a:solidFill>
                <a:latin typeface="Segoe UI"/>
              </a:rPr>
              <a:t>Altering one record breaks every record after it.</a:t>
            </a:r>
          </a:p>
        </p:txBody>
      </p:sp>
      <p:sp>
        <p:nvSpPr>
          <p:cNvPr id="26" name="TextBox 25"/>
          <p:cNvSpPr txBox="1"/>
          <p:nvPr/>
        </p:nvSpPr>
        <p:spPr>
          <a:xfrm>
            <a:off x="566928" y="3803904"/>
            <a:ext cx="11057839" cy="237744"/>
          </a:xfrm>
          <a:prstGeom prst="rect">
            <a:avLst/>
          </a:prstGeom>
          <a:noFill/>
        </p:spPr>
        <p:txBody>
          <a:bodyPr wrap="square" lIns="0" rIns="0" tIns="0" bIns="0" anchor="t">
            <a:spAutoFit/>
          </a:bodyPr>
          <a:lstStyle/>
          <a:p>
            <a:pPr algn="l">
              <a:lnSpc>
                <a:spcPct val="115000"/>
              </a:lnSpc>
            </a:pPr>
            <a:r>
              <a:rPr sz="900" b="0" spc="200">
                <a:solidFill>
                  <a:srgbClr val="556764"/>
                </a:solidFill>
                <a:latin typeface="Consolas"/>
              </a:rPr>
              <a:t>AND WHAT AETHER DELIBERATELY DOES NOT CLAIM</a:t>
            </a:r>
          </a:p>
        </p:txBody>
      </p:sp>
      <p:sp>
        <p:nvSpPr>
          <p:cNvPr id="27" name="Rectangle 26"/>
          <p:cNvSpPr/>
          <p:nvPr/>
        </p:nvSpPr>
        <p:spPr>
          <a:xfrm>
            <a:off x="566928" y="4078224"/>
            <a:ext cx="5428335" cy="621792"/>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6928" y="4078224"/>
            <a:ext cx="25603" cy="621792"/>
          </a:xfrm>
          <a:prstGeom prst="rect">
            <a:avLst/>
          </a:prstGeom>
          <a:solidFill>
            <a:srgbClr val="E26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 y="4169663"/>
            <a:ext cx="1920240" cy="201168"/>
          </a:xfrm>
          <a:prstGeom prst="rect">
            <a:avLst/>
          </a:prstGeom>
          <a:noFill/>
        </p:spPr>
        <p:txBody>
          <a:bodyPr wrap="square" lIns="0" rIns="0" tIns="0" bIns="0" anchor="t">
            <a:spAutoFit/>
          </a:bodyPr>
          <a:lstStyle/>
          <a:p>
            <a:pPr algn="l">
              <a:lnSpc>
                <a:spcPct val="115000"/>
              </a:lnSpc>
            </a:pPr>
            <a:r>
              <a:rPr sz="950" b="1">
                <a:solidFill>
                  <a:srgbClr val="E2687F"/>
                </a:solidFill>
                <a:latin typeface="Consolas"/>
              </a:rPr>
              <a:t>ISDA SIMM</a:t>
            </a:r>
          </a:p>
        </p:txBody>
      </p:sp>
      <p:sp>
        <p:nvSpPr>
          <p:cNvPr id="30" name="TextBox 29"/>
          <p:cNvSpPr txBox="1"/>
          <p:nvPr/>
        </p:nvSpPr>
        <p:spPr>
          <a:xfrm>
            <a:off x="2779776" y="4160520"/>
            <a:ext cx="2996031" cy="457200"/>
          </a:xfrm>
          <a:prstGeom prst="rect">
            <a:avLst/>
          </a:prstGeom>
          <a:noFill/>
        </p:spPr>
        <p:txBody>
          <a:bodyPr wrap="square" lIns="0" rIns="0" tIns="0" bIns="0" anchor="t">
            <a:spAutoFit/>
          </a:bodyPr>
          <a:lstStyle/>
          <a:p>
            <a:pPr algn="l">
              <a:lnSpc>
                <a:spcPct val="125000"/>
              </a:lnSpc>
            </a:pPr>
            <a:r>
              <a:rPr sz="850" b="0">
                <a:solidFill>
                  <a:srgbClr val="7B908C"/>
                </a:solidFill>
                <a:latin typeface="Segoe UI"/>
              </a:rPr>
              <a:t>Public BCBS-IOSCO schedule plus our own uncertified sensitivity weights. Neither is SIMM.</a:t>
            </a:r>
          </a:p>
        </p:txBody>
      </p:sp>
      <p:sp>
        <p:nvSpPr>
          <p:cNvPr id="31" name="Rectangle 30"/>
          <p:cNvSpPr/>
          <p:nvPr/>
        </p:nvSpPr>
        <p:spPr>
          <a:xfrm>
            <a:off x="566928" y="4773168"/>
            <a:ext cx="5428335" cy="621792"/>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4773168"/>
            <a:ext cx="25603" cy="621792"/>
          </a:xfrm>
          <a:prstGeom prst="rect">
            <a:avLst/>
          </a:prstGeom>
          <a:solidFill>
            <a:srgbClr val="E26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9808" y="4864607"/>
            <a:ext cx="1920240" cy="201168"/>
          </a:xfrm>
          <a:prstGeom prst="rect">
            <a:avLst/>
          </a:prstGeom>
          <a:noFill/>
        </p:spPr>
        <p:txBody>
          <a:bodyPr wrap="square" lIns="0" rIns="0" tIns="0" bIns="0" anchor="t">
            <a:spAutoFit/>
          </a:bodyPr>
          <a:lstStyle/>
          <a:p>
            <a:pPr algn="l">
              <a:lnSpc>
                <a:spcPct val="115000"/>
              </a:lnSpc>
            </a:pPr>
            <a:r>
              <a:rPr sz="950" b="1">
                <a:solidFill>
                  <a:srgbClr val="E2687F"/>
                </a:solidFill>
                <a:latin typeface="Consolas"/>
              </a:rPr>
              <a:t>SWIFT connectivity</a:t>
            </a:r>
          </a:p>
        </p:txBody>
      </p:sp>
      <p:sp>
        <p:nvSpPr>
          <p:cNvPr id="34" name="TextBox 33"/>
          <p:cNvSpPr txBox="1"/>
          <p:nvPr/>
        </p:nvSpPr>
        <p:spPr>
          <a:xfrm>
            <a:off x="2779776" y="4855464"/>
            <a:ext cx="2996031" cy="457200"/>
          </a:xfrm>
          <a:prstGeom prst="rect">
            <a:avLst/>
          </a:prstGeom>
          <a:noFill/>
        </p:spPr>
        <p:txBody>
          <a:bodyPr wrap="square" lIns="0" rIns="0" tIns="0" bIns="0" anchor="t">
            <a:spAutoFit/>
          </a:bodyPr>
          <a:lstStyle/>
          <a:p>
            <a:pPr algn="l">
              <a:lnSpc>
                <a:spcPct val="125000"/>
              </a:lnSpc>
            </a:pPr>
            <a:r>
              <a:rPr sz="850" b="0">
                <a:solidFill>
                  <a:srgbClr val="7B908C"/>
                </a:solidFill>
                <a:latin typeface="Segoe UI"/>
              </a:rPr>
              <a:t>Messages are generated in ISO 20022 shape and never transmitted. No network, no membership.</a:t>
            </a:r>
          </a:p>
        </p:txBody>
      </p:sp>
      <p:sp>
        <p:nvSpPr>
          <p:cNvPr id="35" name="Rectangle 34"/>
          <p:cNvSpPr/>
          <p:nvPr/>
        </p:nvSpPr>
        <p:spPr>
          <a:xfrm>
            <a:off x="566928" y="5468112"/>
            <a:ext cx="5428335" cy="621792"/>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5468112"/>
            <a:ext cx="25603" cy="621792"/>
          </a:xfrm>
          <a:prstGeom prst="rect">
            <a:avLst/>
          </a:prstGeom>
          <a:solidFill>
            <a:srgbClr val="E26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49808" y="5559551"/>
            <a:ext cx="1920240" cy="201168"/>
          </a:xfrm>
          <a:prstGeom prst="rect">
            <a:avLst/>
          </a:prstGeom>
          <a:noFill/>
        </p:spPr>
        <p:txBody>
          <a:bodyPr wrap="square" lIns="0" rIns="0" tIns="0" bIns="0" anchor="t">
            <a:spAutoFit/>
          </a:bodyPr>
          <a:lstStyle/>
          <a:p>
            <a:pPr algn="l">
              <a:lnSpc>
                <a:spcPct val="115000"/>
              </a:lnSpc>
            </a:pPr>
            <a:r>
              <a:rPr sz="950" b="1">
                <a:solidFill>
                  <a:srgbClr val="E2687F"/>
                </a:solidFill>
                <a:latin typeface="Consolas"/>
              </a:rPr>
              <a:t>Real-time market data</a:t>
            </a:r>
          </a:p>
        </p:txBody>
      </p:sp>
      <p:sp>
        <p:nvSpPr>
          <p:cNvPr id="38" name="TextBox 37"/>
          <p:cNvSpPr txBox="1"/>
          <p:nvPr/>
        </p:nvSpPr>
        <p:spPr>
          <a:xfrm>
            <a:off x="2779776" y="5550407"/>
            <a:ext cx="2996031" cy="457200"/>
          </a:xfrm>
          <a:prstGeom prst="rect">
            <a:avLst/>
          </a:prstGeom>
          <a:noFill/>
        </p:spPr>
        <p:txBody>
          <a:bodyPr wrap="square" lIns="0" rIns="0" tIns="0" bIns="0" anchor="t">
            <a:spAutoFit/>
          </a:bodyPr>
          <a:lstStyle/>
          <a:p>
            <a:pPr algn="l">
              <a:lnSpc>
                <a:spcPct val="125000"/>
              </a:lnSpc>
            </a:pPr>
            <a:r>
              <a:rPr sz="850" b="0">
                <a:solidFill>
                  <a:srgbClr val="7B908C"/>
                </a:solidFill>
                <a:latin typeface="Segoe UI"/>
              </a:rPr>
              <a:t>Pinned snapshots. Published data can be ingested — but pinned before any calculation reads it.</a:t>
            </a:r>
          </a:p>
        </p:txBody>
      </p:sp>
      <p:sp>
        <p:nvSpPr>
          <p:cNvPr id="39" name="Rectangle 38"/>
          <p:cNvSpPr/>
          <p:nvPr/>
        </p:nvSpPr>
        <p:spPr>
          <a:xfrm>
            <a:off x="6196431" y="4078224"/>
            <a:ext cx="5428335" cy="621792"/>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196431" y="4078224"/>
            <a:ext cx="25603" cy="621792"/>
          </a:xfrm>
          <a:prstGeom prst="rect">
            <a:avLst/>
          </a:prstGeom>
          <a:solidFill>
            <a:srgbClr val="E26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79311" y="4169663"/>
            <a:ext cx="1920240" cy="201168"/>
          </a:xfrm>
          <a:prstGeom prst="rect">
            <a:avLst/>
          </a:prstGeom>
          <a:noFill/>
        </p:spPr>
        <p:txBody>
          <a:bodyPr wrap="square" lIns="0" rIns="0" tIns="0" bIns="0" anchor="t">
            <a:spAutoFit/>
          </a:bodyPr>
          <a:lstStyle/>
          <a:p>
            <a:pPr algn="l">
              <a:lnSpc>
                <a:spcPct val="115000"/>
              </a:lnSpc>
            </a:pPr>
            <a:r>
              <a:rPr sz="950" b="1">
                <a:solidFill>
                  <a:srgbClr val="E2687F"/>
                </a:solidFill>
                <a:latin typeface="Consolas"/>
              </a:rPr>
              <a:t>Guaranteed savings</a:t>
            </a:r>
          </a:p>
        </p:txBody>
      </p:sp>
      <p:sp>
        <p:nvSpPr>
          <p:cNvPr id="42" name="TextBox 41"/>
          <p:cNvSpPr txBox="1"/>
          <p:nvPr/>
        </p:nvSpPr>
        <p:spPr>
          <a:xfrm>
            <a:off x="8409279" y="4160520"/>
            <a:ext cx="2996031" cy="457200"/>
          </a:xfrm>
          <a:prstGeom prst="rect">
            <a:avLst/>
          </a:prstGeom>
          <a:noFill/>
        </p:spPr>
        <p:txBody>
          <a:bodyPr wrap="square" lIns="0" rIns="0" tIns="0" bIns="0" anchor="t">
            <a:spAutoFit/>
          </a:bodyPr>
          <a:lstStyle/>
          <a:p>
            <a:pPr algn="l">
              <a:lnSpc>
                <a:spcPct val="125000"/>
              </a:lnSpc>
            </a:pPr>
            <a:r>
              <a:rPr sz="850" b="0">
                <a:solidFill>
                  <a:srgbClr val="7B908C"/>
                </a:solidFill>
                <a:latin typeface="Segoe UI"/>
              </a:rPr>
              <a:t>76.10% is modelled, in one synthetic scenario. Not annualised, not extrapolated.</a:t>
            </a:r>
          </a:p>
        </p:txBody>
      </p:sp>
      <p:sp>
        <p:nvSpPr>
          <p:cNvPr id="43" name="Rectangle 42"/>
          <p:cNvSpPr/>
          <p:nvPr/>
        </p:nvSpPr>
        <p:spPr>
          <a:xfrm>
            <a:off x="6196431" y="4773168"/>
            <a:ext cx="5428335" cy="621792"/>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96431" y="4773168"/>
            <a:ext cx="25603" cy="621792"/>
          </a:xfrm>
          <a:prstGeom prst="rect">
            <a:avLst/>
          </a:prstGeom>
          <a:solidFill>
            <a:srgbClr val="E26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79311" y="4864607"/>
            <a:ext cx="1920240" cy="201168"/>
          </a:xfrm>
          <a:prstGeom prst="rect">
            <a:avLst/>
          </a:prstGeom>
          <a:noFill/>
        </p:spPr>
        <p:txBody>
          <a:bodyPr wrap="square" lIns="0" rIns="0" tIns="0" bIns="0" anchor="t">
            <a:spAutoFit/>
          </a:bodyPr>
          <a:lstStyle/>
          <a:p>
            <a:pPr algn="l">
              <a:lnSpc>
                <a:spcPct val="115000"/>
              </a:lnSpc>
            </a:pPr>
            <a:r>
              <a:rPr sz="950" b="1">
                <a:solidFill>
                  <a:srgbClr val="E2687F"/>
                </a:solidFill>
                <a:latin typeface="Consolas"/>
              </a:rPr>
              <a:t>Measured legal accuracy</a:t>
            </a:r>
          </a:p>
        </p:txBody>
      </p:sp>
      <p:sp>
        <p:nvSpPr>
          <p:cNvPr id="46" name="TextBox 45"/>
          <p:cNvSpPr txBox="1"/>
          <p:nvPr/>
        </p:nvSpPr>
        <p:spPr>
          <a:xfrm>
            <a:off x="8409279" y="4855464"/>
            <a:ext cx="2996031" cy="457200"/>
          </a:xfrm>
          <a:prstGeom prst="rect">
            <a:avLst/>
          </a:prstGeom>
          <a:noFill/>
        </p:spPr>
        <p:txBody>
          <a:bodyPr wrap="square" lIns="0" rIns="0" tIns="0" bIns="0" anchor="t">
            <a:spAutoFit/>
          </a:bodyPr>
          <a:lstStyle/>
          <a:p>
            <a:pPr algn="l">
              <a:lnSpc>
                <a:spcPct val="125000"/>
              </a:lnSpc>
            </a:pPr>
            <a:r>
              <a:rPr sz="850" b="0">
                <a:solidFill>
                  <a:srgbClr val="7B908C"/>
                </a:solidFill>
                <a:latin typeface="Segoe UI"/>
              </a:rPr>
              <a:t>In replay the cached extraction is hand-authored, so the score demonstrates the harness.</a:t>
            </a:r>
          </a:p>
        </p:txBody>
      </p:sp>
      <p:sp>
        <p:nvSpPr>
          <p:cNvPr id="47" name="Rectangle 46"/>
          <p:cNvSpPr/>
          <p:nvPr/>
        </p:nvSpPr>
        <p:spPr>
          <a:xfrm>
            <a:off x="6196431" y="5468112"/>
            <a:ext cx="5428335" cy="621792"/>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96431" y="5468112"/>
            <a:ext cx="25603" cy="621792"/>
          </a:xfrm>
          <a:prstGeom prst="rect">
            <a:avLst/>
          </a:prstGeom>
          <a:solidFill>
            <a:srgbClr val="E26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79311" y="5559551"/>
            <a:ext cx="1920240" cy="201168"/>
          </a:xfrm>
          <a:prstGeom prst="rect">
            <a:avLst/>
          </a:prstGeom>
          <a:noFill/>
        </p:spPr>
        <p:txBody>
          <a:bodyPr wrap="square" lIns="0" rIns="0" tIns="0" bIns="0" anchor="t">
            <a:spAutoFit/>
          </a:bodyPr>
          <a:lstStyle/>
          <a:p>
            <a:pPr algn="l">
              <a:lnSpc>
                <a:spcPct val="115000"/>
              </a:lnSpc>
            </a:pPr>
            <a:r>
              <a:rPr sz="950" b="1">
                <a:solidFill>
                  <a:srgbClr val="E2687F"/>
                </a:solidFill>
                <a:latin typeface="Consolas"/>
              </a:rPr>
              <a:t>Production readiness</a:t>
            </a:r>
          </a:p>
        </p:txBody>
      </p:sp>
      <p:sp>
        <p:nvSpPr>
          <p:cNvPr id="50" name="TextBox 49"/>
          <p:cNvSpPr txBox="1"/>
          <p:nvPr/>
        </p:nvSpPr>
        <p:spPr>
          <a:xfrm>
            <a:off x="8409279" y="5550407"/>
            <a:ext cx="2996031" cy="457200"/>
          </a:xfrm>
          <a:prstGeom prst="rect">
            <a:avLst/>
          </a:prstGeom>
          <a:noFill/>
        </p:spPr>
        <p:txBody>
          <a:bodyPr wrap="square" lIns="0" rIns="0" tIns="0" bIns="0" anchor="t">
            <a:spAutoFit/>
          </a:bodyPr>
          <a:lstStyle/>
          <a:p>
            <a:pPr algn="l">
              <a:lnSpc>
                <a:spcPct val="125000"/>
              </a:lnSpc>
            </a:pPr>
            <a:r>
              <a:rPr sz="850" b="0">
                <a:solidFill>
                  <a:srgbClr val="7B908C"/>
                </a:solidFill>
                <a:latin typeface="Segoe UI"/>
              </a:rPr>
              <a:t>No authentication, no persistence, no multi-tenancy. A deliberately scoped MVP.</a:t>
            </a:r>
          </a:p>
        </p:txBody>
      </p:sp>
      <p:sp>
        <p:nvSpPr>
          <p:cNvPr id="51" name="Rectangle 50"/>
          <p:cNvSpPr/>
          <p:nvPr/>
        </p:nvSpPr>
        <p:spPr>
          <a:xfrm>
            <a:off x="566928" y="6199632"/>
            <a:ext cx="11057839" cy="36576"/>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201168"/>
          </a:xfrm>
          <a:prstGeom prst="rect">
            <a:avLst/>
          </a:prstGeom>
          <a:noFill/>
        </p:spPr>
        <p:txBody>
          <a:bodyPr wrap="square" lIns="0" rIns="0" tIns="0" bIns="0" anchor="t">
            <a:spAutoFit/>
          </a:bodyPr>
          <a:lstStyle/>
          <a:p>
            <a:pPr algn="l">
              <a:lnSpc>
                <a:spcPct val="115000"/>
              </a:lnSpc>
            </a:pPr>
            <a:r>
              <a:rPr sz="1050" b="1" spc="220">
                <a:solidFill>
                  <a:srgbClr val="556764"/>
                </a:solidFill>
                <a:latin typeface="Consolas"/>
              </a:rPr>
              <a:t>WHERE THIS GOES</a:t>
            </a:r>
          </a:p>
        </p:txBody>
      </p:sp>
      <p:sp>
        <p:nvSpPr>
          <p:cNvPr id="4" name="TextBox 3"/>
          <p:cNvSpPr txBox="1"/>
          <p:nvPr/>
        </p:nvSpPr>
        <p:spPr>
          <a:xfrm>
            <a:off x="566928" y="621792"/>
            <a:ext cx="11057839" cy="914400"/>
          </a:xfrm>
          <a:prstGeom prst="rect">
            <a:avLst/>
          </a:prstGeom>
          <a:noFill/>
        </p:spPr>
        <p:txBody>
          <a:bodyPr wrap="square" lIns="0" rIns="0" tIns="0" bIns="0" anchor="t">
            <a:spAutoFit/>
          </a:bodyPr>
          <a:lstStyle/>
          <a:p>
            <a:pPr algn="l">
              <a:lnSpc>
                <a:spcPct val="106000"/>
              </a:lnSpc>
            </a:pPr>
            <a:r>
              <a:rPr sz="2900" b="1">
                <a:solidFill>
                  <a:srgbClr val="E6EDEB"/>
                </a:solidFill>
                <a:latin typeface="Cambria"/>
              </a:rPr>
              <a:t>From a verified prototype to institutional infrastructure.</a:t>
            </a:r>
          </a:p>
        </p:txBody>
      </p:sp>
      <p:sp>
        <p:nvSpPr>
          <p:cNvPr id="5" name="Rectangle 4"/>
          <p:cNvSpPr/>
          <p:nvPr/>
        </p:nvSpPr>
        <p:spPr>
          <a:xfrm>
            <a:off x="566928" y="6336792"/>
            <a:ext cx="11057839"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28232"/>
            <a:ext cx="6400800" cy="219456"/>
          </a:xfrm>
          <a:prstGeom prst="rect">
            <a:avLst/>
          </a:prstGeom>
          <a:noFill/>
        </p:spPr>
        <p:txBody>
          <a:bodyPr wrap="square" lIns="0" rIns="0" tIns="0" bIns="0" anchor="t">
            <a:spAutoFit/>
          </a:bodyPr>
          <a:lstStyle/>
          <a:p>
            <a:pPr algn="l">
              <a:lnSpc>
                <a:spcPct val="115000"/>
              </a:lnSpc>
            </a:pPr>
            <a:r>
              <a:rPr sz="850" b="0" spc="200">
                <a:solidFill>
                  <a:srgbClr val="556764"/>
                </a:solidFill>
                <a:latin typeface="Consolas"/>
              </a:rPr>
              <a:t>AETHER-DERIVATIVES</a:t>
            </a:r>
          </a:p>
        </p:txBody>
      </p:sp>
      <p:sp>
        <p:nvSpPr>
          <p:cNvPr id="7" name="TextBox 6"/>
          <p:cNvSpPr txBox="1"/>
          <p:nvPr/>
        </p:nvSpPr>
        <p:spPr>
          <a:xfrm>
            <a:off x="11076127" y="6428232"/>
            <a:ext cx="548640" cy="219456"/>
          </a:xfrm>
          <a:prstGeom prst="rect">
            <a:avLst/>
          </a:prstGeom>
          <a:noFill/>
        </p:spPr>
        <p:txBody>
          <a:bodyPr wrap="square" lIns="0" rIns="0" tIns="0" bIns="0" anchor="t">
            <a:spAutoFit/>
          </a:bodyPr>
          <a:lstStyle/>
          <a:p>
            <a:pPr algn="r">
              <a:lnSpc>
                <a:spcPct val="115000"/>
              </a:lnSpc>
            </a:pPr>
            <a:r>
              <a:rPr sz="850" b="0">
                <a:solidFill>
                  <a:srgbClr val="556764"/>
                </a:solidFill>
                <a:latin typeface="Consolas"/>
              </a:rPr>
              <a:t>11</a:t>
            </a:r>
          </a:p>
        </p:txBody>
      </p:sp>
      <p:sp>
        <p:nvSpPr>
          <p:cNvPr id="8" name="Rectangle 7"/>
          <p:cNvSpPr/>
          <p:nvPr/>
        </p:nvSpPr>
        <p:spPr>
          <a:xfrm>
            <a:off x="566928" y="1517904"/>
            <a:ext cx="3551834" cy="2615184"/>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517904"/>
            <a:ext cx="3551834" cy="45720"/>
          </a:xfrm>
          <a:prstGeom prst="rect">
            <a:avLst/>
          </a:prstGeom>
          <a:solidFill>
            <a:srgbClr val="4FC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1700784"/>
            <a:ext cx="1371600" cy="219456"/>
          </a:xfrm>
          <a:prstGeom prst="rect">
            <a:avLst/>
          </a:prstGeom>
          <a:noFill/>
        </p:spPr>
        <p:txBody>
          <a:bodyPr wrap="square" lIns="0" rIns="0" tIns="0" bIns="0" anchor="t">
            <a:spAutoFit/>
          </a:bodyPr>
          <a:lstStyle/>
          <a:p>
            <a:pPr algn="l">
              <a:lnSpc>
                <a:spcPct val="115000"/>
              </a:lnSpc>
            </a:pPr>
            <a:r>
              <a:rPr sz="1100" b="1" spc="200">
                <a:solidFill>
                  <a:srgbClr val="4FC3AE"/>
                </a:solidFill>
                <a:latin typeface="Consolas"/>
              </a:rPr>
              <a:t>NOW</a:t>
            </a:r>
          </a:p>
        </p:txBody>
      </p:sp>
      <p:sp>
        <p:nvSpPr>
          <p:cNvPr id="11" name="TextBox 10"/>
          <p:cNvSpPr txBox="1"/>
          <p:nvPr/>
        </p:nvSpPr>
        <p:spPr>
          <a:xfrm>
            <a:off x="768096" y="1938528"/>
            <a:ext cx="3149498" cy="219456"/>
          </a:xfrm>
          <a:prstGeom prst="rect">
            <a:avLst/>
          </a:prstGeom>
          <a:noFill/>
        </p:spPr>
        <p:txBody>
          <a:bodyPr wrap="square" lIns="0" rIns="0" tIns="0" bIns="0" anchor="t">
            <a:spAutoFit/>
          </a:bodyPr>
          <a:lstStyle/>
          <a:p>
            <a:pPr algn="l">
              <a:lnSpc>
                <a:spcPct val="115000"/>
              </a:lnSpc>
            </a:pPr>
            <a:r>
              <a:rPr sz="1100" b="1">
                <a:solidFill>
                  <a:srgbClr val="E6EDEB"/>
                </a:solidFill>
                <a:latin typeface="Segoe UI"/>
              </a:rPr>
              <a:t>VERIFIED PROTOTYPE</a:t>
            </a:r>
          </a:p>
        </p:txBody>
      </p:sp>
      <p:sp>
        <p:nvSpPr>
          <p:cNvPr id="12" name="Rectangle 11"/>
          <p:cNvSpPr/>
          <p:nvPr/>
        </p:nvSpPr>
        <p:spPr>
          <a:xfrm>
            <a:off x="768096" y="2231136"/>
            <a:ext cx="3149498"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359152"/>
            <a:ext cx="146304" cy="182880"/>
          </a:xfrm>
          <a:prstGeom prst="rect">
            <a:avLst/>
          </a:prstGeom>
          <a:noFill/>
        </p:spPr>
        <p:txBody>
          <a:bodyPr wrap="square" lIns="0" rIns="0" tIns="0" bIns="0" anchor="t">
            <a:spAutoFit/>
          </a:bodyPr>
          <a:lstStyle/>
          <a:p>
            <a:pPr algn="l">
              <a:lnSpc>
                <a:spcPct val="115000"/>
              </a:lnSpc>
            </a:pPr>
            <a:r>
              <a:rPr sz="1100" b="0">
                <a:solidFill>
                  <a:srgbClr val="4FC3AE"/>
                </a:solidFill>
                <a:latin typeface="Consolas"/>
              </a:rPr>
              <a:t>·</a:t>
            </a:r>
          </a:p>
        </p:txBody>
      </p:sp>
      <p:sp>
        <p:nvSpPr>
          <p:cNvPr id="14" name="TextBox 13"/>
          <p:cNvSpPr txBox="1"/>
          <p:nvPr/>
        </p:nvSpPr>
        <p:spPr>
          <a:xfrm>
            <a:off x="950976" y="2359152"/>
            <a:ext cx="2966618" cy="274320"/>
          </a:xfrm>
          <a:prstGeom prst="rect">
            <a:avLst/>
          </a:prstGeom>
          <a:noFill/>
        </p:spPr>
        <p:txBody>
          <a:bodyPr wrap="square" lIns="0" rIns="0" tIns="0" bIns="0" anchor="t">
            <a:spAutoFit/>
          </a:bodyPr>
          <a:lstStyle/>
          <a:p>
            <a:pPr algn="l">
              <a:lnSpc>
                <a:spcPct val="120000"/>
              </a:lnSpc>
            </a:pPr>
            <a:r>
              <a:rPr sz="900" b="0">
                <a:solidFill>
                  <a:srgbClr val="7B908C"/>
                </a:solidFill>
                <a:latin typeface="Segoe UI"/>
              </a:rPr>
              <a:t>Legal extraction with citations</a:t>
            </a:r>
          </a:p>
        </p:txBody>
      </p:sp>
      <p:sp>
        <p:nvSpPr>
          <p:cNvPr id="15" name="TextBox 14"/>
          <p:cNvSpPr txBox="1"/>
          <p:nvPr/>
        </p:nvSpPr>
        <p:spPr>
          <a:xfrm>
            <a:off x="768096" y="2606040"/>
            <a:ext cx="146304" cy="182880"/>
          </a:xfrm>
          <a:prstGeom prst="rect">
            <a:avLst/>
          </a:prstGeom>
          <a:noFill/>
        </p:spPr>
        <p:txBody>
          <a:bodyPr wrap="square" lIns="0" rIns="0" tIns="0" bIns="0" anchor="t">
            <a:spAutoFit/>
          </a:bodyPr>
          <a:lstStyle/>
          <a:p>
            <a:pPr algn="l">
              <a:lnSpc>
                <a:spcPct val="115000"/>
              </a:lnSpc>
            </a:pPr>
            <a:r>
              <a:rPr sz="1100" b="0">
                <a:solidFill>
                  <a:srgbClr val="4FC3AE"/>
                </a:solidFill>
                <a:latin typeface="Consolas"/>
              </a:rPr>
              <a:t>·</a:t>
            </a:r>
          </a:p>
        </p:txBody>
      </p:sp>
      <p:sp>
        <p:nvSpPr>
          <p:cNvPr id="16" name="TextBox 15"/>
          <p:cNvSpPr txBox="1"/>
          <p:nvPr/>
        </p:nvSpPr>
        <p:spPr>
          <a:xfrm>
            <a:off x="950976" y="2606040"/>
            <a:ext cx="2966618" cy="274320"/>
          </a:xfrm>
          <a:prstGeom prst="rect">
            <a:avLst/>
          </a:prstGeom>
          <a:noFill/>
        </p:spPr>
        <p:txBody>
          <a:bodyPr wrap="square" lIns="0" rIns="0" tIns="0" bIns="0" anchor="t">
            <a:spAutoFit/>
          </a:bodyPr>
          <a:lstStyle/>
          <a:p>
            <a:pPr algn="l">
              <a:lnSpc>
                <a:spcPct val="120000"/>
              </a:lnSpc>
            </a:pPr>
            <a:r>
              <a:rPr sz="900" b="0">
                <a:solidFill>
                  <a:srgbClr val="7B908C"/>
                </a:solidFill>
                <a:latin typeface="Segoe UI"/>
              </a:rPr>
              <a:t>Deterministic margin waterfall</a:t>
            </a:r>
          </a:p>
        </p:txBody>
      </p:sp>
      <p:sp>
        <p:nvSpPr>
          <p:cNvPr id="17" name="TextBox 16"/>
          <p:cNvSpPr txBox="1"/>
          <p:nvPr/>
        </p:nvSpPr>
        <p:spPr>
          <a:xfrm>
            <a:off x="768096" y="2852928"/>
            <a:ext cx="146304" cy="182880"/>
          </a:xfrm>
          <a:prstGeom prst="rect">
            <a:avLst/>
          </a:prstGeom>
          <a:noFill/>
        </p:spPr>
        <p:txBody>
          <a:bodyPr wrap="square" lIns="0" rIns="0" tIns="0" bIns="0" anchor="t">
            <a:spAutoFit/>
          </a:bodyPr>
          <a:lstStyle/>
          <a:p>
            <a:pPr algn="l">
              <a:lnSpc>
                <a:spcPct val="115000"/>
              </a:lnSpc>
            </a:pPr>
            <a:r>
              <a:rPr sz="1100" b="0">
                <a:solidFill>
                  <a:srgbClr val="4FC3AE"/>
                </a:solidFill>
                <a:latin typeface="Consolas"/>
              </a:rPr>
              <a:t>·</a:t>
            </a:r>
          </a:p>
        </p:txBody>
      </p:sp>
      <p:sp>
        <p:nvSpPr>
          <p:cNvPr id="18" name="TextBox 17"/>
          <p:cNvSpPr txBox="1"/>
          <p:nvPr/>
        </p:nvSpPr>
        <p:spPr>
          <a:xfrm>
            <a:off x="950976" y="2852928"/>
            <a:ext cx="2966618" cy="274320"/>
          </a:xfrm>
          <a:prstGeom prst="rect">
            <a:avLst/>
          </a:prstGeom>
          <a:noFill/>
        </p:spPr>
        <p:txBody>
          <a:bodyPr wrap="square" lIns="0" rIns="0" tIns="0" bIns="0" anchor="t">
            <a:spAutoFit/>
          </a:bodyPr>
          <a:lstStyle/>
          <a:p>
            <a:pPr algn="l">
              <a:lnSpc>
                <a:spcPct val="120000"/>
              </a:lnSpc>
            </a:pPr>
            <a:r>
              <a:rPr sz="900" b="0">
                <a:solidFill>
                  <a:srgbClr val="7B908C"/>
                </a:solidFill>
                <a:latin typeface="Segoe UI"/>
              </a:rPr>
              <a:t>Collateral optimisation with duals</a:t>
            </a:r>
          </a:p>
        </p:txBody>
      </p:sp>
      <p:sp>
        <p:nvSpPr>
          <p:cNvPr id="19" name="TextBox 18"/>
          <p:cNvSpPr txBox="1"/>
          <p:nvPr/>
        </p:nvSpPr>
        <p:spPr>
          <a:xfrm>
            <a:off x="768096" y="3099816"/>
            <a:ext cx="146304" cy="182880"/>
          </a:xfrm>
          <a:prstGeom prst="rect">
            <a:avLst/>
          </a:prstGeom>
          <a:noFill/>
        </p:spPr>
        <p:txBody>
          <a:bodyPr wrap="square" lIns="0" rIns="0" tIns="0" bIns="0" anchor="t">
            <a:spAutoFit/>
          </a:bodyPr>
          <a:lstStyle/>
          <a:p>
            <a:pPr algn="l">
              <a:lnSpc>
                <a:spcPct val="115000"/>
              </a:lnSpc>
            </a:pPr>
            <a:r>
              <a:rPr sz="1100" b="0">
                <a:solidFill>
                  <a:srgbClr val="4FC3AE"/>
                </a:solidFill>
                <a:latin typeface="Consolas"/>
              </a:rPr>
              <a:t>·</a:t>
            </a:r>
          </a:p>
        </p:txBody>
      </p:sp>
      <p:sp>
        <p:nvSpPr>
          <p:cNvPr id="20" name="TextBox 19"/>
          <p:cNvSpPr txBox="1"/>
          <p:nvPr/>
        </p:nvSpPr>
        <p:spPr>
          <a:xfrm>
            <a:off x="950976" y="3099816"/>
            <a:ext cx="2966618" cy="274320"/>
          </a:xfrm>
          <a:prstGeom prst="rect">
            <a:avLst/>
          </a:prstGeom>
          <a:noFill/>
        </p:spPr>
        <p:txBody>
          <a:bodyPr wrap="square" lIns="0" rIns="0" tIns="0" bIns="0" anchor="t">
            <a:spAutoFit/>
          </a:bodyPr>
          <a:lstStyle/>
          <a:p>
            <a:pPr algn="l">
              <a:lnSpc>
                <a:spcPct val="120000"/>
              </a:lnSpc>
            </a:pPr>
            <a:r>
              <a:rPr sz="900" b="0">
                <a:solidFill>
                  <a:srgbClr val="7B908C"/>
                </a:solidFill>
                <a:latin typeface="Segoe UI"/>
              </a:rPr>
              <a:t>FX-aware cross-border pricing</a:t>
            </a:r>
          </a:p>
        </p:txBody>
      </p:sp>
      <p:sp>
        <p:nvSpPr>
          <p:cNvPr id="21" name="TextBox 20"/>
          <p:cNvSpPr txBox="1"/>
          <p:nvPr/>
        </p:nvSpPr>
        <p:spPr>
          <a:xfrm>
            <a:off x="768096" y="3346704"/>
            <a:ext cx="146304" cy="182880"/>
          </a:xfrm>
          <a:prstGeom prst="rect">
            <a:avLst/>
          </a:prstGeom>
          <a:noFill/>
        </p:spPr>
        <p:txBody>
          <a:bodyPr wrap="square" lIns="0" rIns="0" tIns="0" bIns="0" anchor="t">
            <a:spAutoFit/>
          </a:bodyPr>
          <a:lstStyle/>
          <a:p>
            <a:pPr algn="l">
              <a:lnSpc>
                <a:spcPct val="115000"/>
              </a:lnSpc>
            </a:pPr>
            <a:r>
              <a:rPr sz="1100" b="0">
                <a:solidFill>
                  <a:srgbClr val="4FC3AE"/>
                </a:solidFill>
                <a:latin typeface="Consolas"/>
              </a:rPr>
              <a:t>·</a:t>
            </a:r>
          </a:p>
        </p:txBody>
      </p:sp>
      <p:sp>
        <p:nvSpPr>
          <p:cNvPr id="22" name="TextBox 21"/>
          <p:cNvSpPr txBox="1"/>
          <p:nvPr/>
        </p:nvSpPr>
        <p:spPr>
          <a:xfrm>
            <a:off x="950976" y="3346704"/>
            <a:ext cx="2966618" cy="274320"/>
          </a:xfrm>
          <a:prstGeom prst="rect">
            <a:avLst/>
          </a:prstGeom>
          <a:noFill/>
        </p:spPr>
        <p:txBody>
          <a:bodyPr wrap="square" lIns="0" rIns="0" tIns="0" bIns="0" anchor="t">
            <a:spAutoFit/>
          </a:bodyPr>
          <a:lstStyle/>
          <a:p>
            <a:pPr algn="l">
              <a:lnSpc>
                <a:spcPct val="120000"/>
              </a:lnSpc>
            </a:pPr>
            <a:r>
              <a:rPr sz="900" b="0">
                <a:solidFill>
                  <a:srgbClr val="7B908C"/>
                </a:solidFill>
                <a:latin typeface="Segoe UI"/>
              </a:rPr>
              <a:t>Human review gate</a:t>
            </a:r>
          </a:p>
        </p:txBody>
      </p:sp>
      <p:sp>
        <p:nvSpPr>
          <p:cNvPr id="23" name="TextBox 22"/>
          <p:cNvSpPr txBox="1"/>
          <p:nvPr/>
        </p:nvSpPr>
        <p:spPr>
          <a:xfrm>
            <a:off x="768096" y="3593592"/>
            <a:ext cx="146304" cy="182880"/>
          </a:xfrm>
          <a:prstGeom prst="rect">
            <a:avLst/>
          </a:prstGeom>
          <a:noFill/>
        </p:spPr>
        <p:txBody>
          <a:bodyPr wrap="square" lIns="0" rIns="0" tIns="0" bIns="0" anchor="t">
            <a:spAutoFit/>
          </a:bodyPr>
          <a:lstStyle/>
          <a:p>
            <a:pPr algn="l">
              <a:lnSpc>
                <a:spcPct val="115000"/>
              </a:lnSpc>
            </a:pPr>
            <a:r>
              <a:rPr sz="1100" b="0">
                <a:solidFill>
                  <a:srgbClr val="4FC3AE"/>
                </a:solidFill>
                <a:latin typeface="Consolas"/>
              </a:rPr>
              <a:t>·</a:t>
            </a:r>
          </a:p>
        </p:txBody>
      </p:sp>
      <p:sp>
        <p:nvSpPr>
          <p:cNvPr id="24" name="TextBox 23"/>
          <p:cNvSpPr txBox="1"/>
          <p:nvPr/>
        </p:nvSpPr>
        <p:spPr>
          <a:xfrm>
            <a:off x="950976" y="3593592"/>
            <a:ext cx="2966618" cy="274320"/>
          </a:xfrm>
          <a:prstGeom prst="rect">
            <a:avLst/>
          </a:prstGeom>
          <a:noFill/>
        </p:spPr>
        <p:txBody>
          <a:bodyPr wrap="square" lIns="0" rIns="0" tIns="0" bIns="0" anchor="t">
            <a:spAutoFit/>
          </a:bodyPr>
          <a:lstStyle/>
          <a:p>
            <a:pPr algn="l">
              <a:lnSpc>
                <a:spcPct val="120000"/>
              </a:lnSpc>
            </a:pPr>
            <a:r>
              <a:rPr sz="900" b="0">
                <a:solidFill>
                  <a:srgbClr val="7B908C"/>
                </a:solidFill>
                <a:latin typeface="Segoe UI"/>
              </a:rPr>
              <a:t>Settlement message generation</a:t>
            </a:r>
          </a:p>
        </p:txBody>
      </p:sp>
      <p:sp>
        <p:nvSpPr>
          <p:cNvPr id="25" name="TextBox 24"/>
          <p:cNvSpPr txBox="1"/>
          <p:nvPr/>
        </p:nvSpPr>
        <p:spPr>
          <a:xfrm>
            <a:off x="768096" y="3840480"/>
            <a:ext cx="146304" cy="182880"/>
          </a:xfrm>
          <a:prstGeom prst="rect">
            <a:avLst/>
          </a:prstGeom>
          <a:noFill/>
        </p:spPr>
        <p:txBody>
          <a:bodyPr wrap="square" lIns="0" rIns="0" tIns="0" bIns="0" anchor="t">
            <a:spAutoFit/>
          </a:bodyPr>
          <a:lstStyle/>
          <a:p>
            <a:pPr algn="l">
              <a:lnSpc>
                <a:spcPct val="115000"/>
              </a:lnSpc>
            </a:pPr>
            <a:r>
              <a:rPr sz="1100" b="0">
                <a:solidFill>
                  <a:srgbClr val="4FC3AE"/>
                </a:solidFill>
                <a:latin typeface="Consolas"/>
              </a:rPr>
              <a:t>·</a:t>
            </a:r>
          </a:p>
        </p:txBody>
      </p:sp>
      <p:sp>
        <p:nvSpPr>
          <p:cNvPr id="26" name="TextBox 25"/>
          <p:cNvSpPr txBox="1"/>
          <p:nvPr/>
        </p:nvSpPr>
        <p:spPr>
          <a:xfrm>
            <a:off x="950976" y="3840480"/>
            <a:ext cx="2966618" cy="274320"/>
          </a:xfrm>
          <a:prstGeom prst="rect">
            <a:avLst/>
          </a:prstGeom>
          <a:noFill/>
        </p:spPr>
        <p:txBody>
          <a:bodyPr wrap="square" lIns="0" rIns="0" tIns="0" bIns="0" anchor="t">
            <a:spAutoFit/>
          </a:bodyPr>
          <a:lstStyle/>
          <a:p>
            <a:pPr algn="l">
              <a:lnSpc>
                <a:spcPct val="120000"/>
              </a:lnSpc>
            </a:pPr>
            <a:r>
              <a:rPr sz="900" b="0">
                <a:solidFill>
                  <a:srgbClr val="7B908C"/>
                </a:solidFill>
                <a:latin typeface="Segoe UI"/>
              </a:rPr>
              <a:t>Hash-chained audit trail</a:t>
            </a:r>
          </a:p>
        </p:txBody>
      </p:sp>
      <p:sp>
        <p:nvSpPr>
          <p:cNvPr id="27" name="Rectangle 26"/>
          <p:cNvSpPr/>
          <p:nvPr/>
        </p:nvSpPr>
        <p:spPr>
          <a:xfrm>
            <a:off x="4319930" y="1517904"/>
            <a:ext cx="3551834" cy="2615184"/>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19930" y="1517904"/>
            <a:ext cx="3551834" cy="45720"/>
          </a:xfrm>
          <a:prstGeom prst="rect">
            <a:avLst/>
          </a:prstGeom>
          <a:solidFill>
            <a:srgbClr val="E0A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21098" y="1700784"/>
            <a:ext cx="1371600" cy="219456"/>
          </a:xfrm>
          <a:prstGeom prst="rect">
            <a:avLst/>
          </a:prstGeom>
          <a:noFill/>
        </p:spPr>
        <p:txBody>
          <a:bodyPr wrap="square" lIns="0" rIns="0" tIns="0" bIns="0" anchor="t">
            <a:spAutoFit/>
          </a:bodyPr>
          <a:lstStyle/>
          <a:p>
            <a:pPr algn="l">
              <a:lnSpc>
                <a:spcPct val="115000"/>
              </a:lnSpc>
            </a:pPr>
            <a:r>
              <a:rPr sz="1100" b="1" spc="200">
                <a:solidFill>
                  <a:srgbClr val="E0A33C"/>
                </a:solidFill>
                <a:latin typeface="Consolas"/>
              </a:rPr>
              <a:t>NEXT</a:t>
            </a:r>
          </a:p>
        </p:txBody>
      </p:sp>
      <p:sp>
        <p:nvSpPr>
          <p:cNvPr id="30" name="TextBox 29"/>
          <p:cNvSpPr txBox="1"/>
          <p:nvPr/>
        </p:nvSpPr>
        <p:spPr>
          <a:xfrm>
            <a:off x="4521098" y="1938528"/>
            <a:ext cx="3149498" cy="219456"/>
          </a:xfrm>
          <a:prstGeom prst="rect">
            <a:avLst/>
          </a:prstGeom>
          <a:noFill/>
        </p:spPr>
        <p:txBody>
          <a:bodyPr wrap="square" lIns="0" rIns="0" tIns="0" bIns="0" anchor="t">
            <a:spAutoFit/>
          </a:bodyPr>
          <a:lstStyle/>
          <a:p>
            <a:pPr algn="l">
              <a:lnSpc>
                <a:spcPct val="115000"/>
              </a:lnSpc>
            </a:pPr>
            <a:r>
              <a:rPr sz="1100" b="1">
                <a:solidFill>
                  <a:srgbClr val="E6EDEB"/>
                </a:solidFill>
                <a:latin typeface="Segoe UI"/>
              </a:rPr>
              <a:t>PRODUCTION INTEGRATION</a:t>
            </a:r>
          </a:p>
        </p:txBody>
      </p:sp>
      <p:sp>
        <p:nvSpPr>
          <p:cNvPr id="31" name="Rectangle 30"/>
          <p:cNvSpPr/>
          <p:nvPr/>
        </p:nvSpPr>
        <p:spPr>
          <a:xfrm>
            <a:off x="4521098" y="2231136"/>
            <a:ext cx="3149498"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21098" y="2359152"/>
            <a:ext cx="146304" cy="182880"/>
          </a:xfrm>
          <a:prstGeom prst="rect">
            <a:avLst/>
          </a:prstGeom>
          <a:noFill/>
        </p:spPr>
        <p:txBody>
          <a:bodyPr wrap="square" lIns="0" rIns="0" tIns="0" bIns="0" anchor="t">
            <a:spAutoFit/>
          </a:bodyPr>
          <a:lstStyle/>
          <a:p>
            <a:pPr algn="l">
              <a:lnSpc>
                <a:spcPct val="115000"/>
              </a:lnSpc>
            </a:pPr>
            <a:r>
              <a:rPr sz="1100" b="0">
                <a:solidFill>
                  <a:srgbClr val="E0A33C"/>
                </a:solidFill>
                <a:latin typeface="Consolas"/>
              </a:rPr>
              <a:t>·</a:t>
            </a:r>
          </a:p>
        </p:txBody>
      </p:sp>
      <p:sp>
        <p:nvSpPr>
          <p:cNvPr id="33" name="TextBox 32"/>
          <p:cNvSpPr txBox="1"/>
          <p:nvPr/>
        </p:nvSpPr>
        <p:spPr>
          <a:xfrm>
            <a:off x="4703978" y="2359152"/>
            <a:ext cx="2966618" cy="274320"/>
          </a:xfrm>
          <a:prstGeom prst="rect">
            <a:avLst/>
          </a:prstGeom>
          <a:noFill/>
        </p:spPr>
        <p:txBody>
          <a:bodyPr wrap="square" lIns="0" rIns="0" tIns="0" bIns="0" anchor="t">
            <a:spAutoFit/>
          </a:bodyPr>
          <a:lstStyle/>
          <a:p>
            <a:pPr algn="l">
              <a:lnSpc>
                <a:spcPct val="120000"/>
              </a:lnSpc>
            </a:pPr>
            <a:r>
              <a:rPr sz="900" b="0">
                <a:solidFill>
                  <a:srgbClr val="7B908C"/>
                </a:solidFill>
                <a:latin typeface="Segoe UI"/>
              </a:rPr>
              <a:t>Live market-data feeds, pinned on ingest</a:t>
            </a:r>
          </a:p>
        </p:txBody>
      </p:sp>
      <p:sp>
        <p:nvSpPr>
          <p:cNvPr id="34" name="TextBox 33"/>
          <p:cNvSpPr txBox="1"/>
          <p:nvPr/>
        </p:nvSpPr>
        <p:spPr>
          <a:xfrm>
            <a:off x="4521098" y="2606040"/>
            <a:ext cx="146304" cy="182880"/>
          </a:xfrm>
          <a:prstGeom prst="rect">
            <a:avLst/>
          </a:prstGeom>
          <a:noFill/>
        </p:spPr>
        <p:txBody>
          <a:bodyPr wrap="square" lIns="0" rIns="0" tIns="0" bIns="0" anchor="t">
            <a:spAutoFit/>
          </a:bodyPr>
          <a:lstStyle/>
          <a:p>
            <a:pPr algn="l">
              <a:lnSpc>
                <a:spcPct val="115000"/>
              </a:lnSpc>
            </a:pPr>
            <a:r>
              <a:rPr sz="1100" b="0">
                <a:solidFill>
                  <a:srgbClr val="E0A33C"/>
                </a:solidFill>
                <a:latin typeface="Consolas"/>
              </a:rPr>
              <a:t>·</a:t>
            </a:r>
          </a:p>
        </p:txBody>
      </p:sp>
      <p:sp>
        <p:nvSpPr>
          <p:cNvPr id="35" name="TextBox 34"/>
          <p:cNvSpPr txBox="1"/>
          <p:nvPr/>
        </p:nvSpPr>
        <p:spPr>
          <a:xfrm>
            <a:off x="4703978" y="2606040"/>
            <a:ext cx="2966618" cy="274320"/>
          </a:xfrm>
          <a:prstGeom prst="rect">
            <a:avLst/>
          </a:prstGeom>
          <a:noFill/>
        </p:spPr>
        <p:txBody>
          <a:bodyPr wrap="square" lIns="0" rIns="0" tIns="0" bIns="0" anchor="t">
            <a:spAutoFit/>
          </a:bodyPr>
          <a:lstStyle/>
          <a:p>
            <a:pPr algn="l">
              <a:lnSpc>
                <a:spcPct val="120000"/>
              </a:lnSpc>
            </a:pPr>
            <a:r>
              <a:rPr sz="900" b="0">
                <a:solidFill>
                  <a:srgbClr val="7B908C"/>
                </a:solidFill>
                <a:latin typeface="Segoe UI"/>
              </a:rPr>
              <a:t>Real portfolio and trade ingestion</a:t>
            </a:r>
          </a:p>
        </p:txBody>
      </p:sp>
      <p:sp>
        <p:nvSpPr>
          <p:cNvPr id="36" name="TextBox 35"/>
          <p:cNvSpPr txBox="1"/>
          <p:nvPr/>
        </p:nvSpPr>
        <p:spPr>
          <a:xfrm>
            <a:off x="4521098" y="2852928"/>
            <a:ext cx="146304" cy="182880"/>
          </a:xfrm>
          <a:prstGeom prst="rect">
            <a:avLst/>
          </a:prstGeom>
          <a:noFill/>
        </p:spPr>
        <p:txBody>
          <a:bodyPr wrap="square" lIns="0" rIns="0" tIns="0" bIns="0" anchor="t">
            <a:spAutoFit/>
          </a:bodyPr>
          <a:lstStyle/>
          <a:p>
            <a:pPr algn="l">
              <a:lnSpc>
                <a:spcPct val="115000"/>
              </a:lnSpc>
            </a:pPr>
            <a:r>
              <a:rPr sz="1100" b="0">
                <a:solidFill>
                  <a:srgbClr val="E0A33C"/>
                </a:solidFill>
                <a:latin typeface="Consolas"/>
              </a:rPr>
              <a:t>·</a:t>
            </a:r>
          </a:p>
        </p:txBody>
      </p:sp>
      <p:sp>
        <p:nvSpPr>
          <p:cNvPr id="37" name="TextBox 36"/>
          <p:cNvSpPr txBox="1"/>
          <p:nvPr/>
        </p:nvSpPr>
        <p:spPr>
          <a:xfrm>
            <a:off x="4703978" y="2852928"/>
            <a:ext cx="2966618" cy="274320"/>
          </a:xfrm>
          <a:prstGeom prst="rect">
            <a:avLst/>
          </a:prstGeom>
          <a:noFill/>
        </p:spPr>
        <p:txBody>
          <a:bodyPr wrap="square" lIns="0" rIns="0" tIns="0" bIns="0" anchor="t">
            <a:spAutoFit/>
          </a:bodyPr>
          <a:lstStyle/>
          <a:p>
            <a:pPr algn="l">
              <a:lnSpc>
                <a:spcPct val="120000"/>
              </a:lnSpc>
            </a:pPr>
            <a:r>
              <a:rPr sz="900" b="0">
                <a:solidFill>
                  <a:srgbClr val="7B908C"/>
                </a:solidFill>
                <a:latin typeface="Segoe UI"/>
              </a:rPr>
              <a:t>Persistent, versioned agreement state</a:t>
            </a:r>
          </a:p>
        </p:txBody>
      </p:sp>
      <p:sp>
        <p:nvSpPr>
          <p:cNvPr id="38" name="TextBox 37"/>
          <p:cNvSpPr txBox="1"/>
          <p:nvPr/>
        </p:nvSpPr>
        <p:spPr>
          <a:xfrm>
            <a:off x="4521098" y="3099816"/>
            <a:ext cx="146304" cy="182880"/>
          </a:xfrm>
          <a:prstGeom prst="rect">
            <a:avLst/>
          </a:prstGeom>
          <a:noFill/>
        </p:spPr>
        <p:txBody>
          <a:bodyPr wrap="square" lIns="0" rIns="0" tIns="0" bIns="0" anchor="t">
            <a:spAutoFit/>
          </a:bodyPr>
          <a:lstStyle/>
          <a:p>
            <a:pPr algn="l">
              <a:lnSpc>
                <a:spcPct val="115000"/>
              </a:lnSpc>
            </a:pPr>
            <a:r>
              <a:rPr sz="1100" b="0">
                <a:solidFill>
                  <a:srgbClr val="E0A33C"/>
                </a:solidFill>
                <a:latin typeface="Consolas"/>
              </a:rPr>
              <a:t>·</a:t>
            </a:r>
          </a:p>
        </p:txBody>
      </p:sp>
      <p:sp>
        <p:nvSpPr>
          <p:cNvPr id="39" name="TextBox 38"/>
          <p:cNvSpPr txBox="1"/>
          <p:nvPr/>
        </p:nvSpPr>
        <p:spPr>
          <a:xfrm>
            <a:off x="4703978" y="3099816"/>
            <a:ext cx="2966618" cy="274320"/>
          </a:xfrm>
          <a:prstGeom prst="rect">
            <a:avLst/>
          </a:prstGeom>
          <a:noFill/>
        </p:spPr>
        <p:txBody>
          <a:bodyPr wrap="square" lIns="0" rIns="0" tIns="0" bIns="0" anchor="t">
            <a:spAutoFit/>
          </a:bodyPr>
          <a:lstStyle/>
          <a:p>
            <a:pPr algn="l">
              <a:lnSpc>
                <a:spcPct val="120000"/>
              </a:lnSpc>
            </a:pPr>
            <a:r>
              <a:rPr sz="900" b="0">
                <a:solidFill>
                  <a:srgbClr val="7B908C"/>
                </a:solidFill>
                <a:latin typeface="Segoe UI"/>
              </a:rPr>
              <a:t>Authentication and multi-user review</a:t>
            </a:r>
          </a:p>
        </p:txBody>
      </p:sp>
      <p:sp>
        <p:nvSpPr>
          <p:cNvPr id="40" name="TextBox 39"/>
          <p:cNvSpPr txBox="1"/>
          <p:nvPr/>
        </p:nvSpPr>
        <p:spPr>
          <a:xfrm>
            <a:off x="4521098" y="3346704"/>
            <a:ext cx="146304" cy="182880"/>
          </a:xfrm>
          <a:prstGeom prst="rect">
            <a:avLst/>
          </a:prstGeom>
          <a:noFill/>
        </p:spPr>
        <p:txBody>
          <a:bodyPr wrap="square" lIns="0" rIns="0" tIns="0" bIns="0" anchor="t">
            <a:spAutoFit/>
          </a:bodyPr>
          <a:lstStyle/>
          <a:p>
            <a:pPr algn="l">
              <a:lnSpc>
                <a:spcPct val="115000"/>
              </a:lnSpc>
            </a:pPr>
            <a:r>
              <a:rPr sz="1100" b="0">
                <a:solidFill>
                  <a:srgbClr val="E0A33C"/>
                </a:solidFill>
                <a:latin typeface="Consolas"/>
              </a:rPr>
              <a:t>·</a:t>
            </a:r>
          </a:p>
        </p:txBody>
      </p:sp>
      <p:sp>
        <p:nvSpPr>
          <p:cNvPr id="41" name="TextBox 40"/>
          <p:cNvSpPr txBox="1"/>
          <p:nvPr/>
        </p:nvSpPr>
        <p:spPr>
          <a:xfrm>
            <a:off x="4703978" y="3346704"/>
            <a:ext cx="2966618" cy="274320"/>
          </a:xfrm>
          <a:prstGeom prst="rect">
            <a:avLst/>
          </a:prstGeom>
          <a:noFill/>
        </p:spPr>
        <p:txBody>
          <a:bodyPr wrap="square" lIns="0" rIns="0" tIns="0" bIns="0" anchor="t">
            <a:spAutoFit/>
          </a:bodyPr>
          <a:lstStyle/>
          <a:p>
            <a:pPr algn="l">
              <a:lnSpc>
                <a:spcPct val="120000"/>
              </a:lnSpc>
            </a:pPr>
            <a:r>
              <a:rPr sz="900" b="0">
                <a:solidFill>
                  <a:srgbClr val="7B908C"/>
                </a:solidFill>
                <a:latin typeface="Segoe UI"/>
              </a:rPr>
              <a:t>Production databases and observability</a:t>
            </a:r>
          </a:p>
        </p:txBody>
      </p:sp>
      <p:sp>
        <p:nvSpPr>
          <p:cNvPr id="42" name="TextBox 41"/>
          <p:cNvSpPr txBox="1"/>
          <p:nvPr/>
        </p:nvSpPr>
        <p:spPr>
          <a:xfrm>
            <a:off x="4521098" y="3593592"/>
            <a:ext cx="146304" cy="182880"/>
          </a:xfrm>
          <a:prstGeom prst="rect">
            <a:avLst/>
          </a:prstGeom>
          <a:noFill/>
        </p:spPr>
        <p:txBody>
          <a:bodyPr wrap="square" lIns="0" rIns="0" tIns="0" bIns="0" anchor="t">
            <a:spAutoFit/>
          </a:bodyPr>
          <a:lstStyle/>
          <a:p>
            <a:pPr algn="l">
              <a:lnSpc>
                <a:spcPct val="115000"/>
              </a:lnSpc>
            </a:pPr>
            <a:r>
              <a:rPr sz="1100" b="0">
                <a:solidFill>
                  <a:srgbClr val="E0A33C"/>
                </a:solidFill>
                <a:latin typeface="Consolas"/>
              </a:rPr>
              <a:t>·</a:t>
            </a:r>
          </a:p>
        </p:txBody>
      </p:sp>
      <p:sp>
        <p:nvSpPr>
          <p:cNvPr id="43" name="TextBox 42"/>
          <p:cNvSpPr txBox="1"/>
          <p:nvPr/>
        </p:nvSpPr>
        <p:spPr>
          <a:xfrm>
            <a:off x="4703978" y="3593592"/>
            <a:ext cx="2966618" cy="274320"/>
          </a:xfrm>
          <a:prstGeom prst="rect">
            <a:avLst/>
          </a:prstGeom>
          <a:noFill/>
        </p:spPr>
        <p:txBody>
          <a:bodyPr wrap="square" lIns="0" rIns="0" tIns="0" bIns="0" anchor="t">
            <a:spAutoFit/>
          </a:bodyPr>
          <a:lstStyle/>
          <a:p>
            <a:pPr algn="l">
              <a:lnSpc>
                <a:spcPct val="120000"/>
              </a:lnSpc>
            </a:pPr>
            <a:r>
              <a:rPr sz="900" b="0">
                <a:solidFill>
                  <a:srgbClr val="7B908C"/>
                </a:solidFill>
                <a:latin typeface="Segoe UI"/>
              </a:rPr>
              <a:t>Custodian and tri-party connectivity</a:t>
            </a:r>
          </a:p>
        </p:txBody>
      </p:sp>
      <p:sp>
        <p:nvSpPr>
          <p:cNvPr id="44" name="TextBox 43"/>
          <p:cNvSpPr txBox="1"/>
          <p:nvPr/>
        </p:nvSpPr>
        <p:spPr>
          <a:xfrm>
            <a:off x="4521098" y="3840480"/>
            <a:ext cx="146304" cy="182880"/>
          </a:xfrm>
          <a:prstGeom prst="rect">
            <a:avLst/>
          </a:prstGeom>
          <a:noFill/>
        </p:spPr>
        <p:txBody>
          <a:bodyPr wrap="square" lIns="0" rIns="0" tIns="0" bIns="0" anchor="t">
            <a:spAutoFit/>
          </a:bodyPr>
          <a:lstStyle/>
          <a:p>
            <a:pPr algn="l">
              <a:lnSpc>
                <a:spcPct val="115000"/>
              </a:lnSpc>
            </a:pPr>
            <a:r>
              <a:rPr sz="1100" b="0">
                <a:solidFill>
                  <a:srgbClr val="E0A33C"/>
                </a:solidFill>
                <a:latin typeface="Consolas"/>
              </a:rPr>
              <a:t>·</a:t>
            </a:r>
          </a:p>
        </p:txBody>
      </p:sp>
      <p:sp>
        <p:nvSpPr>
          <p:cNvPr id="45" name="TextBox 44"/>
          <p:cNvSpPr txBox="1"/>
          <p:nvPr/>
        </p:nvSpPr>
        <p:spPr>
          <a:xfrm>
            <a:off x="4703978" y="3840480"/>
            <a:ext cx="2966618" cy="274320"/>
          </a:xfrm>
          <a:prstGeom prst="rect">
            <a:avLst/>
          </a:prstGeom>
          <a:noFill/>
        </p:spPr>
        <p:txBody>
          <a:bodyPr wrap="square" lIns="0" rIns="0" tIns="0" bIns="0" anchor="t">
            <a:spAutoFit/>
          </a:bodyPr>
          <a:lstStyle/>
          <a:p>
            <a:pPr algn="l">
              <a:lnSpc>
                <a:spcPct val="120000"/>
              </a:lnSpc>
            </a:pPr>
            <a:r>
              <a:rPr sz="900" b="0">
                <a:solidFill>
                  <a:srgbClr val="7B908C"/>
                </a:solidFill>
                <a:latin typeface="Segoe UI"/>
              </a:rPr>
              <a:t>Scanned-document ingestion</a:t>
            </a:r>
          </a:p>
        </p:txBody>
      </p:sp>
      <p:sp>
        <p:nvSpPr>
          <p:cNvPr id="46" name="Rectangle 45"/>
          <p:cNvSpPr/>
          <p:nvPr/>
        </p:nvSpPr>
        <p:spPr>
          <a:xfrm>
            <a:off x="8072932" y="1517904"/>
            <a:ext cx="3551834" cy="2615184"/>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072932" y="1517904"/>
            <a:ext cx="3551834" cy="45720"/>
          </a:xfrm>
          <a:prstGeom prst="rect">
            <a:avLst/>
          </a:prstGeom>
          <a:solidFill>
            <a:srgbClr val="7B90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74100" y="1700784"/>
            <a:ext cx="1371600" cy="219456"/>
          </a:xfrm>
          <a:prstGeom prst="rect">
            <a:avLst/>
          </a:prstGeom>
          <a:noFill/>
        </p:spPr>
        <p:txBody>
          <a:bodyPr wrap="square" lIns="0" rIns="0" tIns="0" bIns="0" anchor="t">
            <a:spAutoFit/>
          </a:bodyPr>
          <a:lstStyle/>
          <a:p>
            <a:pPr algn="l">
              <a:lnSpc>
                <a:spcPct val="115000"/>
              </a:lnSpc>
            </a:pPr>
            <a:r>
              <a:rPr sz="1100" b="1" spc="200">
                <a:solidFill>
                  <a:srgbClr val="7B908C"/>
                </a:solidFill>
                <a:latin typeface="Consolas"/>
              </a:rPr>
              <a:t>FUTURE</a:t>
            </a:r>
          </a:p>
        </p:txBody>
      </p:sp>
      <p:sp>
        <p:nvSpPr>
          <p:cNvPr id="49" name="TextBox 48"/>
          <p:cNvSpPr txBox="1"/>
          <p:nvPr/>
        </p:nvSpPr>
        <p:spPr>
          <a:xfrm>
            <a:off x="8274100" y="1938528"/>
            <a:ext cx="3149498" cy="219456"/>
          </a:xfrm>
          <a:prstGeom prst="rect">
            <a:avLst/>
          </a:prstGeom>
          <a:noFill/>
        </p:spPr>
        <p:txBody>
          <a:bodyPr wrap="square" lIns="0" rIns="0" tIns="0" bIns="0" anchor="t">
            <a:spAutoFit/>
          </a:bodyPr>
          <a:lstStyle/>
          <a:p>
            <a:pPr algn="l">
              <a:lnSpc>
                <a:spcPct val="115000"/>
              </a:lnSpc>
            </a:pPr>
            <a:r>
              <a:rPr sz="1100" b="1">
                <a:solidFill>
                  <a:srgbClr val="E6EDEB"/>
                </a:solidFill>
                <a:latin typeface="Segoe UI"/>
              </a:rPr>
              <a:t>INSTITUTIONAL SCALE</a:t>
            </a:r>
          </a:p>
        </p:txBody>
      </p:sp>
      <p:sp>
        <p:nvSpPr>
          <p:cNvPr id="50" name="Rectangle 49"/>
          <p:cNvSpPr/>
          <p:nvPr/>
        </p:nvSpPr>
        <p:spPr>
          <a:xfrm>
            <a:off x="8274100" y="2231136"/>
            <a:ext cx="3149498"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74100" y="2359152"/>
            <a:ext cx="146304" cy="182880"/>
          </a:xfrm>
          <a:prstGeom prst="rect">
            <a:avLst/>
          </a:prstGeom>
          <a:noFill/>
        </p:spPr>
        <p:txBody>
          <a:bodyPr wrap="square" lIns="0" rIns="0" tIns="0" bIns="0" anchor="t">
            <a:spAutoFit/>
          </a:bodyPr>
          <a:lstStyle/>
          <a:p>
            <a:pPr algn="l">
              <a:lnSpc>
                <a:spcPct val="115000"/>
              </a:lnSpc>
            </a:pPr>
            <a:r>
              <a:rPr sz="1100" b="0">
                <a:solidFill>
                  <a:srgbClr val="7B908C"/>
                </a:solidFill>
                <a:latin typeface="Consolas"/>
              </a:rPr>
              <a:t>·</a:t>
            </a:r>
          </a:p>
        </p:txBody>
      </p:sp>
      <p:sp>
        <p:nvSpPr>
          <p:cNvPr id="52" name="TextBox 51"/>
          <p:cNvSpPr txBox="1"/>
          <p:nvPr/>
        </p:nvSpPr>
        <p:spPr>
          <a:xfrm>
            <a:off x="8456980" y="2359152"/>
            <a:ext cx="2966618" cy="274320"/>
          </a:xfrm>
          <a:prstGeom prst="rect">
            <a:avLst/>
          </a:prstGeom>
          <a:noFill/>
        </p:spPr>
        <p:txBody>
          <a:bodyPr wrap="square" lIns="0" rIns="0" tIns="0" bIns="0" anchor="t">
            <a:spAutoFit/>
          </a:bodyPr>
          <a:lstStyle/>
          <a:p>
            <a:pPr algn="l">
              <a:lnSpc>
                <a:spcPct val="120000"/>
              </a:lnSpc>
            </a:pPr>
            <a:r>
              <a:rPr sz="900" b="0">
                <a:solidFill>
                  <a:srgbClr val="7B908C"/>
                </a:solidFill>
                <a:latin typeface="Segoe UI"/>
              </a:rPr>
              <a:t>Multi-entity collateral pools</a:t>
            </a:r>
          </a:p>
        </p:txBody>
      </p:sp>
      <p:sp>
        <p:nvSpPr>
          <p:cNvPr id="53" name="TextBox 52"/>
          <p:cNvSpPr txBox="1"/>
          <p:nvPr/>
        </p:nvSpPr>
        <p:spPr>
          <a:xfrm>
            <a:off x="8274100" y="2606040"/>
            <a:ext cx="146304" cy="182880"/>
          </a:xfrm>
          <a:prstGeom prst="rect">
            <a:avLst/>
          </a:prstGeom>
          <a:noFill/>
        </p:spPr>
        <p:txBody>
          <a:bodyPr wrap="square" lIns="0" rIns="0" tIns="0" bIns="0" anchor="t">
            <a:spAutoFit/>
          </a:bodyPr>
          <a:lstStyle/>
          <a:p>
            <a:pPr algn="l">
              <a:lnSpc>
                <a:spcPct val="115000"/>
              </a:lnSpc>
            </a:pPr>
            <a:r>
              <a:rPr sz="1100" b="0">
                <a:solidFill>
                  <a:srgbClr val="7B908C"/>
                </a:solidFill>
                <a:latin typeface="Consolas"/>
              </a:rPr>
              <a:t>·</a:t>
            </a:r>
          </a:p>
        </p:txBody>
      </p:sp>
      <p:sp>
        <p:nvSpPr>
          <p:cNvPr id="54" name="TextBox 53"/>
          <p:cNvSpPr txBox="1"/>
          <p:nvPr/>
        </p:nvSpPr>
        <p:spPr>
          <a:xfrm>
            <a:off x="8456980" y="2606040"/>
            <a:ext cx="2966618" cy="274320"/>
          </a:xfrm>
          <a:prstGeom prst="rect">
            <a:avLst/>
          </a:prstGeom>
          <a:noFill/>
        </p:spPr>
        <p:txBody>
          <a:bodyPr wrap="square" lIns="0" rIns="0" tIns="0" bIns="0" anchor="t">
            <a:spAutoFit/>
          </a:bodyPr>
          <a:lstStyle/>
          <a:p>
            <a:pPr algn="l">
              <a:lnSpc>
                <a:spcPct val="120000"/>
              </a:lnSpc>
            </a:pPr>
            <a:r>
              <a:rPr sz="900" b="0">
                <a:solidFill>
                  <a:srgbClr val="7B908C"/>
                </a:solidFill>
                <a:latin typeface="Segoe UI"/>
              </a:rPr>
              <a:t>Many netting sets in one optimisation</a:t>
            </a:r>
          </a:p>
        </p:txBody>
      </p:sp>
      <p:sp>
        <p:nvSpPr>
          <p:cNvPr id="55" name="TextBox 54"/>
          <p:cNvSpPr txBox="1"/>
          <p:nvPr/>
        </p:nvSpPr>
        <p:spPr>
          <a:xfrm>
            <a:off x="8274100" y="2852928"/>
            <a:ext cx="146304" cy="182880"/>
          </a:xfrm>
          <a:prstGeom prst="rect">
            <a:avLst/>
          </a:prstGeom>
          <a:noFill/>
        </p:spPr>
        <p:txBody>
          <a:bodyPr wrap="square" lIns="0" rIns="0" tIns="0" bIns="0" anchor="t">
            <a:spAutoFit/>
          </a:bodyPr>
          <a:lstStyle/>
          <a:p>
            <a:pPr algn="l">
              <a:lnSpc>
                <a:spcPct val="115000"/>
              </a:lnSpc>
            </a:pPr>
            <a:r>
              <a:rPr sz="1100" b="0">
                <a:solidFill>
                  <a:srgbClr val="7B908C"/>
                </a:solidFill>
                <a:latin typeface="Consolas"/>
              </a:rPr>
              <a:t>·</a:t>
            </a:r>
          </a:p>
        </p:txBody>
      </p:sp>
      <p:sp>
        <p:nvSpPr>
          <p:cNvPr id="56" name="TextBox 55"/>
          <p:cNvSpPr txBox="1"/>
          <p:nvPr/>
        </p:nvSpPr>
        <p:spPr>
          <a:xfrm>
            <a:off x="8456980" y="2852928"/>
            <a:ext cx="2966618" cy="274320"/>
          </a:xfrm>
          <a:prstGeom prst="rect">
            <a:avLst/>
          </a:prstGeom>
          <a:noFill/>
        </p:spPr>
        <p:txBody>
          <a:bodyPr wrap="square" lIns="0" rIns="0" tIns="0" bIns="0" anchor="t">
            <a:spAutoFit/>
          </a:bodyPr>
          <a:lstStyle/>
          <a:p>
            <a:pPr algn="l">
              <a:lnSpc>
                <a:spcPct val="120000"/>
              </a:lnSpc>
            </a:pPr>
            <a:r>
              <a:rPr sz="900" b="0">
                <a:solidFill>
                  <a:srgbClr val="7B908C"/>
                </a:solidFill>
                <a:latin typeface="Segoe UI"/>
              </a:rPr>
              <a:t>Continuous intraday recalculation</a:t>
            </a:r>
          </a:p>
        </p:txBody>
      </p:sp>
      <p:sp>
        <p:nvSpPr>
          <p:cNvPr id="57" name="TextBox 56"/>
          <p:cNvSpPr txBox="1"/>
          <p:nvPr/>
        </p:nvSpPr>
        <p:spPr>
          <a:xfrm>
            <a:off x="8274100" y="3099816"/>
            <a:ext cx="146304" cy="182880"/>
          </a:xfrm>
          <a:prstGeom prst="rect">
            <a:avLst/>
          </a:prstGeom>
          <a:noFill/>
        </p:spPr>
        <p:txBody>
          <a:bodyPr wrap="square" lIns="0" rIns="0" tIns="0" bIns="0" anchor="t">
            <a:spAutoFit/>
          </a:bodyPr>
          <a:lstStyle/>
          <a:p>
            <a:pPr algn="l">
              <a:lnSpc>
                <a:spcPct val="115000"/>
              </a:lnSpc>
            </a:pPr>
            <a:r>
              <a:rPr sz="1100" b="0">
                <a:solidFill>
                  <a:srgbClr val="7B908C"/>
                </a:solidFill>
                <a:latin typeface="Consolas"/>
              </a:rPr>
              <a:t>·</a:t>
            </a:r>
          </a:p>
        </p:txBody>
      </p:sp>
      <p:sp>
        <p:nvSpPr>
          <p:cNvPr id="58" name="TextBox 57"/>
          <p:cNvSpPr txBox="1"/>
          <p:nvPr/>
        </p:nvSpPr>
        <p:spPr>
          <a:xfrm>
            <a:off x="8456980" y="3099816"/>
            <a:ext cx="2966618" cy="274320"/>
          </a:xfrm>
          <a:prstGeom prst="rect">
            <a:avLst/>
          </a:prstGeom>
          <a:noFill/>
        </p:spPr>
        <p:txBody>
          <a:bodyPr wrap="square" lIns="0" rIns="0" tIns="0" bIns="0" anchor="t">
            <a:spAutoFit/>
          </a:bodyPr>
          <a:lstStyle/>
          <a:p>
            <a:pPr algn="l">
              <a:lnSpc>
                <a:spcPct val="120000"/>
              </a:lnSpc>
            </a:pPr>
            <a:r>
              <a:rPr sz="900" b="0">
                <a:solidFill>
                  <a:srgbClr val="7B908C"/>
                </a:solidFill>
                <a:latin typeface="Segoe UI"/>
              </a:rPr>
              <a:t>Multi-currency optimisation at scale</a:t>
            </a:r>
          </a:p>
        </p:txBody>
      </p:sp>
      <p:sp>
        <p:nvSpPr>
          <p:cNvPr id="59" name="TextBox 58"/>
          <p:cNvSpPr txBox="1"/>
          <p:nvPr/>
        </p:nvSpPr>
        <p:spPr>
          <a:xfrm>
            <a:off x="8274100" y="3346704"/>
            <a:ext cx="146304" cy="182880"/>
          </a:xfrm>
          <a:prstGeom prst="rect">
            <a:avLst/>
          </a:prstGeom>
          <a:noFill/>
        </p:spPr>
        <p:txBody>
          <a:bodyPr wrap="square" lIns="0" rIns="0" tIns="0" bIns="0" anchor="t">
            <a:spAutoFit/>
          </a:bodyPr>
          <a:lstStyle/>
          <a:p>
            <a:pPr algn="l">
              <a:lnSpc>
                <a:spcPct val="115000"/>
              </a:lnSpc>
            </a:pPr>
            <a:r>
              <a:rPr sz="1100" b="0">
                <a:solidFill>
                  <a:srgbClr val="7B908C"/>
                </a:solidFill>
                <a:latin typeface="Consolas"/>
              </a:rPr>
              <a:t>·</a:t>
            </a:r>
          </a:p>
        </p:txBody>
      </p:sp>
      <p:sp>
        <p:nvSpPr>
          <p:cNvPr id="60" name="TextBox 59"/>
          <p:cNvSpPr txBox="1"/>
          <p:nvPr/>
        </p:nvSpPr>
        <p:spPr>
          <a:xfrm>
            <a:off x="8456980" y="3346704"/>
            <a:ext cx="2966618" cy="274320"/>
          </a:xfrm>
          <a:prstGeom prst="rect">
            <a:avLst/>
          </a:prstGeom>
          <a:noFill/>
        </p:spPr>
        <p:txBody>
          <a:bodyPr wrap="square" lIns="0" rIns="0" tIns="0" bIns="0" anchor="t">
            <a:spAutoFit/>
          </a:bodyPr>
          <a:lstStyle/>
          <a:p>
            <a:pPr algn="l">
              <a:lnSpc>
                <a:spcPct val="120000"/>
              </a:lnSpc>
            </a:pPr>
            <a:r>
              <a:rPr sz="900" b="0">
                <a:solidFill>
                  <a:srgbClr val="7B908C"/>
                </a:solidFill>
                <a:latin typeface="Segoe UI"/>
              </a:rPr>
              <a:t>Real settlement connectivity</a:t>
            </a:r>
          </a:p>
        </p:txBody>
      </p:sp>
      <p:sp>
        <p:nvSpPr>
          <p:cNvPr id="61" name="TextBox 60"/>
          <p:cNvSpPr txBox="1"/>
          <p:nvPr/>
        </p:nvSpPr>
        <p:spPr>
          <a:xfrm>
            <a:off x="8274100" y="3593592"/>
            <a:ext cx="146304" cy="182880"/>
          </a:xfrm>
          <a:prstGeom prst="rect">
            <a:avLst/>
          </a:prstGeom>
          <a:noFill/>
        </p:spPr>
        <p:txBody>
          <a:bodyPr wrap="square" lIns="0" rIns="0" tIns="0" bIns="0" anchor="t">
            <a:spAutoFit/>
          </a:bodyPr>
          <a:lstStyle/>
          <a:p>
            <a:pPr algn="l">
              <a:lnSpc>
                <a:spcPct val="115000"/>
              </a:lnSpc>
            </a:pPr>
            <a:r>
              <a:rPr sz="1100" b="0">
                <a:solidFill>
                  <a:srgbClr val="7B908C"/>
                </a:solidFill>
                <a:latin typeface="Consolas"/>
              </a:rPr>
              <a:t>·</a:t>
            </a:r>
          </a:p>
        </p:txBody>
      </p:sp>
      <p:sp>
        <p:nvSpPr>
          <p:cNvPr id="62" name="TextBox 61"/>
          <p:cNvSpPr txBox="1"/>
          <p:nvPr/>
        </p:nvSpPr>
        <p:spPr>
          <a:xfrm>
            <a:off x="8456980" y="3593592"/>
            <a:ext cx="2966618" cy="274320"/>
          </a:xfrm>
          <a:prstGeom prst="rect">
            <a:avLst/>
          </a:prstGeom>
          <a:noFill/>
        </p:spPr>
        <p:txBody>
          <a:bodyPr wrap="square" lIns="0" rIns="0" tIns="0" bIns="0" anchor="t">
            <a:spAutoFit/>
          </a:bodyPr>
          <a:lstStyle/>
          <a:p>
            <a:pPr algn="l">
              <a:lnSpc>
                <a:spcPct val="120000"/>
              </a:lnSpc>
            </a:pPr>
            <a:r>
              <a:rPr sz="900" b="0">
                <a:solidFill>
                  <a:srgbClr val="7B908C"/>
                </a:solidFill>
                <a:latin typeface="Segoe UI"/>
              </a:rPr>
              <a:t>Enterprise multi-tenant deployment</a:t>
            </a:r>
          </a:p>
        </p:txBody>
      </p:sp>
      <p:sp>
        <p:nvSpPr>
          <p:cNvPr id="63" name="TextBox 62"/>
          <p:cNvSpPr txBox="1"/>
          <p:nvPr/>
        </p:nvSpPr>
        <p:spPr>
          <a:xfrm>
            <a:off x="8274100" y="3840480"/>
            <a:ext cx="146304" cy="182880"/>
          </a:xfrm>
          <a:prstGeom prst="rect">
            <a:avLst/>
          </a:prstGeom>
          <a:noFill/>
        </p:spPr>
        <p:txBody>
          <a:bodyPr wrap="square" lIns="0" rIns="0" tIns="0" bIns="0" anchor="t">
            <a:spAutoFit/>
          </a:bodyPr>
          <a:lstStyle/>
          <a:p>
            <a:pPr algn="l">
              <a:lnSpc>
                <a:spcPct val="115000"/>
              </a:lnSpc>
            </a:pPr>
            <a:r>
              <a:rPr sz="1100" b="0">
                <a:solidFill>
                  <a:srgbClr val="7B908C"/>
                </a:solidFill>
                <a:latin typeface="Consolas"/>
              </a:rPr>
              <a:t>·</a:t>
            </a:r>
          </a:p>
        </p:txBody>
      </p:sp>
      <p:sp>
        <p:nvSpPr>
          <p:cNvPr id="64" name="TextBox 63"/>
          <p:cNvSpPr txBox="1"/>
          <p:nvPr/>
        </p:nvSpPr>
        <p:spPr>
          <a:xfrm>
            <a:off x="8456980" y="3840480"/>
            <a:ext cx="2966618" cy="274320"/>
          </a:xfrm>
          <a:prstGeom prst="rect">
            <a:avLst/>
          </a:prstGeom>
          <a:noFill/>
        </p:spPr>
        <p:txBody>
          <a:bodyPr wrap="square" lIns="0" rIns="0" tIns="0" bIns="0" anchor="t">
            <a:spAutoFit/>
          </a:bodyPr>
          <a:lstStyle/>
          <a:p>
            <a:pPr algn="l">
              <a:lnSpc>
                <a:spcPct val="120000"/>
              </a:lnSpc>
            </a:pPr>
            <a:r>
              <a:rPr sz="900" b="0">
                <a:solidFill>
                  <a:srgbClr val="7B908C"/>
                </a:solidFill>
                <a:latin typeface="Segoe UI"/>
              </a:rPr>
              <a:t>Dispute attribution</a:t>
            </a:r>
          </a:p>
        </p:txBody>
      </p:sp>
      <p:sp>
        <p:nvSpPr>
          <p:cNvPr id="65" name="TextBox 64"/>
          <p:cNvSpPr txBox="1"/>
          <p:nvPr/>
        </p:nvSpPr>
        <p:spPr>
          <a:xfrm>
            <a:off x="566928" y="4224528"/>
            <a:ext cx="11057839" cy="219456"/>
          </a:xfrm>
          <a:prstGeom prst="rect">
            <a:avLst/>
          </a:prstGeom>
          <a:noFill/>
        </p:spPr>
        <p:txBody>
          <a:bodyPr wrap="square" lIns="0" rIns="0" tIns="0" bIns="0" anchor="t">
            <a:spAutoFit/>
          </a:bodyPr>
          <a:lstStyle/>
          <a:p>
            <a:pPr algn="l">
              <a:lnSpc>
                <a:spcPct val="115000"/>
              </a:lnSpc>
            </a:pPr>
            <a:r>
              <a:rPr sz="950" b="0">
                <a:solidFill>
                  <a:srgbClr val="556764"/>
                </a:solidFill>
                <a:latin typeface="Segoe UI"/>
              </a:rPr>
              <a:t>The decision engine scales conceptually — the linear program is indifferent to inventory size. Production infrastructure is the next engineering layer.</a:t>
            </a:r>
          </a:p>
        </p:txBody>
      </p:sp>
      <p:sp>
        <p:nvSpPr>
          <p:cNvPr id="66" name="Rectangle 65"/>
          <p:cNvSpPr/>
          <p:nvPr/>
        </p:nvSpPr>
        <p:spPr>
          <a:xfrm>
            <a:off x="566928" y="4590288"/>
            <a:ext cx="3551834" cy="1097280"/>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66928" y="4590288"/>
            <a:ext cx="27432" cy="1097280"/>
          </a:xfrm>
          <a:prstGeom prst="rect">
            <a:avLst/>
          </a:prstGeom>
          <a:solidFill>
            <a:srgbClr val="4FC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68096" y="4718304"/>
            <a:ext cx="457200" cy="256032"/>
          </a:xfrm>
          <a:prstGeom prst="rect">
            <a:avLst/>
          </a:prstGeom>
          <a:noFill/>
        </p:spPr>
        <p:txBody>
          <a:bodyPr wrap="square" lIns="0" rIns="0" tIns="0" bIns="0" anchor="t">
            <a:spAutoFit/>
          </a:bodyPr>
          <a:lstStyle/>
          <a:p>
            <a:pPr algn="l">
              <a:lnSpc>
                <a:spcPct val="115000"/>
              </a:lnSpc>
            </a:pPr>
            <a:r>
              <a:rPr sz="1400" b="1">
                <a:solidFill>
                  <a:srgbClr val="4FC3AE"/>
                </a:solidFill>
                <a:latin typeface="Consolas"/>
              </a:rPr>
              <a:t>01</a:t>
            </a:r>
          </a:p>
        </p:txBody>
      </p:sp>
      <p:sp>
        <p:nvSpPr>
          <p:cNvPr id="69" name="TextBox 68"/>
          <p:cNvSpPr txBox="1"/>
          <p:nvPr/>
        </p:nvSpPr>
        <p:spPr>
          <a:xfrm>
            <a:off x="1353312" y="4736592"/>
            <a:ext cx="2545994" cy="219456"/>
          </a:xfrm>
          <a:prstGeom prst="rect">
            <a:avLst/>
          </a:prstGeom>
          <a:noFill/>
        </p:spPr>
        <p:txBody>
          <a:bodyPr wrap="square" lIns="0" rIns="0" tIns="0" bIns="0" anchor="t">
            <a:spAutoFit/>
          </a:bodyPr>
          <a:lstStyle/>
          <a:p>
            <a:pPr algn="l">
              <a:lnSpc>
                <a:spcPct val="115000"/>
              </a:lnSpc>
            </a:pPr>
            <a:r>
              <a:rPr sz="1050" b="1">
                <a:solidFill>
                  <a:srgbClr val="E6EDEB"/>
                </a:solidFill>
                <a:latin typeface="Segoe UI"/>
              </a:rPr>
              <a:t>FINANCIALLY MEANINGFUL</a:t>
            </a:r>
          </a:p>
        </p:txBody>
      </p:sp>
      <p:sp>
        <p:nvSpPr>
          <p:cNvPr id="70" name="TextBox 69"/>
          <p:cNvSpPr txBox="1"/>
          <p:nvPr/>
        </p:nvSpPr>
        <p:spPr>
          <a:xfrm>
            <a:off x="768096" y="5084064"/>
            <a:ext cx="3131210" cy="512064"/>
          </a:xfrm>
          <a:prstGeom prst="rect">
            <a:avLst/>
          </a:prstGeom>
          <a:noFill/>
        </p:spPr>
        <p:txBody>
          <a:bodyPr wrap="square" lIns="0" rIns="0" tIns="0" bIns="0" anchor="t">
            <a:spAutoFit/>
          </a:bodyPr>
          <a:lstStyle/>
          <a:p>
            <a:pPr algn="l">
              <a:lnSpc>
                <a:spcPct val="130000"/>
              </a:lnSpc>
            </a:pPr>
            <a:r>
              <a:rPr sz="950" b="0">
                <a:solidFill>
                  <a:srgbClr val="7B908C"/>
                </a:solidFill>
                <a:latin typeface="Segoe UI"/>
              </a:rPr>
              <a:t>Collateral selection treated as a constrained optimisation, with every binding constraint priced.</a:t>
            </a:r>
          </a:p>
        </p:txBody>
      </p:sp>
      <p:sp>
        <p:nvSpPr>
          <p:cNvPr id="71" name="Rectangle 70"/>
          <p:cNvSpPr/>
          <p:nvPr/>
        </p:nvSpPr>
        <p:spPr>
          <a:xfrm>
            <a:off x="4319930" y="4590288"/>
            <a:ext cx="3551834" cy="1097280"/>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4319930" y="4590288"/>
            <a:ext cx="27432" cy="1097280"/>
          </a:xfrm>
          <a:prstGeom prst="rect">
            <a:avLst/>
          </a:prstGeom>
          <a:solidFill>
            <a:srgbClr val="E0A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521098" y="4718304"/>
            <a:ext cx="457200" cy="256032"/>
          </a:xfrm>
          <a:prstGeom prst="rect">
            <a:avLst/>
          </a:prstGeom>
          <a:noFill/>
        </p:spPr>
        <p:txBody>
          <a:bodyPr wrap="square" lIns="0" rIns="0" tIns="0" bIns="0" anchor="t">
            <a:spAutoFit/>
          </a:bodyPr>
          <a:lstStyle/>
          <a:p>
            <a:pPr algn="l">
              <a:lnSpc>
                <a:spcPct val="115000"/>
              </a:lnSpc>
            </a:pPr>
            <a:r>
              <a:rPr sz="1400" b="1">
                <a:solidFill>
                  <a:srgbClr val="E0A33C"/>
                </a:solidFill>
                <a:latin typeface="Consolas"/>
              </a:rPr>
              <a:t>02</a:t>
            </a:r>
          </a:p>
        </p:txBody>
      </p:sp>
      <p:sp>
        <p:nvSpPr>
          <p:cNvPr id="74" name="TextBox 73"/>
          <p:cNvSpPr txBox="1"/>
          <p:nvPr/>
        </p:nvSpPr>
        <p:spPr>
          <a:xfrm>
            <a:off x="5106314" y="4736592"/>
            <a:ext cx="2545994" cy="219456"/>
          </a:xfrm>
          <a:prstGeom prst="rect">
            <a:avLst/>
          </a:prstGeom>
          <a:noFill/>
        </p:spPr>
        <p:txBody>
          <a:bodyPr wrap="square" lIns="0" rIns="0" tIns="0" bIns="0" anchor="t">
            <a:spAutoFit/>
          </a:bodyPr>
          <a:lstStyle/>
          <a:p>
            <a:pPr algn="l">
              <a:lnSpc>
                <a:spcPct val="115000"/>
              </a:lnSpc>
            </a:pPr>
            <a:r>
              <a:rPr sz="1050" b="1">
                <a:solidFill>
                  <a:srgbClr val="E6EDEB"/>
                </a:solidFill>
                <a:latin typeface="Segoe UI"/>
              </a:rPr>
              <a:t>TECHNICALLY DEFENSIBLE</a:t>
            </a:r>
          </a:p>
        </p:txBody>
      </p:sp>
      <p:sp>
        <p:nvSpPr>
          <p:cNvPr id="75" name="TextBox 74"/>
          <p:cNvSpPr txBox="1"/>
          <p:nvPr/>
        </p:nvSpPr>
        <p:spPr>
          <a:xfrm>
            <a:off x="4521098" y="5084064"/>
            <a:ext cx="3131210" cy="512064"/>
          </a:xfrm>
          <a:prstGeom prst="rect">
            <a:avLst/>
          </a:prstGeom>
          <a:noFill/>
        </p:spPr>
        <p:txBody>
          <a:bodyPr wrap="square" lIns="0" rIns="0" tIns="0" bIns="0" anchor="t">
            <a:spAutoFit/>
          </a:bodyPr>
          <a:lstStyle/>
          <a:p>
            <a:pPr algn="l">
              <a:lnSpc>
                <a:spcPct val="130000"/>
              </a:lnSpc>
            </a:pPr>
            <a:r>
              <a:rPr sz="950" b="0">
                <a:solidFill>
                  <a:srgbClr val="7B908C"/>
                </a:solidFill>
                <a:latin typeface="Segoe UI"/>
              </a:rPr>
              <a:t>Agent orchestration over deterministic engines, a real solver, and a reproducible audit chain.</a:t>
            </a:r>
          </a:p>
        </p:txBody>
      </p:sp>
      <p:sp>
        <p:nvSpPr>
          <p:cNvPr id="76" name="Rectangle 75"/>
          <p:cNvSpPr/>
          <p:nvPr/>
        </p:nvSpPr>
        <p:spPr>
          <a:xfrm>
            <a:off x="8072932" y="4590288"/>
            <a:ext cx="3551834" cy="1097280"/>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072932" y="4590288"/>
            <a:ext cx="27432" cy="1097280"/>
          </a:xfrm>
          <a:prstGeom prst="rect">
            <a:avLst/>
          </a:prstGeom>
          <a:solidFill>
            <a:srgbClr val="A9BC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274100" y="4718304"/>
            <a:ext cx="457200" cy="256032"/>
          </a:xfrm>
          <a:prstGeom prst="rect">
            <a:avLst/>
          </a:prstGeom>
          <a:noFill/>
        </p:spPr>
        <p:txBody>
          <a:bodyPr wrap="square" lIns="0" rIns="0" tIns="0" bIns="0" anchor="t">
            <a:spAutoFit/>
          </a:bodyPr>
          <a:lstStyle/>
          <a:p>
            <a:pPr algn="l">
              <a:lnSpc>
                <a:spcPct val="115000"/>
              </a:lnSpc>
            </a:pPr>
            <a:r>
              <a:rPr sz="1400" b="1">
                <a:solidFill>
                  <a:srgbClr val="A9BCB8"/>
                </a:solidFill>
                <a:latin typeface="Consolas"/>
              </a:rPr>
              <a:t>03</a:t>
            </a:r>
          </a:p>
        </p:txBody>
      </p:sp>
      <p:sp>
        <p:nvSpPr>
          <p:cNvPr id="79" name="TextBox 78"/>
          <p:cNvSpPr txBox="1"/>
          <p:nvPr/>
        </p:nvSpPr>
        <p:spPr>
          <a:xfrm>
            <a:off x="8859316" y="4736592"/>
            <a:ext cx="2545994" cy="219456"/>
          </a:xfrm>
          <a:prstGeom prst="rect">
            <a:avLst/>
          </a:prstGeom>
          <a:noFill/>
        </p:spPr>
        <p:txBody>
          <a:bodyPr wrap="square" lIns="0" rIns="0" tIns="0" bIns="0" anchor="t">
            <a:spAutoFit/>
          </a:bodyPr>
          <a:lstStyle/>
          <a:p>
            <a:pPr algn="l">
              <a:lnSpc>
                <a:spcPct val="115000"/>
              </a:lnSpc>
            </a:pPr>
            <a:r>
              <a:rPr sz="1050" b="1">
                <a:solidFill>
                  <a:srgbClr val="E6EDEB"/>
                </a:solidFill>
                <a:latin typeface="Segoe UI"/>
              </a:rPr>
              <a:t>GIFT CITY RELEVANT</a:t>
            </a:r>
          </a:p>
        </p:txBody>
      </p:sp>
      <p:sp>
        <p:nvSpPr>
          <p:cNvPr id="80" name="TextBox 79"/>
          <p:cNvSpPr txBox="1"/>
          <p:nvPr/>
        </p:nvSpPr>
        <p:spPr>
          <a:xfrm>
            <a:off x="8274100" y="5084064"/>
            <a:ext cx="3131210" cy="512064"/>
          </a:xfrm>
          <a:prstGeom prst="rect">
            <a:avLst/>
          </a:prstGeom>
          <a:noFill/>
        </p:spPr>
        <p:txBody>
          <a:bodyPr wrap="square" lIns="0" rIns="0" tIns="0" bIns="0" anchor="t">
            <a:spAutoFit/>
          </a:bodyPr>
          <a:lstStyle/>
          <a:p>
            <a:pPr algn="l">
              <a:lnSpc>
                <a:spcPct val="130000"/>
              </a:lnSpc>
            </a:pPr>
            <a:r>
              <a:rPr sz="950" b="0">
                <a:solidFill>
                  <a:srgbClr val="7B908C"/>
                </a:solidFill>
                <a:latin typeface="Segoe UI"/>
              </a:rPr>
              <a:t>Cross-border collateral evaluated on delivered economics, FX drag included.</a:t>
            </a:r>
          </a:p>
        </p:txBody>
      </p:sp>
      <p:sp>
        <p:nvSpPr>
          <p:cNvPr id="81" name="Rectangle 80"/>
          <p:cNvSpPr/>
          <p:nvPr/>
        </p:nvSpPr>
        <p:spPr>
          <a:xfrm>
            <a:off x="566928" y="5797296"/>
            <a:ext cx="11057839" cy="457200"/>
          </a:xfrm>
          <a:prstGeom prst="rect">
            <a:avLst/>
          </a:prstGeom>
          <a:solidFill>
            <a:srgbClr val="182321"/>
          </a:solidFill>
          <a:ln w="16510">
            <a:solidFill>
              <a:srgbClr val="4FC3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66928" y="5797296"/>
            <a:ext cx="11057839" cy="457200"/>
          </a:xfrm>
          <a:prstGeom prst="rect">
            <a:avLst/>
          </a:prstGeom>
          <a:noFill/>
        </p:spPr>
        <p:txBody>
          <a:bodyPr wrap="square" lIns="0" rIns="0" tIns="0" bIns="0" anchor="ctr">
            <a:spAutoFit/>
          </a:bodyPr>
          <a:lstStyle/>
          <a:p>
            <a:pPr algn="ctr">
              <a:lnSpc>
                <a:spcPct val="115000"/>
              </a:lnSpc>
            </a:pPr>
            <a:r>
              <a:rPr sz="1500" b="1">
                <a:solidFill>
                  <a:srgbClr val="4FC3AE"/>
                </a:solidFill>
                <a:latin typeface="Cambria"/>
              </a:rPr>
              <a:t>AETHER turns fragmented margin operations into one traceable decision pipeline.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201168"/>
          </a:xfrm>
          <a:prstGeom prst="rect">
            <a:avLst/>
          </a:prstGeom>
          <a:noFill/>
        </p:spPr>
        <p:txBody>
          <a:bodyPr wrap="square" lIns="0" rIns="0" tIns="0" bIns="0" anchor="t">
            <a:spAutoFit/>
          </a:bodyPr>
          <a:lstStyle/>
          <a:p>
            <a:pPr algn="l">
              <a:lnSpc>
                <a:spcPct val="115000"/>
              </a:lnSpc>
            </a:pPr>
            <a:r>
              <a:rPr sz="1050" b="1" spc="220">
                <a:solidFill>
                  <a:srgbClr val="4FC3AE"/>
                </a:solidFill>
                <a:latin typeface="Consolas"/>
              </a:rPr>
              <a:t>WORKING DEMO  ·  LIVE APPLICATION</a:t>
            </a:r>
          </a:p>
        </p:txBody>
      </p:sp>
      <p:sp>
        <p:nvSpPr>
          <p:cNvPr id="4" name="TextBox 3"/>
          <p:cNvSpPr txBox="1"/>
          <p:nvPr/>
        </p:nvSpPr>
        <p:spPr>
          <a:xfrm>
            <a:off x="566928" y="621792"/>
            <a:ext cx="11057839" cy="914400"/>
          </a:xfrm>
          <a:prstGeom prst="rect">
            <a:avLst/>
          </a:prstGeom>
          <a:noFill/>
        </p:spPr>
        <p:txBody>
          <a:bodyPr wrap="square" lIns="0" rIns="0" tIns="0" bIns="0" anchor="t">
            <a:spAutoFit/>
          </a:bodyPr>
          <a:lstStyle/>
          <a:p>
            <a:pPr algn="l">
              <a:lnSpc>
                <a:spcPct val="106000"/>
              </a:lnSpc>
            </a:pPr>
            <a:r>
              <a:rPr sz="2900" b="1">
                <a:solidFill>
                  <a:srgbClr val="E6EDEB"/>
                </a:solidFill>
                <a:latin typeface="Cambria"/>
              </a:rPr>
              <a:t>The calculation, running.</a:t>
            </a:r>
          </a:p>
        </p:txBody>
      </p:sp>
      <p:sp>
        <p:nvSpPr>
          <p:cNvPr id="5" name="Rectangle 4"/>
          <p:cNvSpPr/>
          <p:nvPr/>
        </p:nvSpPr>
        <p:spPr>
          <a:xfrm>
            <a:off x="566928" y="6336792"/>
            <a:ext cx="11057839"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28232"/>
            <a:ext cx="6400800" cy="219456"/>
          </a:xfrm>
          <a:prstGeom prst="rect">
            <a:avLst/>
          </a:prstGeom>
          <a:noFill/>
        </p:spPr>
        <p:txBody>
          <a:bodyPr wrap="square" lIns="0" rIns="0" tIns="0" bIns="0" anchor="t">
            <a:spAutoFit/>
          </a:bodyPr>
          <a:lstStyle/>
          <a:p>
            <a:pPr algn="l">
              <a:lnSpc>
                <a:spcPct val="115000"/>
              </a:lnSpc>
            </a:pPr>
            <a:r>
              <a:rPr sz="850" b="0" spc="200">
                <a:solidFill>
                  <a:srgbClr val="556764"/>
                </a:solidFill>
                <a:latin typeface="Consolas"/>
              </a:rPr>
              <a:t>AETHER-DERIVATIVES</a:t>
            </a:r>
          </a:p>
        </p:txBody>
      </p:sp>
      <p:sp>
        <p:nvSpPr>
          <p:cNvPr id="7" name="TextBox 6"/>
          <p:cNvSpPr txBox="1"/>
          <p:nvPr/>
        </p:nvSpPr>
        <p:spPr>
          <a:xfrm>
            <a:off x="3493008" y="6428232"/>
            <a:ext cx="7498079" cy="219456"/>
          </a:xfrm>
          <a:prstGeom prst="rect">
            <a:avLst/>
          </a:prstGeom>
          <a:noFill/>
        </p:spPr>
        <p:txBody>
          <a:bodyPr wrap="square" lIns="0" rIns="0" tIns="0" bIns="0" anchor="t">
            <a:spAutoFit/>
          </a:bodyPr>
          <a:lstStyle/>
          <a:p>
            <a:pPr algn="r">
              <a:lnSpc>
                <a:spcPct val="115000"/>
              </a:lnSpc>
            </a:pPr>
            <a:r>
              <a:rPr sz="850" b="0">
                <a:solidFill>
                  <a:srgbClr val="556764"/>
                </a:solidFill>
                <a:latin typeface="Consolas"/>
              </a:rPr>
              <a:t>Live screenshots — not mockups</a:t>
            </a:r>
          </a:p>
        </p:txBody>
      </p:sp>
      <p:sp>
        <p:nvSpPr>
          <p:cNvPr id="8" name="TextBox 7"/>
          <p:cNvSpPr txBox="1"/>
          <p:nvPr/>
        </p:nvSpPr>
        <p:spPr>
          <a:xfrm>
            <a:off x="11076127" y="6428232"/>
            <a:ext cx="548640" cy="219456"/>
          </a:xfrm>
          <a:prstGeom prst="rect">
            <a:avLst/>
          </a:prstGeom>
          <a:noFill/>
        </p:spPr>
        <p:txBody>
          <a:bodyPr wrap="square" lIns="0" rIns="0" tIns="0" bIns="0" anchor="t">
            <a:spAutoFit/>
          </a:bodyPr>
          <a:lstStyle/>
          <a:p>
            <a:pPr algn="r">
              <a:lnSpc>
                <a:spcPct val="115000"/>
              </a:lnSpc>
            </a:pPr>
            <a:r>
              <a:rPr sz="850" b="0">
                <a:solidFill>
                  <a:srgbClr val="556764"/>
                </a:solidFill>
                <a:latin typeface="Consolas"/>
              </a:rPr>
              <a:t>12</a:t>
            </a:r>
          </a:p>
        </p:txBody>
      </p:sp>
      <p:sp>
        <p:nvSpPr>
          <p:cNvPr id="9" name="Rectangle 8"/>
          <p:cNvSpPr/>
          <p:nvPr/>
        </p:nvSpPr>
        <p:spPr>
          <a:xfrm>
            <a:off x="566928" y="1444752"/>
            <a:ext cx="11057839" cy="27432"/>
          </a:xfrm>
          <a:prstGeom prst="rect">
            <a:avLst/>
          </a:prstGeom>
          <a:solidFill>
            <a:srgbClr val="2F8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waterfall.png"/>
          <p:cNvPicPr>
            <a:picLocks noChangeAspect="1"/>
          </p:cNvPicPr>
          <p:nvPr/>
        </p:nvPicPr>
        <p:blipFill>
          <a:blip r:embed="rId2"/>
          <a:stretch>
            <a:fillRect/>
          </a:stretch>
        </p:blipFill>
        <p:spPr>
          <a:xfrm>
            <a:off x="566928" y="1883664"/>
            <a:ext cx="5029200" cy="2020464"/>
          </a:xfrm>
          <a:prstGeom prst="rect">
            <a:avLst/>
          </a:prstGeom>
        </p:spPr>
      </p:pic>
      <p:sp>
        <p:nvSpPr>
          <p:cNvPr id="11" name="Rectangle 10"/>
          <p:cNvSpPr/>
          <p:nvPr/>
        </p:nvSpPr>
        <p:spPr>
          <a:xfrm>
            <a:off x="566928" y="1883664"/>
            <a:ext cx="5029200" cy="2020464"/>
          </a:xfrm>
          <a:prstGeom prst="rect">
            <a:avLst/>
          </a:prstGeom>
          <a:noFill/>
          <a:ln w="12700">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48640" y="1591056"/>
            <a:ext cx="274320" cy="274320"/>
          </a:xfrm>
          <a:prstGeom prst="ellipse">
            <a:avLst/>
          </a:prstGeom>
          <a:solidFill>
            <a:srgbClr val="4FC3AE"/>
          </a:solidFill>
          <a:ln w="19050">
            <a:solidFill>
              <a:srgbClr val="0B10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641348"/>
            <a:ext cx="274320" cy="182880"/>
          </a:xfrm>
          <a:prstGeom prst="rect">
            <a:avLst/>
          </a:prstGeom>
          <a:noFill/>
        </p:spPr>
        <p:txBody>
          <a:bodyPr wrap="square" lIns="0" rIns="0" tIns="0" bIns="0" anchor="t">
            <a:spAutoFit/>
          </a:bodyPr>
          <a:lstStyle/>
          <a:p>
            <a:pPr algn="ctr">
              <a:lnSpc>
                <a:spcPct val="115000"/>
              </a:lnSpc>
            </a:pPr>
            <a:r>
              <a:rPr sz="950" b="1">
                <a:solidFill>
                  <a:srgbClr val="0B100F"/>
                </a:solidFill>
                <a:latin typeface="Consolas"/>
              </a:rPr>
              <a:t>01</a:t>
            </a:r>
          </a:p>
        </p:txBody>
      </p:sp>
      <p:sp>
        <p:nvSpPr>
          <p:cNvPr id="14" name="TextBox 13"/>
          <p:cNvSpPr txBox="1"/>
          <p:nvPr/>
        </p:nvSpPr>
        <p:spPr>
          <a:xfrm>
            <a:off x="896112" y="1627632"/>
            <a:ext cx="4663440" cy="219456"/>
          </a:xfrm>
          <a:prstGeom prst="rect">
            <a:avLst/>
          </a:prstGeom>
          <a:noFill/>
        </p:spPr>
        <p:txBody>
          <a:bodyPr wrap="square" lIns="0" rIns="0" tIns="0" bIns="0" anchor="t">
            <a:spAutoFit/>
          </a:bodyPr>
          <a:lstStyle/>
          <a:p>
            <a:pPr algn="l">
              <a:lnSpc>
                <a:spcPct val="115000"/>
              </a:lnSpc>
            </a:pPr>
            <a:r>
              <a:rPr sz="1050" b="1">
                <a:solidFill>
                  <a:srgbClr val="E6EDEB"/>
                </a:solidFill>
                <a:latin typeface="Segoe UI"/>
              </a:rPr>
              <a:t>Margin waterfall</a:t>
            </a:r>
          </a:p>
        </p:txBody>
      </p:sp>
      <p:sp>
        <p:nvSpPr>
          <p:cNvPr id="15" name="TextBox 14"/>
          <p:cNvSpPr txBox="1"/>
          <p:nvPr/>
        </p:nvSpPr>
        <p:spPr>
          <a:xfrm>
            <a:off x="566928" y="3986424"/>
            <a:ext cx="5029200" cy="402336"/>
          </a:xfrm>
          <a:prstGeom prst="rect">
            <a:avLst/>
          </a:prstGeom>
          <a:noFill/>
        </p:spPr>
        <p:txBody>
          <a:bodyPr wrap="square" lIns="0" rIns="0" tIns="0" bIns="0" anchor="t">
            <a:spAutoFit/>
          </a:bodyPr>
          <a:lstStyle/>
          <a:p>
            <a:pPr algn="l">
              <a:lnSpc>
                <a:spcPct val="130000"/>
              </a:lnSpc>
            </a:pPr>
            <a:r>
              <a:rPr sz="850" b="0">
                <a:solidFill>
                  <a:srgbClr val="7B908C"/>
                </a:solidFill>
                <a:latin typeface="Segoe UI"/>
              </a:rPr>
              <a:t>Exposure of (USD 19,469,510.12) less a USD 10m threshold gives a credit support amount of USD 9,469,510.12; the MTA gate and rounding produce USD 9,500,000.00.</a:t>
            </a:r>
          </a:p>
        </p:txBody>
      </p:sp>
      <p:pic>
        <p:nvPicPr>
          <p:cNvPr id="16" name="Picture 15" descr="crossborder.png"/>
          <p:cNvPicPr>
            <a:picLocks noChangeAspect="1"/>
          </p:cNvPicPr>
          <p:nvPr/>
        </p:nvPicPr>
        <p:blipFill>
          <a:blip r:embed="rId3"/>
          <a:stretch>
            <a:fillRect/>
          </a:stretch>
        </p:blipFill>
        <p:spPr>
          <a:xfrm>
            <a:off x="5833872" y="1883664"/>
            <a:ext cx="5806440" cy="1291337"/>
          </a:xfrm>
          <a:prstGeom prst="rect">
            <a:avLst/>
          </a:prstGeom>
        </p:spPr>
      </p:pic>
      <p:sp>
        <p:nvSpPr>
          <p:cNvPr id="17" name="Rectangle 16"/>
          <p:cNvSpPr/>
          <p:nvPr/>
        </p:nvSpPr>
        <p:spPr>
          <a:xfrm>
            <a:off x="5833872" y="1883664"/>
            <a:ext cx="5806440" cy="1291337"/>
          </a:xfrm>
          <a:prstGeom prst="rect">
            <a:avLst/>
          </a:prstGeom>
          <a:noFill/>
          <a:ln w="12700">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815584" y="1591056"/>
            <a:ext cx="274320" cy="274320"/>
          </a:xfrm>
          <a:prstGeom prst="ellipse">
            <a:avLst/>
          </a:prstGeom>
          <a:solidFill>
            <a:srgbClr val="4FC3AE"/>
          </a:solidFill>
          <a:ln w="19050">
            <a:solidFill>
              <a:srgbClr val="0B10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15584" y="1641348"/>
            <a:ext cx="274320" cy="182880"/>
          </a:xfrm>
          <a:prstGeom prst="rect">
            <a:avLst/>
          </a:prstGeom>
          <a:noFill/>
        </p:spPr>
        <p:txBody>
          <a:bodyPr wrap="square" lIns="0" rIns="0" tIns="0" bIns="0" anchor="t">
            <a:spAutoFit/>
          </a:bodyPr>
          <a:lstStyle/>
          <a:p>
            <a:pPr algn="ctr">
              <a:lnSpc>
                <a:spcPct val="115000"/>
              </a:lnSpc>
            </a:pPr>
            <a:r>
              <a:rPr sz="950" b="1">
                <a:solidFill>
                  <a:srgbClr val="0B100F"/>
                </a:solidFill>
                <a:latin typeface="Consolas"/>
              </a:rPr>
              <a:t>03</a:t>
            </a:r>
          </a:p>
        </p:txBody>
      </p:sp>
      <p:sp>
        <p:nvSpPr>
          <p:cNvPr id="20" name="TextBox 19"/>
          <p:cNvSpPr txBox="1"/>
          <p:nvPr/>
        </p:nvSpPr>
        <p:spPr>
          <a:xfrm>
            <a:off x="6163056" y="1627632"/>
            <a:ext cx="5394960" cy="219456"/>
          </a:xfrm>
          <a:prstGeom prst="rect">
            <a:avLst/>
          </a:prstGeom>
          <a:noFill/>
        </p:spPr>
        <p:txBody>
          <a:bodyPr wrap="square" lIns="0" rIns="0" tIns="0" bIns="0" anchor="t">
            <a:spAutoFit/>
          </a:bodyPr>
          <a:lstStyle/>
          <a:p>
            <a:pPr algn="l">
              <a:lnSpc>
                <a:spcPct val="115000"/>
              </a:lnSpc>
            </a:pPr>
            <a:r>
              <a:rPr sz="1050" b="1">
                <a:solidFill>
                  <a:srgbClr val="E6EDEB"/>
                </a:solidFill>
                <a:latin typeface="Segoe UI"/>
              </a:rPr>
              <a:t>Cross-border · IFSC economics</a:t>
            </a:r>
          </a:p>
        </p:txBody>
      </p:sp>
      <p:sp>
        <p:nvSpPr>
          <p:cNvPr id="21" name="TextBox 20"/>
          <p:cNvSpPr txBox="1"/>
          <p:nvPr/>
        </p:nvSpPr>
        <p:spPr>
          <a:xfrm>
            <a:off x="5833872" y="3257297"/>
            <a:ext cx="5806440" cy="402336"/>
          </a:xfrm>
          <a:prstGeom prst="rect">
            <a:avLst/>
          </a:prstGeom>
          <a:noFill/>
        </p:spPr>
        <p:txBody>
          <a:bodyPr wrap="square" lIns="0" rIns="0" tIns="0" bIns="0" anchor="t">
            <a:spAutoFit/>
          </a:bodyPr>
          <a:lstStyle/>
          <a:p>
            <a:pPr algn="l">
              <a:lnSpc>
                <a:spcPct val="130000"/>
              </a:lnSpc>
            </a:pPr>
            <a:r>
              <a:rPr sz="850" b="0">
                <a:solidFill>
                  <a:srgbClr val="7B908C"/>
                </a:solidFill>
                <a:latin typeface="Segoe UI"/>
              </a:rPr>
              <a:t>Every non-USD asset with its paper rank beside its delivered rank, FX drag isolated. The rupee asset is priced at 10.41bp and declined.</a:t>
            </a:r>
          </a:p>
        </p:txBody>
      </p:sp>
      <p:pic>
        <p:nvPicPr>
          <p:cNvPr id="22" name="Picture 21" descr="optimizer.png"/>
          <p:cNvPicPr>
            <a:picLocks noChangeAspect="1"/>
          </p:cNvPicPr>
          <p:nvPr/>
        </p:nvPicPr>
        <p:blipFill>
          <a:blip r:embed="rId4"/>
          <a:stretch>
            <a:fillRect/>
          </a:stretch>
        </p:blipFill>
        <p:spPr>
          <a:xfrm>
            <a:off x="5833872" y="3968496"/>
            <a:ext cx="5806440" cy="1575248"/>
          </a:xfrm>
          <a:prstGeom prst="rect">
            <a:avLst/>
          </a:prstGeom>
        </p:spPr>
      </p:pic>
      <p:sp>
        <p:nvSpPr>
          <p:cNvPr id="23" name="Rectangle 22"/>
          <p:cNvSpPr/>
          <p:nvPr/>
        </p:nvSpPr>
        <p:spPr>
          <a:xfrm>
            <a:off x="5833872" y="3968496"/>
            <a:ext cx="5806440" cy="1575248"/>
          </a:xfrm>
          <a:prstGeom prst="rect">
            <a:avLst/>
          </a:prstGeom>
          <a:noFill/>
          <a:ln w="12700">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15584" y="3675887"/>
            <a:ext cx="274320" cy="274320"/>
          </a:xfrm>
          <a:prstGeom prst="ellipse">
            <a:avLst/>
          </a:prstGeom>
          <a:solidFill>
            <a:srgbClr val="4FC3AE"/>
          </a:solidFill>
          <a:ln w="19050">
            <a:solidFill>
              <a:srgbClr val="0B10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15584" y="3726179"/>
            <a:ext cx="274320" cy="182880"/>
          </a:xfrm>
          <a:prstGeom prst="rect">
            <a:avLst/>
          </a:prstGeom>
          <a:noFill/>
        </p:spPr>
        <p:txBody>
          <a:bodyPr wrap="square" lIns="0" rIns="0" tIns="0" bIns="0" anchor="t">
            <a:spAutoFit/>
          </a:bodyPr>
          <a:lstStyle/>
          <a:p>
            <a:pPr algn="ctr">
              <a:lnSpc>
                <a:spcPct val="115000"/>
              </a:lnSpc>
            </a:pPr>
            <a:r>
              <a:rPr sz="950" b="1">
                <a:solidFill>
                  <a:srgbClr val="0B100F"/>
                </a:solidFill>
                <a:latin typeface="Consolas"/>
              </a:rPr>
              <a:t>02</a:t>
            </a:r>
          </a:p>
        </p:txBody>
      </p:sp>
      <p:sp>
        <p:nvSpPr>
          <p:cNvPr id="26" name="TextBox 25"/>
          <p:cNvSpPr txBox="1"/>
          <p:nvPr/>
        </p:nvSpPr>
        <p:spPr>
          <a:xfrm>
            <a:off x="6163056" y="3712463"/>
            <a:ext cx="5394960" cy="219456"/>
          </a:xfrm>
          <a:prstGeom prst="rect">
            <a:avLst/>
          </a:prstGeom>
          <a:noFill/>
        </p:spPr>
        <p:txBody>
          <a:bodyPr wrap="square" lIns="0" rIns="0" tIns="0" bIns="0" anchor="t">
            <a:spAutoFit/>
          </a:bodyPr>
          <a:lstStyle/>
          <a:p>
            <a:pPr algn="l">
              <a:lnSpc>
                <a:spcPct val="115000"/>
              </a:lnSpc>
            </a:pPr>
            <a:r>
              <a:rPr sz="1050" b="1">
                <a:solidFill>
                  <a:srgbClr val="E6EDEB"/>
                </a:solidFill>
                <a:latin typeface="Segoe UI"/>
              </a:rPr>
              <a:t>Collateral optimisation · cheapest to deliver</a:t>
            </a:r>
          </a:p>
        </p:txBody>
      </p:sp>
      <p:sp>
        <p:nvSpPr>
          <p:cNvPr id="27" name="TextBox 26"/>
          <p:cNvSpPr txBox="1"/>
          <p:nvPr/>
        </p:nvSpPr>
        <p:spPr>
          <a:xfrm>
            <a:off x="5833872" y="5626040"/>
            <a:ext cx="5806440" cy="219456"/>
          </a:xfrm>
          <a:prstGeom prst="rect">
            <a:avLst/>
          </a:prstGeom>
          <a:noFill/>
        </p:spPr>
        <p:txBody>
          <a:bodyPr wrap="square" lIns="0" rIns="0" tIns="0" bIns="0" anchor="t">
            <a:spAutoFit/>
          </a:bodyPr>
          <a:lstStyle/>
          <a:p>
            <a:pPr algn="l">
              <a:lnSpc>
                <a:spcPct val="115000"/>
              </a:lnSpc>
            </a:pPr>
            <a:r>
              <a:rPr sz="850" b="0">
                <a:solidFill>
                  <a:srgbClr val="7B908C"/>
                </a:solidFill>
                <a:latin typeface="Segoe UI"/>
              </a:rPr>
              <a:t>Five assets, ranked by cost per effective unit rather than headline spread.</a:t>
            </a:r>
          </a:p>
        </p:txBody>
      </p:sp>
      <p:sp>
        <p:nvSpPr>
          <p:cNvPr id="28" name="Rectangle 27"/>
          <p:cNvSpPr/>
          <p:nvPr/>
        </p:nvSpPr>
        <p:spPr>
          <a:xfrm>
            <a:off x="566928" y="4535424"/>
            <a:ext cx="5029200" cy="1664208"/>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 y="4663440"/>
            <a:ext cx="2743200" cy="201168"/>
          </a:xfrm>
          <a:prstGeom prst="rect">
            <a:avLst/>
          </a:prstGeom>
          <a:noFill/>
        </p:spPr>
        <p:txBody>
          <a:bodyPr wrap="square" lIns="0" rIns="0" tIns="0" bIns="0" anchor="t">
            <a:spAutoFit/>
          </a:bodyPr>
          <a:lstStyle/>
          <a:p>
            <a:pPr algn="l">
              <a:lnSpc>
                <a:spcPct val="115000"/>
              </a:lnSpc>
            </a:pPr>
            <a:r>
              <a:rPr sz="900" b="0" spc="180">
                <a:solidFill>
                  <a:srgbClr val="556764"/>
                </a:solidFill>
                <a:latin typeface="Consolas"/>
              </a:rPr>
              <a:t>ON THIS RUN</a:t>
            </a:r>
          </a:p>
        </p:txBody>
      </p:sp>
      <p:sp>
        <p:nvSpPr>
          <p:cNvPr id="30" name="TextBox 29"/>
          <p:cNvSpPr txBox="1"/>
          <p:nvPr/>
        </p:nvSpPr>
        <p:spPr>
          <a:xfrm>
            <a:off x="749808" y="4919472"/>
            <a:ext cx="2743200" cy="182880"/>
          </a:xfrm>
          <a:prstGeom prst="rect">
            <a:avLst/>
          </a:prstGeom>
          <a:noFill/>
        </p:spPr>
        <p:txBody>
          <a:bodyPr wrap="square" lIns="0" rIns="0" tIns="0" bIns="0" anchor="t">
            <a:spAutoFit/>
          </a:bodyPr>
          <a:lstStyle/>
          <a:p>
            <a:pPr algn="l">
              <a:lnSpc>
                <a:spcPct val="115000"/>
              </a:lnSpc>
            </a:pPr>
            <a:r>
              <a:rPr sz="850" b="0">
                <a:solidFill>
                  <a:srgbClr val="556764"/>
                </a:solidFill>
                <a:latin typeface="Segoe UI"/>
              </a:rPr>
              <a:t>Cash-first baseline</a:t>
            </a:r>
          </a:p>
        </p:txBody>
      </p:sp>
      <p:sp>
        <p:nvSpPr>
          <p:cNvPr id="31" name="TextBox 30"/>
          <p:cNvSpPr txBox="1"/>
          <p:nvPr/>
        </p:nvSpPr>
        <p:spPr>
          <a:xfrm>
            <a:off x="3493008" y="4919472"/>
            <a:ext cx="1874519" cy="182880"/>
          </a:xfrm>
          <a:prstGeom prst="rect">
            <a:avLst/>
          </a:prstGeom>
          <a:noFill/>
        </p:spPr>
        <p:txBody>
          <a:bodyPr wrap="square" lIns="0" rIns="0" tIns="0" bIns="0" anchor="t">
            <a:spAutoFit/>
          </a:bodyPr>
          <a:lstStyle/>
          <a:p>
            <a:pPr algn="r">
              <a:lnSpc>
                <a:spcPct val="115000"/>
              </a:lnSpc>
            </a:pPr>
            <a:r>
              <a:rPr sz="900" b="1">
                <a:solidFill>
                  <a:srgbClr val="A9BCB8"/>
                </a:solidFill>
                <a:latin typeface="Consolas"/>
              </a:rPr>
              <a:t>USD 23,002.41</a:t>
            </a:r>
          </a:p>
        </p:txBody>
      </p:sp>
      <p:sp>
        <p:nvSpPr>
          <p:cNvPr id="32" name="TextBox 31"/>
          <p:cNvSpPr txBox="1"/>
          <p:nvPr/>
        </p:nvSpPr>
        <p:spPr>
          <a:xfrm>
            <a:off x="749808" y="5166360"/>
            <a:ext cx="2743200" cy="182880"/>
          </a:xfrm>
          <a:prstGeom prst="rect">
            <a:avLst/>
          </a:prstGeom>
          <a:noFill/>
        </p:spPr>
        <p:txBody>
          <a:bodyPr wrap="square" lIns="0" rIns="0" tIns="0" bIns="0" anchor="t">
            <a:spAutoFit/>
          </a:bodyPr>
          <a:lstStyle/>
          <a:p>
            <a:pPr algn="l">
              <a:lnSpc>
                <a:spcPct val="115000"/>
              </a:lnSpc>
            </a:pPr>
            <a:r>
              <a:rPr sz="850" b="0">
                <a:solidFill>
                  <a:srgbClr val="556764"/>
                </a:solidFill>
                <a:latin typeface="Segoe UI"/>
              </a:rPr>
              <a:t>Optimised allocation</a:t>
            </a:r>
          </a:p>
        </p:txBody>
      </p:sp>
      <p:sp>
        <p:nvSpPr>
          <p:cNvPr id="33" name="TextBox 32"/>
          <p:cNvSpPr txBox="1"/>
          <p:nvPr/>
        </p:nvSpPr>
        <p:spPr>
          <a:xfrm>
            <a:off x="3493008" y="5166360"/>
            <a:ext cx="1874519" cy="182880"/>
          </a:xfrm>
          <a:prstGeom prst="rect">
            <a:avLst/>
          </a:prstGeom>
          <a:noFill/>
        </p:spPr>
        <p:txBody>
          <a:bodyPr wrap="square" lIns="0" rIns="0" tIns="0" bIns="0" anchor="t">
            <a:spAutoFit/>
          </a:bodyPr>
          <a:lstStyle/>
          <a:p>
            <a:pPr algn="r">
              <a:lnSpc>
                <a:spcPct val="115000"/>
              </a:lnSpc>
            </a:pPr>
            <a:r>
              <a:rPr sz="900" b="1">
                <a:solidFill>
                  <a:srgbClr val="4FC3AE"/>
                </a:solidFill>
                <a:latin typeface="Consolas"/>
              </a:rPr>
              <a:t>USD 5,496.52</a:t>
            </a:r>
          </a:p>
        </p:txBody>
      </p:sp>
      <p:sp>
        <p:nvSpPr>
          <p:cNvPr id="34" name="TextBox 33"/>
          <p:cNvSpPr txBox="1"/>
          <p:nvPr/>
        </p:nvSpPr>
        <p:spPr>
          <a:xfrm>
            <a:off x="749808" y="5413248"/>
            <a:ext cx="2743200" cy="182880"/>
          </a:xfrm>
          <a:prstGeom prst="rect">
            <a:avLst/>
          </a:prstGeom>
          <a:noFill/>
        </p:spPr>
        <p:txBody>
          <a:bodyPr wrap="square" lIns="0" rIns="0" tIns="0" bIns="0" anchor="t">
            <a:spAutoFit/>
          </a:bodyPr>
          <a:lstStyle/>
          <a:p>
            <a:pPr algn="l">
              <a:lnSpc>
                <a:spcPct val="115000"/>
              </a:lnSpc>
            </a:pPr>
            <a:r>
              <a:rPr sz="850" b="0">
                <a:solidFill>
                  <a:srgbClr val="556764"/>
                </a:solidFill>
                <a:latin typeface="Segoe UI"/>
              </a:rPr>
              <a:t>Modelled reduction</a:t>
            </a:r>
          </a:p>
        </p:txBody>
      </p:sp>
      <p:sp>
        <p:nvSpPr>
          <p:cNvPr id="35" name="TextBox 34"/>
          <p:cNvSpPr txBox="1"/>
          <p:nvPr/>
        </p:nvSpPr>
        <p:spPr>
          <a:xfrm>
            <a:off x="3493008" y="5413248"/>
            <a:ext cx="1874519" cy="182880"/>
          </a:xfrm>
          <a:prstGeom prst="rect">
            <a:avLst/>
          </a:prstGeom>
          <a:noFill/>
        </p:spPr>
        <p:txBody>
          <a:bodyPr wrap="square" lIns="0" rIns="0" tIns="0" bIns="0" anchor="t">
            <a:spAutoFit/>
          </a:bodyPr>
          <a:lstStyle/>
          <a:p>
            <a:pPr algn="r">
              <a:lnSpc>
                <a:spcPct val="115000"/>
              </a:lnSpc>
            </a:pPr>
            <a:r>
              <a:rPr sz="900" b="1">
                <a:solidFill>
                  <a:srgbClr val="4FC3AE"/>
                </a:solidFill>
                <a:latin typeface="Consolas"/>
              </a:rPr>
              <a:t>76.10%</a:t>
            </a:r>
          </a:p>
        </p:txBody>
      </p:sp>
      <p:sp>
        <p:nvSpPr>
          <p:cNvPr id="36" name="TextBox 35"/>
          <p:cNvSpPr txBox="1"/>
          <p:nvPr/>
        </p:nvSpPr>
        <p:spPr>
          <a:xfrm>
            <a:off x="749808" y="5660136"/>
            <a:ext cx="2743200" cy="182880"/>
          </a:xfrm>
          <a:prstGeom prst="rect">
            <a:avLst/>
          </a:prstGeom>
          <a:noFill/>
        </p:spPr>
        <p:txBody>
          <a:bodyPr wrap="square" lIns="0" rIns="0" tIns="0" bIns="0" anchor="t">
            <a:spAutoFit/>
          </a:bodyPr>
          <a:lstStyle/>
          <a:p>
            <a:pPr algn="l">
              <a:lnSpc>
                <a:spcPct val="115000"/>
              </a:lnSpc>
            </a:pPr>
            <a:r>
              <a:rPr sz="850" b="0">
                <a:solidFill>
                  <a:srgbClr val="556764"/>
                </a:solidFill>
                <a:latin typeface="Segoe UI"/>
              </a:rPr>
              <a:t>Binding constraints priced</a:t>
            </a:r>
          </a:p>
        </p:txBody>
      </p:sp>
      <p:sp>
        <p:nvSpPr>
          <p:cNvPr id="37" name="TextBox 36"/>
          <p:cNvSpPr txBox="1"/>
          <p:nvPr/>
        </p:nvSpPr>
        <p:spPr>
          <a:xfrm>
            <a:off x="3493008" y="5660136"/>
            <a:ext cx="1874519" cy="182880"/>
          </a:xfrm>
          <a:prstGeom prst="rect">
            <a:avLst/>
          </a:prstGeom>
          <a:noFill/>
        </p:spPr>
        <p:txBody>
          <a:bodyPr wrap="square" lIns="0" rIns="0" tIns="0" bIns="0" anchor="t">
            <a:spAutoFit/>
          </a:bodyPr>
          <a:lstStyle/>
          <a:p>
            <a:pPr algn="r">
              <a:lnSpc>
                <a:spcPct val="115000"/>
              </a:lnSpc>
            </a:pPr>
            <a:r>
              <a:rPr sz="900" b="1">
                <a:solidFill>
                  <a:srgbClr val="A9BCB8"/>
                </a:solidFill>
                <a:latin typeface="Consolas"/>
              </a:rPr>
              <a:t>4</a:t>
            </a:r>
          </a:p>
        </p:txBody>
      </p:sp>
      <p:sp>
        <p:nvSpPr>
          <p:cNvPr id="38" name="TextBox 37"/>
          <p:cNvSpPr txBox="1"/>
          <p:nvPr/>
        </p:nvSpPr>
        <p:spPr>
          <a:xfrm>
            <a:off x="749808" y="5907023"/>
            <a:ext cx="2743200" cy="182880"/>
          </a:xfrm>
          <a:prstGeom prst="rect">
            <a:avLst/>
          </a:prstGeom>
          <a:noFill/>
        </p:spPr>
        <p:txBody>
          <a:bodyPr wrap="square" lIns="0" rIns="0" tIns="0" bIns="0" anchor="t">
            <a:spAutoFit/>
          </a:bodyPr>
          <a:lstStyle/>
          <a:p>
            <a:pPr algn="l">
              <a:lnSpc>
                <a:spcPct val="115000"/>
              </a:lnSpc>
            </a:pPr>
            <a:r>
              <a:rPr sz="850" b="0">
                <a:solidFill>
                  <a:srgbClr val="556764"/>
                </a:solidFill>
                <a:latin typeface="Segoe UI"/>
              </a:rPr>
              <a:t>Wrong-way asset</a:t>
            </a:r>
          </a:p>
        </p:txBody>
      </p:sp>
      <p:sp>
        <p:nvSpPr>
          <p:cNvPr id="39" name="TextBox 38"/>
          <p:cNvSpPr txBox="1"/>
          <p:nvPr/>
        </p:nvSpPr>
        <p:spPr>
          <a:xfrm>
            <a:off x="3493008" y="5907023"/>
            <a:ext cx="1874519" cy="182880"/>
          </a:xfrm>
          <a:prstGeom prst="rect">
            <a:avLst/>
          </a:prstGeom>
          <a:noFill/>
        </p:spPr>
        <p:txBody>
          <a:bodyPr wrap="square" lIns="0" rIns="0" tIns="0" bIns="0" anchor="t">
            <a:spAutoFit/>
          </a:bodyPr>
          <a:lstStyle/>
          <a:p>
            <a:pPr algn="r">
              <a:lnSpc>
                <a:spcPct val="115000"/>
              </a:lnSpc>
            </a:pPr>
            <a:r>
              <a:rPr sz="900" b="1">
                <a:solidFill>
                  <a:srgbClr val="E2687F"/>
                </a:solidFill>
                <a:latin typeface="Consolas"/>
              </a:rPr>
              <a:t>refused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57839" cy="201168"/>
          </a:xfrm>
          <a:prstGeom prst="rect">
            <a:avLst/>
          </a:prstGeom>
          <a:noFill/>
        </p:spPr>
        <p:txBody>
          <a:bodyPr wrap="square" lIns="0" rIns="0" tIns="0" bIns="0" anchor="t">
            <a:spAutoFit/>
          </a:bodyPr>
          <a:lstStyle/>
          <a:p>
            <a:pPr algn="l">
              <a:lnSpc>
                <a:spcPct val="115000"/>
              </a:lnSpc>
            </a:pPr>
            <a:r>
              <a:rPr sz="1050" b="1" spc="220">
                <a:solidFill>
                  <a:srgbClr val="4FC3AE"/>
                </a:solidFill>
                <a:latin typeface="Consolas"/>
              </a:rPr>
              <a:t>WORKING DEMO  ·  LIVE APPLICATION</a:t>
            </a:r>
          </a:p>
        </p:txBody>
      </p:sp>
      <p:sp>
        <p:nvSpPr>
          <p:cNvPr id="4" name="TextBox 3"/>
          <p:cNvSpPr txBox="1"/>
          <p:nvPr/>
        </p:nvSpPr>
        <p:spPr>
          <a:xfrm>
            <a:off x="566928" y="621792"/>
            <a:ext cx="11057839" cy="914400"/>
          </a:xfrm>
          <a:prstGeom prst="rect">
            <a:avLst/>
          </a:prstGeom>
          <a:noFill/>
        </p:spPr>
        <p:txBody>
          <a:bodyPr wrap="square" lIns="0" rIns="0" tIns="0" bIns="0" anchor="t">
            <a:spAutoFit/>
          </a:bodyPr>
          <a:lstStyle/>
          <a:p>
            <a:pPr algn="l">
              <a:lnSpc>
                <a:spcPct val="106000"/>
              </a:lnSpc>
            </a:pPr>
            <a:r>
              <a:rPr sz="2900" b="1">
                <a:solidFill>
                  <a:srgbClr val="E6EDEB"/>
                </a:solidFill>
                <a:latin typeface="Cambria"/>
              </a:rPr>
              <a:t>The governance, running.</a:t>
            </a:r>
          </a:p>
        </p:txBody>
      </p:sp>
      <p:sp>
        <p:nvSpPr>
          <p:cNvPr id="5" name="Rectangle 4"/>
          <p:cNvSpPr/>
          <p:nvPr/>
        </p:nvSpPr>
        <p:spPr>
          <a:xfrm>
            <a:off x="566928" y="6336792"/>
            <a:ext cx="11057839" cy="7315"/>
          </a:xfrm>
          <a:prstGeom prst="rect">
            <a:avLst/>
          </a:prstGeom>
          <a:solidFill>
            <a:srgbClr val="26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28232"/>
            <a:ext cx="6400800" cy="219456"/>
          </a:xfrm>
          <a:prstGeom prst="rect">
            <a:avLst/>
          </a:prstGeom>
          <a:noFill/>
        </p:spPr>
        <p:txBody>
          <a:bodyPr wrap="square" lIns="0" rIns="0" tIns="0" bIns="0" anchor="t">
            <a:spAutoFit/>
          </a:bodyPr>
          <a:lstStyle/>
          <a:p>
            <a:pPr algn="l">
              <a:lnSpc>
                <a:spcPct val="115000"/>
              </a:lnSpc>
            </a:pPr>
            <a:r>
              <a:rPr sz="850" b="0" spc="200">
                <a:solidFill>
                  <a:srgbClr val="556764"/>
                </a:solidFill>
                <a:latin typeface="Consolas"/>
              </a:rPr>
              <a:t>AETHER-DERIVATIVES</a:t>
            </a:r>
          </a:p>
        </p:txBody>
      </p:sp>
      <p:sp>
        <p:nvSpPr>
          <p:cNvPr id="7" name="TextBox 6"/>
          <p:cNvSpPr txBox="1"/>
          <p:nvPr/>
        </p:nvSpPr>
        <p:spPr>
          <a:xfrm>
            <a:off x="3493008" y="6428232"/>
            <a:ext cx="7498079" cy="219456"/>
          </a:xfrm>
          <a:prstGeom prst="rect">
            <a:avLst/>
          </a:prstGeom>
          <a:noFill/>
        </p:spPr>
        <p:txBody>
          <a:bodyPr wrap="square" lIns="0" rIns="0" tIns="0" bIns="0" anchor="t">
            <a:spAutoFit/>
          </a:bodyPr>
          <a:lstStyle/>
          <a:p>
            <a:pPr algn="r">
              <a:lnSpc>
                <a:spcPct val="115000"/>
              </a:lnSpc>
            </a:pPr>
            <a:r>
              <a:rPr sz="850" b="0">
                <a:solidFill>
                  <a:srgbClr val="556764"/>
                </a:solidFill>
                <a:latin typeface="Consolas"/>
              </a:rPr>
              <a:t>Live screenshots — not mockups</a:t>
            </a:r>
          </a:p>
        </p:txBody>
      </p:sp>
      <p:sp>
        <p:nvSpPr>
          <p:cNvPr id="8" name="TextBox 7"/>
          <p:cNvSpPr txBox="1"/>
          <p:nvPr/>
        </p:nvSpPr>
        <p:spPr>
          <a:xfrm>
            <a:off x="11076127" y="6428232"/>
            <a:ext cx="548640" cy="219456"/>
          </a:xfrm>
          <a:prstGeom prst="rect">
            <a:avLst/>
          </a:prstGeom>
          <a:noFill/>
        </p:spPr>
        <p:txBody>
          <a:bodyPr wrap="square" lIns="0" rIns="0" tIns="0" bIns="0" anchor="t">
            <a:spAutoFit/>
          </a:bodyPr>
          <a:lstStyle/>
          <a:p>
            <a:pPr algn="r">
              <a:lnSpc>
                <a:spcPct val="115000"/>
              </a:lnSpc>
            </a:pPr>
            <a:r>
              <a:rPr sz="850" b="0">
                <a:solidFill>
                  <a:srgbClr val="556764"/>
                </a:solidFill>
                <a:latin typeface="Consolas"/>
              </a:rPr>
              <a:t>13</a:t>
            </a:r>
          </a:p>
        </p:txBody>
      </p:sp>
      <p:sp>
        <p:nvSpPr>
          <p:cNvPr id="9" name="Rectangle 8"/>
          <p:cNvSpPr/>
          <p:nvPr/>
        </p:nvSpPr>
        <p:spPr>
          <a:xfrm>
            <a:off x="566928" y="1444752"/>
            <a:ext cx="11057839" cy="27432"/>
          </a:xfrm>
          <a:prstGeom prst="rect">
            <a:avLst/>
          </a:prstGeom>
          <a:solidFill>
            <a:srgbClr val="2F8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review_gate.png"/>
          <p:cNvPicPr>
            <a:picLocks noChangeAspect="1"/>
          </p:cNvPicPr>
          <p:nvPr/>
        </p:nvPicPr>
        <p:blipFill>
          <a:blip r:embed="rId2"/>
          <a:stretch>
            <a:fillRect/>
          </a:stretch>
        </p:blipFill>
        <p:spPr>
          <a:xfrm>
            <a:off x="566928" y="1792224"/>
            <a:ext cx="8778240" cy="1732547"/>
          </a:xfrm>
          <a:prstGeom prst="rect">
            <a:avLst/>
          </a:prstGeom>
        </p:spPr>
      </p:pic>
      <p:sp>
        <p:nvSpPr>
          <p:cNvPr id="11" name="Rectangle 10"/>
          <p:cNvSpPr/>
          <p:nvPr/>
        </p:nvSpPr>
        <p:spPr>
          <a:xfrm>
            <a:off x="566928" y="1792224"/>
            <a:ext cx="8778240" cy="1732547"/>
          </a:xfrm>
          <a:prstGeom prst="rect">
            <a:avLst/>
          </a:prstGeom>
          <a:noFill/>
          <a:ln w="12700">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48640" y="1499616"/>
            <a:ext cx="274320" cy="274320"/>
          </a:xfrm>
          <a:prstGeom prst="ellipse">
            <a:avLst/>
          </a:prstGeom>
          <a:solidFill>
            <a:srgbClr val="4FC3AE"/>
          </a:solidFill>
          <a:ln w="19050">
            <a:solidFill>
              <a:srgbClr val="0B10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549907"/>
            <a:ext cx="274320" cy="182880"/>
          </a:xfrm>
          <a:prstGeom prst="rect">
            <a:avLst/>
          </a:prstGeom>
          <a:noFill/>
        </p:spPr>
        <p:txBody>
          <a:bodyPr wrap="square" lIns="0" rIns="0" tIns="0" bIns="0" anchor="t">
            <a:spAutoFit/>
          </a:bodyPr>
          <a:lstStyle/>
          <a:p>
            <a:pPr algn="ctr">
              <a:lnSpc>
                <a:spcPct val="115000"/>
              </a:lnSpc>
            </a:pPr>
            <a:r>
              <a:rPr sz="950" b="1">
                <a:solidFill>
                  <a:srgbClr val="0B100F"/>
                </a:solidFill>
                <a:latin typeface="Consolas"/>
              </a:rPr>
              <a:t>04</a:t>
            </a:r>
          </a:p>
        </p:txBody>
      </p:sp>
      <p:sp>
        <p:nvSpPr>
          <p:cNvPr id="14" name="TextBox 13"/>
          <p:cNvSpPr txBox="1"/>
          <p:nvPr/>
        </p:nvSpPr>
        <p:spPr>
          <a:xfrm>
            <a:off x="896112" y="1536192"/>
            <a:ext cx="8229600" cy="219456"/>
          </a:xfrm>
          <a:prstGeom prst="rect">
            <a:avLst/>
          </a:prstGeom>
          <a:noFill/>
        </p:spPr>
        <p:txBody>
          <a:bodyPr wrap="square" lIns="0" rIns="0" tIns="0" bIns="0" anchor="t">
            <a:spAutoFit/>
          </a:bodyPr>
          <a:lstStyle/>
          <a:p>
            <a:pPr algn="l">
              <a:lnSpc>
                <a:spcPct val="115000"/>
              </a:lnSpc>
            </a:pPr>
            <a:r>
              <a:rPr sz="1050" b="1">
                <a:solidFill>
                  <a:srgbClr val="E6EDEB"/>
                </a:solidFill>
                <a:latin typeface="Segoe UI"/>
              </a:rPr>
              <a:t>Human confirmation gate · the pipeline stops</a:t>
            </a:r>
          </a:p>
        </p:txBody>
      </p:sp>
      <p:sp>
        <p:nvSpPr>
          <p:cNvPr id="15" name="Rectangle 14"/>
          <p:cNvSpPr/>
          <p:nvPr/>
        </p:nvSpPr>
        <p:spPr>
          <a:xfrm>
            <a:off x="9528048" y="1792224"/>
            <a:ext cx="2112264" cy="1732547"/>
          </a:xfrm>
          <a:prstGeom prst="rect">
            <a:avLst/>
          </a:prstGeom>
          <a:solidFill>
            <a:srgbClr val="121A19"/>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0" y="1901952"/>
            <a:ext cx="1828800" cy="182880"/>
          </a:xfrm>
          <a:prstGeom prst="rect">
            <a:avLst/>
          </a:prstGeom>
          <a:noFill/>
        </p:spPr>
        <p:txBody>
          <a:bodyPr wrap="square" lIns="0" rIns="0" tIns="0" bIns="0" anchor="t">
            <a:spAutoFit/>
          </a:bodyPr>
          <a:lstStyle/>
          <a:p>
            <a:pPr algn="l">
              <a:lnSpc>
                <a:spcPct val="115000"/>
              </a:lnSpc>
            </a:pPr>
            <a:r>
              <a:rPr sz="800" b="0" spc="140">
                <a:solidFill>
                  <a:srgbClr val="556764"/>
                </a:solidFill>
                <a:latin typeface="Consolas"/>
              </a:rPr>
              <a:t>FLAGGED FIELD</a:t>
            </a:r>
          </a:p>
        </p:txBody>
      </p:sp>
      <p:sp>
        <p:nvSpPr>
          <p:cNvPr id="17" name="TextBox 16"/>
          <p:cNvSpPr txBox="1"/>
          <p:nvPr/>
        </p:nvSpPr>
        <p:spPr>
          <a:xfrm>
            <a:off x="9692640" y="2066543"/>
            <a:ext cx="1828800" cy="182880"/>
          </a:xfrm>
          <a:prstGeom prst="rect">
            <a:avLst/>
          </a:prstGeom>
          <a:noFill/>
        </p:spPr>
        <p:txBody>
          <a:bodyPr wrap="square" lIns="0" rIns="0" tIns="0" bIns="0" anchor="t">
            <a:spAutoFit/>
          </a:bodyPr>
          <a:lstStyle/>
          <a:p>
            <a:pPr algn="l">
              <a:lnSpc>
                <a:spcPct val="115000"/>
              </a:lnSpc>
            </a:pPr>
            <a:r>
              <a:rPr sz="850" b="0">
                <a:solidFill>
                  <a:srgbClr val="A9BCB8"/>
                </a:solidFill>
                <a:latin typeface="Consolas"/>
              </a:rPr>
              <a:t>threshold.party_b</a:t>
            </a:r>
          </a:p>
        </p:txBody>
      </p:sp>
      <p:sp>
        <p:nvSpPr>
          <p:cNvPr id="18" name="TextBox 17"/>
          <p:cNvSpPr txBox="1"/>
          <p:nvPr/>
        </p:nvSpPr>
        <p:spPr>
          <a:xfrm>
            <a:off x="9692640" y="2322576"/>
            <a:ext cx="1828800" cy="182880"/>
          </a:xfrm>
          <a:prstGeom prst="rect">
            <a:avLst/>
          </a:prstGeom>
          <a:noFill/>
        </p:spPr>
        <p:txBody>
          <a:bodyPr wrap="square" lIns="0" rIns="0" tIns="0" bIns="0" anchor="t">
            <a:spAutoFit/>
          </a:bodyPr>
          <a:lstStyle/>
          <a:p>
            <a:pPr algn="l">
              <a:lnSpc>
                <a:spcPct val="115000"/>
              </a:lnSpc>
            </a:pPr>
            <a:r>
              <a:rPr sz="800" b="0" spc="140">
                <a:solidFill>
                  <a:srgbClr val="556764"/>
                </a:solidFill>
                <a:latin typeface="Consolas"/>
              </a:rPr>
              <a:t>CONFIDENCE</a:t>
            </a:r>
          </a:p>
        </p:txBody>
      </p:sp>
      <p:sp>
        <p:nvSpPr>
          <p:cNvPr id="19" name="TextBox 18"/>
          <p:cNvSpPr txBox="1"/>
          <p:nvPr/>
        </p:nvSpPr>
        <p:spPr>
          <a:xfrm>
            <a:off x="9692640" y="2487168"/>
            <a:ext cx="1188720" cy="237744"/>
          </a:xfrm>
          <a:prstGeom prst="rect">
            <a:avLst/>
          </a:prstGeom>
          <a:noFill/>
        </p:spPr>
        <p:txBody>
          <a:bodyPr wrap="square" lIns="0" rIns="0" tIns="0" bIns="0" anchor="t">
            <a:spAutoFit/>
          </a:bodyPr>
          <a:lstStyle/>
          <a:p>
            <a:pPr algn="l">
              <a:lnSpc>
                <a:spcPct val="115000"/>
              </a:lnSpc>
            </a:pPr>
            <a:r>
              <a:rPr sz="1600" b="1">
                <a:solidFill>
                  <a:srgbClr val="E0A33C"/>
                </a:solidFill>
                <a:latin typeface="Consolas"/>
              </a:rPr>
              <a:t>0.52</a:t>
            </a:r>
          </a:p>
        </p:txBody>
      </p:sp>
      <p:sp>
        <p:nvSpPr>
          <p:cNvPr id="20" name="TextBox 19"/>
          <p:cNvSpPr txBox="1"/>
          <p:nvPr/>
        </p:nvSpPr>
        <p:spPr>
          <a:xfrm>
            <a:off x="10533888" y="2542032"/>
            <a:ext cx="1005840" cy="219456"/>
          </a:xfrm>
          <a:prstGeom prst="rect">
            <a:avLst/>
          </a:prstGeom>
          <a:noFill/>
        </p:spPr>
        <p:txBody>
          <a:bodyPr wrap="square" lIns="0" rIns="0" tIns="0" bIns="0" anchor="t">
            <a:spAutoFit/>
          </a:bodyPr>
          <a:lstStyle/>
          <a:p>
            <a:pPr algn="l">
              <a:lnSpc>
                <a:spcPct val="115000"/>
              </a:lnSpc>
            </a:pPr>
            <a:r>
              <a:rPr sz="750" b="0">
                <a:solidFill>
                  <a:srgbClr val="556764"/>
                </a:solidFill>
                <a:latin typeface="Segoe UI"/>
              </a:rPr>
              <a:t>below the</a:t>
            </a:r>
          </a:p>
          <a:p>
            <a:pPr algn="l">
              <a:lnSpc>
                <a:spcPct val="115000"/>
              </a:lnSpc>
            </a:pPr>
            <a:r>
              <a:rPr sz="750" b="0">
                <a:solidFill>
                  <a:srgbClr val="556764"/>
                </a:solidFill>
                <a:latin typeface="Segoe UI"/>
              </a:rPr>
              <a:t>0.85 gate</a:t>
            </a:r>
          </a:p>
        </p:txBody>
      </p:sp>
      <p:sp>
        <p:nvSpPr>
          <p:cNvPr id="21" name="TextBox 20"/>
          <p:cNvSpPr txBox="1"/>
          <p:nvPr/>
        </p:nvSpPr>
        <p:spPr>
          <a:xfrm>
            <a:off x="9692640" y="2907792"/>
            <a:ext cx="1828800" cy="182880"/>
          </a:xfrm>
          <a:prstGeom prst="rect">
            <a:avLst/>
          </a:prstGeom>
          <a:noFill/>
        </p:spPr>
        <p:txBody>
          <a:bodyPr wrap="square" lIns="0" rIns="0" tIns="0" bIns="0" anchor="t">
            <a:spAutoFit/>
          </a:bodyPr>
          <a:lstStyle/>
          <a:p>
            <a:pPr algn="l">
              <a:lnSpc>
                <a:spcPct val="115000"/>
              </a:lnSpc>
            </a:pPr>
            <a:r>
              <a:rPr sz="800" b="0" spc="140">
                <a:solidFill>
                  <a:srgbClr val="556764"/>
                </a:solidFill>
                <a:latin typeface="Consolas"/>
              </a:rPr>
              <a:t>FREEZE</a:t>
            </a:r>
          </a:p>
        </p:txBody>
      </p:sp>
      <p:sp>
        <p:nvSpPr>
          <p:cNvPr id="22" name="TextBox 21"/>
          <p:cNvSpPr txBox="1"/>
          <p:nvPr/>
        </p:nvSpPr>
        <p:spPr>
          <a:xfrm>
            <a:off x="9692640" y="3072384"/>
            <a:ext cx="1828800" cy="219456"/>
          </a:xfrm>
          <a:prstGeom prst="rect">
            <a:avLst/>
          </a:prstGeom>
          <a:noFill/>
        </p:spPr>
        <p:txBody>
          <a:bodyPr wrap="square" lIns="0" rIns="0" tIns="0" bIns="0" anchor="t">
            <a:spAutoFit/>
          </a:bodyPr>
          <a:lstStyle/>
          <a:p>
            <a:pPr algn="l">
              <a:lnSpc>
                <a:spcPct val="115000"/>
              </a:lnSpc>
            </a:pPr>
            <a:r>
              <a:rPr sz="1100" b="1">
                <a:solidFill>
                  <a:srgbClr val="E2687F"/>
                </a:solidFill>
                <a:latin typeface="Consolas"/>
              </a:rPr>
              <a:t>HTTP 409</a:t>
            </a:r>
          </a:p>
        </p:txBody>
      </p:sp>
      <p:sp>
        <p:nvSpPr>
          <p:cNvPr id="23" name="TextBox 22"/>
          <p:cNvSpPr txBox="1"/>
          <p:nvPr/>
        </p:nvSpPr>
        <p:spPr>
          <a:xfrm>
            <a:off x="566928" y="3607067"/>
            <a:ext cx="11055096" cy="237744"/>
          </a:xfrm>
          <a:prstGeom prst="rect">
            <a:avLst/>
          </a:prstGeom>
          <a:noFill/>
        </p:spPr>
        <p:txBody>
          <a:bodyPr wrap="square" lIns="0" rIns="0" tIns="0" bIns="0" anchor="t">
            <a:spAutoFit/>
          </a:bodyPr>
          <a:lstStyle/>
          <a:p>
            <a:pPr algn="l">
              <a:lnSpc>
                <a:spcPct val="130000"/>
              </a:lnSpc>
            </a:pPr>
            <a:r>
              <a:rPr sz="850" b="0">
                <a:solidFill>
                  <a:srgbClr val="7B908C"/>
                </a:solidFill>
                <a:latin typeface="Segoe UI"/>
              </a:rPr>
              <a:t>A conditional clause: the threshold is stated, then qualified by a ratings trigger the document cannot resolve. The agent does not guess — it flags the field, and the server refuses to freeze the agreement until a human decides.</a:t>
            </a:r>
          </a:p>
        </p:txBody>
      </p:sp>
      <p:pic>
        <p:nvPicPr>
          <p:cNvPr id="24" name="Picture 23" descr="agents.png"/>
          <p:cNvPicPr>
            <a:picLocks noChangeAspect="1"/>
          </p:cNvPicPr>
          <p:nvPr/>
        </p:nvPicPr>
        <p:blipFill>
          <a:blip r:embed="rId3"/>
          <a:stretch>
            <a:fillRect/>
          </a:stretch>
        </p:blipFill>
        <p:spPr>
          <a:xfrm>
            <a:off x="566928" y="4206240"/>
            <a:ext cx="5349240" cy="1788704"/>
          </a:xfrm>
          <a:prstGeom prst="rect">
            <a:avLst/>
          </a:prstGeom>
        </p:spPr>
      </p:pic>
      <p:sp>
        <p:nvSpPr>
          <p:cNvPr id="25" name="Rectangle 24"/>
          <p:cNvSpPr/>
          <p:nvPr/>
        </p:nvSpPr>
        <p:spPr>
          <a:xfrm>
            <a:off x="566928" y="4206240"/>
            <a:ext cx="5349240" cy="1788704"/>
          </a:xfrm>
          <a:prstGeom prst="rect">
            <a:avLst/>
          </a:prstGeom>
          <a:noFill/>
          <a:ln w="12700">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48640" y="3931920"/>
            <a:ext cx="274320" cy="274320"/>
          </a:xfrm>
          <a:prstGeom prst="ellipse">
            <a:avLst/>
          </a:prstGeom>
          <a:solidFill>
            <a:srgbClr val="4FC3AE"/>
          </a:solidFill>
          <a:ln w="19050">
            <a:solidFill>
              <a:srgbClr val="0B10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3982211"/>
            <a:ext cx="274320" cy="182880"/>
          </a:xfrm>
          <a:prstGeom prst="rect">
            <a:avLst/>
          </a:prstGeom>
          <a:noFill/>
        </p:spPr>
        <p:txBody>
          <a:bodyPr wrap="square" lIns="0" rIns="0" tIns="0" bIns="0" anchor="t">
            <a:spAutoFit/>
          </a:bodyPr>
          <a:lstStyle/>
          <a:p>
            <a:pPr algn="ctr">
              <a:lnSpc>
                <a:spcPct val="115000"/>
              </a:lnSpc>
            </a:pPr>
            <a:r>
              <a:rPr sz="950" b="1">
                <a:solidFill>
                  <a:srgbClr val="0B100F"/>
                </a:solidFill>
                <a:latin typeface="Consolas"/>
              </a:rPr>
              <a:t>05</a:t>
            </a:r>
          </a:p>
        </p:txBody>
      </p:sp>
      <p:sp>
        <p:nvSpPr>
          <p:cNvPr id="28" name="TextBox 27"/>
          <p:cNvSpPr txBox="1"/>
          <p:nvPr/>
        </p:nvSpPr>
        <p:spPr>
          <a:xfrm>
            <a:off x="896112" y="3968496"/>
            <a:ext cx="5120640" cy="219456"/>
          </a:xfrm>
          <a:prstGeom prst="rect">
            <a:avLst/>
          </a:prstGeom>
          <a:noFill/>
        </p:spPr>
        <p:txBody>
          <a:bodyPr wrap="square" lIns="0" rIns="0" tIns="0" bIns="0" anchor="t">
            <a:spAutoFit/>
          </a:bodyPr>
          <a:lstStyle/>
          <a:p>
            <a:pPr algn="l">
              <a:lnSpc>
                <a:spcPct val="115000"/>
              </a:lnSpc>
            </a:pPr>
            <a:r>
              <a:rPr sz="1050" b="1">
                <a:solidFill>
                  <a:srgbClr val="E6EDEB"/>
                </a:solidFill>
                <a:latin typeface="Segoe UI"/>
              </a:rPr>
              <a:t>Agent swarm · the tool boundary</a:t>
            </a:r>
          </a:p>
        </p:txBody>
      </p:sp>
      <p:sp>
        <p:nvSpPr>
          <p:cNvPr id="29" name="TextBox 28"/>
          <p:cNvSpPr txBox="1"/>
          <p:nvPr/>
        </p:nvSpPr>
        <p:spPr>
          <a:xfrm>
            <a:off x="566928" y="6068096"/>
            <a:ext cx="5349240" cy="237744"/>
          </a:xfrm>
          <a:prstGeom prst="rect">
            <a:avLst/>
          </a:prstGeom>
          <a:noFill/>
        </p:spPr>
        <p:txBody>
          <a:bodyPr wrap="square" lIns="0" rIns="0" tIns="0" bIns="0" anchor="t">
            <a:spAutoFit/>
          </a:bodyPr>
          <a:lstStyle/>
          <a:p>
            <a:pPr algn="l">
              <a:lnSpc>
                <a:spcPct val="115000"/>
              </a:lnSpc>
            </a:pPr>
            <a:r>
              <a:rPr sz="850" b="0">
                <a:solidFill>
                  <a:srgbClr val="7B908C"/>
                </a:solidFill>
                <a:latin typeface="Segoe UI"/>
              </a:rPr>
              <a:t>Every argument an agent passes is an identifier — never a number.</a:t>
            </a:r>
          </a:p>
        </p:txBody>
      </p:sp>
      <p:pic>
        <p:nvPicPr>
          <p:cNvPr id="30" name="Picture 29" descr="audit_short.png"/>
          <p:cNvPicPr>
            <a:picLocks noChangeAspect="1"/>
          </p:cNvPicPr>
          <p:nvPr/>
        </p:nvPicPr>
        <p:blipFill>
          <a:blip r:embed="rId4"/>
          <a:stretch>
            <a:fillRect/>
          </a:stretch>
        </p:blipFill>
        <p:spPr>
          <a:xfrm>
            <a:off x="6492240" y="4224528"/>
            <a:ext cx="5148072" cy="1199998"/>
          </a:xfrm>
          <a:prstGeom prst="rect">
            <a:avLst/>
          </a:prstGeom>
        </p:spPr>
      </p:pic>
      <p:sp>
        <p:nvSpPr>
          <p:cNvPr id="31" name="Rectangle 30"/>
          <p:cNvSpPr/>
          <p:nvPr/>
        </p:nvSpPr>
        <p:spPr>
          <a:xfrm>
            <a:off x="6492240" y="4224528"/>
            <a:ext cx="5148072" cy="1199998"/>
          </a:xfrm>
          <a:prstGeom prst="rect">
            <a:avLst/>
          </a:prstGeom>
          <a:noFill/>
          <a:ln w="12700">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73952" y="3931920"/>
            <a:ext cx="274320" cy="274320"/>
          </a:xfrm>
          <a:prstGeom prst="ellipse">
            <a:avLst/>
          </a:prstGeom>
          <a:solidFill>
            <a:srgbClr val="4FC3AE"/>
          </a:solidFill>
          <a:ln w="19050">
            <a:solidFill>
              <a:srgbClr val="0B10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73952" y="3982211"/>
            <a:ext cx="274320" cy="182880"/>
          </a:xfrm>
          <a:prstGeom prst="rect">
            <a:avLst/>
          </a:prstGeom>
          <a:noFill/>
        </p:spPr>
        <p:txBody>
          <a:bodyPr wrap="square" lIns="0" rIns="0" tIns="0" bIns="0" anchor="t">
            <a:spAutoFit/>
          </a:bodyPr>
          <a:lstStyle/>
          <a:p>
            <a:pPr algn="ctr">
              <a:lnSpc>
                <a:spcPct val="115000"/>
              </a:lnSpc>
            </a:pPr>
            <a:r>
              <a:rPr sz="950" b="1">
                <a:solidFill>
                  <a:srgbClr val="0B100F"/>
                </a:solidFill>
                <a:latin typeface="Consolas"/>
              </a:rPr>
              <a:t>06</a:t>
            </a:r>
          </a:p>
        </p:txBody>
      </p:sp>
      <p:sp>
        <p:nvSpPr>
          <p:cNvPr id="34" name="TextBox 33"/>
          <p:cNvSpPr txBox="1"/>
          <p:nvPr/>
        </p:nvSpPr>
        <p:spPr>
          <a:xfrm>
            <a:off x="6821424" y="3968496"/>
            <a:ext cx="4754880" cy="219456"/>
          </a:xfrm>
          <a:prstGeom prst="rect">
            <a:avLst/>
          </a:prstGeom>
          <a:noFill/>
        </p:spPr>
        <p:txBody>
          <a:bodyPr wrap="square" lIns="0" rIns="0" tIns="0" bIns="0" anchor="t">
            <a:spAutoFit/>
          </a:bodyPr>
          <a:lstStyle/>
          <a:p>
            <a:pPr algn="l">
              <a:lnSpc>
                <a:spcPct val="115000"/>
              </a:lnSpc>
            </a:pPr>
            <a:r>
              <a:rPr sz="1050" b="1">
                <a:solidFill>
                  <a:srgbClr val="E6EDEB"/>
                </a:solidFill>
                <a:latin typeface="Segoe UI"/>
              </a:rPr>
              <a:t>Audit chain · 15 events, verified</a:t>
            </a:r>
          </a:p>
        </p:txBody>
      </p:sp>
      <p:sp>
        <p:nvSpPr>
          <p:cNvPr id="35" name="TextBox 34"/>
          <p:cNvSpPr txBox="1"/>
          <p:nvPr/>
        </p:nvSpPr>
        <p:spPr>
          <a:xfrm>
            <a:off x="6492240" y="5497678"/>
            <a:ext cx="5148072" cy="237744"/>
          </a:xfrm>
          <a:prstGeom prst="rect">
            <a:avLst/>
          </a:prstGeom>
          <a:noFill/>
        </p:spPr>
        <p:txBody>
          <a:bodyPr wrap="square" lIns="0" rIns="0" tIns="0" bIns="0" anchor="t">
            <a:spAutoFit/>
          </a:bodyPr>
          <a:lstStyle/>
          <a:p>
            <a:pPr algn="l">
              <a:lnSpc>
                <a:spcPct val="115000"/>
              </a:lnSpc>
            </a:pPr>
            <a:r>
              <a:rPr sz="850" b="0">
                <a:solidFill>
                  <a:srgbClr val="7B908C"/>
                </a:solidFill>
                <a:latin typeface="Segoe UI"/>
              </a:rPr>
              <a:t>Agent decision, then engine computation, alternating.</a:t>
            </a:r>
          </a:p>
        </p:txBody>
      </p:sp>
      <p:sp>
        <p:nvSpPr>
          <p:cNvPr id="36" name="Rectangle 35"/>
          <p:cNvSpPr/>
          <p:nvPr/>
        </p:nvSpPr>
        <p:spPr>
          <a:xfrm>
            <a:off x="6492240" y="5779008"/>
            <a:ext cx="5148072" cy="493776"/>
          </a:xfrm>
          <a:prstGeom prst="rect">
            <a:avLst/>
          </a:prstGeom>
          <a:solidFill>
            <a:srgbClr val="182321"/>
          </a:solidFill>
          <a:ln w="9525">
            <a:solidFill>
              <a:srgbClr val="2635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93408" y="5852160"/>
            <a:ext cx="1554480" cy="219456"/>
          </a:xfrm>
          <a:prstGeom prst="rect">
            <a:avLst/>
          </a:prstGeom>
          <a:noFill/>
        </p:spPr>
        <p:txBody>
          <a:bodyPr wrap="square" lIns="0" rIns="0" tIns="0" bIns="0" anchor="t">
            <a:spAutoFit/>
          </a:bodyPr>
          <a:lstStyle/>
          <a:p>
            <a:pPr algn="l">
              <a:lnSpc>
                <a:spcPct val="115000"/>
              </a:lnSpc>
            </a:pPr>
            <a:r>
              <a:rPr sz="1250" b="1">
                <a:solidFill>
                  <a:srgbClr val="4FC3AE"/>
                </a:solidFill>
                <a:latin typeface="Consolas"/>
              </a:rPr>
              <a:t>406</a:t>
            </a:r>
          </a:p>
        </p:txBody>
      </p:sp>
      <p:sp>
        <p:nvSpPr>
          <p:cNvPr id="38" name="TextBox 37"/>
          <p:cNvSpPr txBox="1"/>
          <p:nvPr/>
        </p:nvSpPr>
        <p:spPr>
          <a:xfrm>
            <a:off x="7516368" y="5897880"/>
            <a:ext cx="1463040" cy="182880"/>
          </a:xfrm>
          <a:prstGeom prst="rect">
            <a:avLst/>
          </a:prstGeom>
          <a:noFill/>
        </p:spPr>
        <p:txBody>
          <a:bodyPr wrap="square" lIns="0" rIns="0" tIns="0" bIns="0" anchor="t">
            <a:spAutoFit/>
          </a:bodyPr>
          <a:lstStyle/>
          <a:p>
            <a:pPr algn="l">
              <a:lnSpc>
                <a:spcPct val="115000"/>
              </a:lnSpc>
            </a:pPr>
            <a:r>
              <a:rPr sz="800" b="0">
                <a:solidFill>
                  <a:srgbClr val="556764"/>
                </a:solidFill>
                <a:latin typeface="Segoe UI"/>
              </a:rPr>
              <a:t>tests</a:t>
            </a:r>
          </a:p>
        </p:txBody>
      </p:sp>
      <p:sp>
        <p:nvSpPr>
          <p:cNvPr id="39" name="TextBox 38"/>
          <p:cNvSpPr txBox="1"/>
          <p:nvPr/>
        </p:nvSpPr>
        <p:spPr>
          <a:xfrm>
            <a:off x="8385048" y="5852160"/>
            <a:ext cx="1554480" cy="219456"/>
          </a:xfrm>
          <a:prstGeom prst="rect">
            <a:avLst/>
          </a:prstGeom>
          <a:noFill/>
        </p:spPr>
        <p:txBody>
          <a:bodyPr wrap="square" lIns="0" rIns="0" tIns="0" bIns="0" anchor="t">
            <a:spAutoFit/>
          </a:bodyPr>
          <a:lstStyle/>
          <a:p>
            <a:pPr algn="l">
              <a:lnSpc>
                <a:spcPct val="115000"/>
              </a:lnSpc>
            </a:pPr>
            <a:r>
              <a:rPr sz="1250" b="1">
                <a:solidFill>
                  <a:srgbClr val="4FC3AE"/>
                </a:solidFill>
                <a:latin typeface="Consolas"/>
              </a:rPr>
              <a:t>100%</a:t>
            </a:r>
          </a:p>
        </p:txBody>
      </p:sp>
      <p:sp>
        <p:nvSpPr>
          <p:cNvPr id="40" name="TextBox 39"/>
          <p:cNvSpPr txBox="1"/>
          <p:nvPr/>
        </p:nvSpPr>
        <p:spPr>
          <a:xfrm>
            <a:off x="9208008" y="5897880"/>
            <a:ext cx="1463040" cy="182880"/>
          </a:xfrm>
          <a:prstGeom prst="rect">
            <a:avLst/>
          </a:prstGeom>
          <a:noFill/>
        </p:spPr>
        <p:txBody>
          <a:bodyPr wrap="square" lIns="0" rIns="0" tIns="0" bIns="0" anchor="t">
            <a:spAutoFit/>
          </a:bodyPr>
          <a:lstStyle/>
          <a:p>
            <a:pPr algn="l">
              <a:lnSpc>
                <a:spcPct val="115000"/>
              </a:lnSpc>
            </a:pPr>
            <a:r>
              <a:rPr sz="800" b="0">
                <a:solidFill>
                  <a:srgbClr val="556764"/>
                </a:solidFill>
                <a:latin typeface="Segoe UI"/>
              </a:rPr>
              <a:t>reproducible</a:t>
            </a:r>
          </a:p>
        </p:txBody>
      </p:sp>
      <p:sp>
        <p:nvSpPr>
          <p:cNvPr id="41" name="TextBox 40"/>
          <p:cNvSpPr txBox="1"/>
          <p:nvPr/>
        </p:nvSpPr>
        <p:spPr>
          <a:xfrm>
            <a:off x="10076688" y="5852160"/>
            <a:ext cx="1554480" cy="219456"/>
          </a:xfrm>
          <a:prstGeom prst="rect">
            <a:avLst/>
          </a:prstGeom>
          <a:noFill/>
        </p:spPr>
        <p:txBody>
          <a:bodyPr wrap="square" lIns="0" rIns="0" tIns="0" bIns="0" anchor="t">
            <a:spAutoFit/>
          </a:bodyPr>
          <a:lstStyle/>
          <a:p>
            <a:pPr algn="l">
              <a:lnSpc>
                <a:spcPct val="115000"/>
              </a:lnSpc>
            </a:pPr>
            <a:r>
              <a:rPr sz="1250" b="1">
                <a:solidFill>
                  <a:srgbClr val="4FC3AE"/>
                </a:solidFill>
                <a:latin typeface="Consolas"/>
              </a:rPr>
              <a:t>0</a:t>
            </a:r>
          </a:p>
        </p:txBody>
      </p:sp>
      <p:sp>
        <p:nvSpPr>
          <p:cNvPr id="42" name="TextBox 41"/>
          <p:cNvSpPr txBox="1"/>
          <p:nvPr/>
        </p:nvSpPr>
        <p:spPr>
          <a:xfrm>
            <a:off x="10899648" y="5897880"/>
            <a:ext cx="1463040" cy="182880"/>
          </a:xfrm>
          <a:prstGeom prst="rect">
            <a:avLst/>
          </a:prstGeom>
          <a:noFill/>
        </p:spPr>
        <p:txBody>
          <a:bodyPr wrap="square" lIns="0" rIns="0" tIns="0" bIns="0" anchor="t">
            <a:spAutoFit/>
          </a:bodyPr>
          <a:lstStyle/>
          <a:p>
            <a:pPr algn="l">
              <a:lnSpc>
                <a:spcPct val="115000"/>
              </a:lnSpc>
            </a:pPr>
            <a:r>
              <a:rPr sz="800" b="0">
                <a:solidFill>
                  <a:srgbClr val="556764"/>
                </a:solidFill>
                <a:latin typeface="Segoe UI"/>
              </a:rPr>
              <a:t>network calls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